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tl="1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618" r:id="rId2"/>
    <p:sldId id="567" r:id="rId3"/>
    <p:sldId id="569" r:id="rId4"/>
    <p:sldId id="579" r:id="rId5"/>
    <p:sldId id="596" r:id="rId6"/>
    <p:sldId id="597" r:id="rId7"/>
    <p:sldId id="598" r:id="rId8"/>
    <p:sldId id="599" r:id="rId9"/>
    <p:sldId id="616" r:id="rId10"/>
    <p:sldId id="600" r:id="rId11"/>
    <p:sldId id="601" r:id="rId12"/>
    <p:sldId id="602" r:id="rId13"/>
    <p:sldId id="603" r:id="rId14"/>
    <p:sldId id="617" r:id="rId15"/>
    <p:sldId id="605" r:id="rId16"/>
    <p:sldId id="606" r:id="rId17"/>
    <p:sldId id="608" r:id="rId18"/>
    <p:sldId id="614" r:id="rId19"/>
    <p:sldId id="610" r:id="rId20"/>
    <p:sldId id="611" r:id="rId21"/>
    <p:sldId id="612" r:id="rId22"/>
  </p:sldIdLst>
  <p:sldSz cx="9144000" cy="6858000" type="screen4x3"/>
  <p:notesSz cx="6858000" cy="9144000"/>
  <p:defaultTextStyle>
    <a:defPPr>
      <a:defRPr lang="he-IL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5pPr>
    <a:lvl6pPr marL="2286000" algn="r" defTabSz="914400" rtl="1" eaLnBrk="1" latinLnBrk="0" hangingPunct="1"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6pPr>
    <a:lvl7pPr marL="2743200" algn="r" defTabSz="914400" rtl="1" eaLnBrk="1" latinLnBrk="0" hangingPunct="1"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7pPr>
    <a:lvl8pPr marL="3200400" algn="r" defTabSz="914400" rtl="1" eaLnBrk="1" latinLnBrk="0" hangingPunct="1"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8pPr>
    <a:lvl9pPr marL="3657600" algn="r" defTabSz="914400" rtl="1" eaLnBrk="1" latinLnBrk="0" hangingPunct="1"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FFCC00"/>
    <a:srgbClr val="0000CC"/>
    <a:srgbClr val="A02600"/>
    <a:srgbClr val="CC3300"/>
    <a:srgbClr val="E88A00"/>
    <a:srgbClr val="E9F7FF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סגנון ביניים 1 - הדגשה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סגנון ביניים 2 - הדגשה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סגנון ביניים 2 - הדגשה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6961" autoAdjust="0"/>
    <p:restoredTop sz="90929"/>
  </p:normalViewPr>
  <p:slideViewPr>
    <p:cSldViewPr>
      <p:cViewPr varScale="1">
        <p:scale>
          <a:sx n="105" d="100"/>
          <a:sy n="105" d="100"/>
        </p:scale>
        <p:origin x="141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35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24331C84-F42D-405B-8A33-EEB77C5A6191}" type="datetimeFigureOut">
              <a:rPr lang="he-IL"/>
              <a:pPr/>
              <a:t>י'/חשון/תשע"ח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51F211E4-9851-46C1-AC43-7EC61FAAB23C}" type="slidenum">
              <a:rPr lang="he-IL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564167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noProof="0" smtClean="0"/>
              <a:t>לחץ כדי לערוך סגנונות טקסט של תבנית בסיס</a:t>
            </a:r>
          </a:p>
          <a:p>
            <a:pPr lvl="1"/>
            <a:r>
              <a:rPr lang="he-IL" noProof="0" smtClean="0"/>
              <a:t>רמה שנייה</a:t>
            </a:r>
          </a:p>
          <a:p>
            <a:pPr lvl="2"/>
            <a:r>
              <a:rPr lang="he-IL" noProof="0" smtClean="0"/>
              <a:t>רמה שלישית</a:t>
            </a:r>
          </a:p>
          <a:p>
            <a:pPr lvl="3"/>
            <a:r>
              <a:rPr lang="he-IL" noProof="0" smtClean="0"/>
              <a:t>רמה רביעית</a:t>
            </a:r>
          </a:p>
          <a:p>
            <a:pPr lvl="4"/>
            <a:r>
              <a:rPr lang="he-IL" noProof="0" smtClean="0"/>
              <a:t>רמה חמישית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CC791216-F7BE-471D-8816-0B5D2FEBE0F9}" type="slidenum">
              <a:rPr lang="he-IL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62267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97CB2DC0-631F-486B-8659-12793FA7BE1C}" type="datetime8">
              <a:rPr lang="he-IL" smtClean="0"/>
              <a:pPr/>
              <a:t>30 אוקטובר 17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E7328832-59E7-4F14-B43C-90089750800F}" type="slidenum">
              <a:rPr lang="he-IL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5CE5D-FCC4-42B2-8FBF-0E9D9C4396D9}" type="datetime8">
              <a:rPr lang="he-IL" smtClean="0"/>
              <a:pPr/>
              <a:t>30 אוקטובר 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502BF-902D-49CB-9F5A-A158A8506518}" type="slidenum">
              <a:rPr lang="he-IL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07A5D210-EF4A-4EE9-9715-C8A8009DB36E}" type="datetime8">
              <a:rPr lang="he-IL" smtClean="0"/>
              <a:pPr/>
              <a:t>30 אוקטובר 17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8C8B9413-76EC-4378-B01A-AECACF774C75}" type="slidenum">
              <a:rPr lang="he-IL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B49CA-3E60-435F-A429-6F233157DF1A}" type="datetime8">
              <a:rPr lang="he-IL" smtClean="0"/>
              <a:pPr/>
              <a:t>30 אוקטובר 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2826728B-EA4A-4938-9412-E195930F9DDE}" type="slidenum">
              <a:rPr lang="he-IL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1520E-525B-4A15-8BB2-222066EA4F02}" type="datetime8">
              <a:rPr lang="he-IL" smtClean="0"/>
              <a:pPr/>
              <a:t>30 אוקטובר 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564687CF-A58B-4ADF-94A3-9D61EDF3AE4D}" type="slidenum">
              <a:rPr lang="he-IL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42B6F-124D-49CD-8BEB-010E0C2D3B0A}" type="datetime8">
              <a:rPr lang="he-IL" smtClean="0"/>
              <a:pPr/>
              <a:t>30 אוקטובר 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F36C26-A330-4CE8-81AD-A59DFBA1E513}" type="slidenum">
              <a:rPr lang="he-IL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CFEF40-D6DE-4EDE-8BF2-7F07F76D25E3}" type="datetime8">
              <a:rPr lang="he-IL" smtClean="0"/>
              <a:pPr/>
              <a:t>30 אוקטובר 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7234-8F3C-4CCD-8F08-584EC6347952}" type="slidenum">
              <a:rPr lang="he-IL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566A5882-4079-43DF-8831-A513C1CF4552}" type="datetime8">
              <a:rPr lang="he-IL" smtClean="0"/>
              <a:pPr/>
              <a:t>30 אוקטובר 17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AD1C2663-4E44-4058-8856-D6C5829F6006}" type="slidenum">
              <a:rPr lang="he-IL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0A64342A-E91C-44F0-97A5-B325753208A5}" type="datetime8">
              <a:rPr lang="he-IL" smtClean="0"/>
              <a:pPr/>
              <a:t>30 אוקטובר 17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66D6ED9F-7620-4F10-989C-17286A6CB36D}" type="slidenum">
              <a:rPr lang="he-IL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25D50-4D55-4658-89B1-D4E0081A20E5}" type="datetime8">
              <a:rPr lang="he-IL" smtClean="0"/>
              <a:pPr/>
              <a:t>30 אוקטובר 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4D7619-9624-4D49-8A22-D5B1C3454FF0}" type="slidenum">
              <a:rPr lang="he-IL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1EE5A-FD37-4063-A87F-D6AC177ED4CA}" type="datetime8">
              <a:rPr lang="he-IL" smtClean="0"/>
              <a:pPr/>
              <a:t>30 אוקטובר 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AE3A80-7DF0-47FE-81CD-ABB0989BBE30}" type="slidenum">
              <a:rPr lang="he-IL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3573E994-CDD4-4CFB-90B8-2EF9C323DB54}" type="datetime8">
              <a:rPr lang="he-IL" smtClean="0"/>
              <a:pPr/>
              <a:t>30 אוקטובר 17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D93B09A7-7E24-4E03-8AFA-509B95046DD7}" type="slidenum">
              <a:rPr lang="he-IL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43400" y="1600200"/>
            <a:ext cx="3962400" cy="762000"/>
          </a:xfrm>
        </p:spPr>
        <p:txBody>
          <a:bodyPr/>
          <a:lstStyle/>
          <a:p>
            <a:pPr eaLnBrk="1" hangingPunct="1"/>
            <a:r>
              <a:rPr lang="he-IL" sz="32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בסיסי נתונים - מעבדה</a:t>
            </a:r>
            <a:endParaRPr lang="en-US" sz="3200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052" name="Subtitle 7"/>
          <p:cNvSpPr>
            <a:spLocks noGrp="1"/>
          </p:cNvSpPr>
          <p:nvPr>
            <p:ph type="subTitle" idx="1"/>
          </p:nvPr>
        </p:nvSpPr>
        <p:spPr>
          <a:xfrm>
            <a:off x="4495800" y="381000"/>
            <a:ext cx="3657600" cy="1524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9600" b="1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cs typeface="Times New Roman" pitchFamily="18" charset="0"/>
              </a:rPr>
              <a:t>SQL</a:t>
            </a:r>
            <a:endParaRPr lang="he-IL" sz="9600" dirty="0" smtClean="0"/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3676650" y="2703513"/>
            <a:ext cx="571500" cy="1433512"/>
            <a:chOff x="0" y="0"/>
            <a:chExt cx="360" cy="903"/>
          </a:xfrm>
        </p:grpSpPr>
        <p:sp>
          <p:nvSpPr>
            <p:cNvPr id="2054" name="Rectangle 12"/>
            <p:cNvSpPr>
              <a:spLocks noChangeArrowheads="1"/>
            </p:cNvSpPr>
            <p:nvPr/>
          </p:nvSpPr>
          <p:spPr bwMode="auto">
            <a:xfrm>
              <a:off x="0" y="0"/>
              <a:ext cx="360" cy="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endParaRPr lang="he-IL"/>
            </a:p>
          </p:txBody>
        </p:sp>
        <p:sp>
          <p:nvSpPr>
            <p:cNvPr id="2055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360" cy="9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r>
                <a:rPr lang="he-IL" dirty="0" smtClean="0"/>
                <a:t> </a:t>
              </a:r>
              <a:r>
                <a:rPr lang="he-IL" sz="8800" dirty="0" smtClean="0"/>
                <a:t> </a:t>
              </a:r>
              <a:endParaRPr lang="he-IL" dirty="0"/>
            </a:p>
          </p:txBody>
        </p:sp>
      </p:grpSp>
      <p:pic>
        <p:nvPicPr>
          <p:cNvPr id="2" name="Picture 9" descr="http://www.dbametrix.com/img/articles/small/remote-database-services-3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3400" y="0"/>
            <a:ext cx="3810000" cy="2857500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/>
        </p:nvSpPr>
        <p:spPr>
          <a:xfrm>
            <a:off x="5715000" y="5334000"/>
            <a:ext cx="3200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 smtClean="0"/>
              <a:t>גיא שילון</a:t>
            </a:r>
            <a:endParaRPr lang="en-US" dirty="0" smtClean="0"/>
          </a:p>
          <a:p>
            <a:endParaRPr lang="he-IL" dirty="0" smtClean="0"/>
          </a:p>
          <a:p>
            <a:r>
              <a:rPr lang="en-US" dirty="0" smtClean="0"/>
              <a:t>guysh@ac.sce.ac.il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5562600"/>
          </a:xfrm>
        </p:spPr>
        <p:txBody>
          <a:bodyPr/>
          <a:lstStyle/>
          <a:p>
            <a:r>
              <a:rPr lang="en-US" b="1" smtClean="0"/>
              <a:t>SQL</a:t>
            </a:r>
            <a:br>
              <a:rPr lang="en-US" b="1" smtClean="0"/>
            </a:br>
            <a:r>
              <a:rPr lang="en-US" b="1" smtClean="0"/>
              <a:t>-</a:t>
            </a:r>
            <a:r>
              <a:rPr lang="he-IL" b="1" smtClean="0"/>
              <a:t/>
            </a:r>
            <a:br>
              <a:rPr lang="he-IL" b="1" smtClean="0"/>
            </a:br>
            <a:r>
              <a:rPr lang="he-IL" b="1" smtClean="0"/>
              <a:t>צירוף טבלאות</a:t>
            </a:r>
            <a:endParaRPr lang="en-US" b="1" smtClean="0"/>
          </a:p>
        </p:txBody>
      </p:sp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5B94D4C-757E-4D45-B49B-10092BE7FD94}" type="slidenum">
              <a:rPr lang="he-IL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b="1" dirty="0" smtClean="0"/>
              <a:t>צירוף טבלאות</a:t>
            </a:r>
            <a:endParaRPr lang="en-US" b="1" dirty="0" smtClean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 algn="r" rtl="1">
              <a:buFontTx/>
              <a:buNone/>
              <a:defRPr/>
            </a:pPr>
            <a:r>
              <a:rPr lang="he-IL" sz="2800" dirty="0" smtClean="0">
                <a:cs typeface="+mj-cs"/>
              </a:rPr>
              <a:t>ישנם תשע</a:t>
            </a:r>
            <a:r>
              <a:rPr lang="he-IL" sz="2800" dirty="0">
                <a:cs typeface="+mj-cs"/>
              </a:rPr>
              <a:t>ה</a:t>
            </a:r>
            <a:r>
              <a:rPr lang="he-IL" sz="2800" dirty="0" smtClean="0">
                <a:cs typeface="+mj-cs"/>
              </a:rPr>
              <a:t> סוגים של צירופי טבלאות:</a:t>
            </a:r>
            <a:endParaRPr lang="en-US" sz="2800" dirty="0" smtClean="0">
              <a:cs typeface="+mj-cs"/>
            </a:endParaRPr>
          </a:p>
          <a:p>
            <a:pPr algn="r" rtl="1">
              <a:defRPr/>
            </a:pPr>
            <a:endParaRPr lang="he-IL" sz="800" dirty="0" smtClean="0"/>
          </a:p>
          <a:p>
            <a:pPr lvl="1" algn="r" rtl="1">
              <a:buFont typeface="+mj-lt"/>
              <a:buAutoNum type="arabicPeriod"/>
              <a:defRPr/>
            </a:pPr>
            <a:r>
              <a:rPr lang="en-US" sz="2000" dirty="0" smtClean="0"/>
              <a:t>Cartesian product</a:t>
            </a:r>
            <a:r>
              <a:rPr lang="he-IL" sz="2000" dirty="0" smtClean="0"/>
              <a:t> - מכפלה קרטזית.</a:t>
            </a:r>
          </a:p>
          <a:p>
            <a:pPr lvl="1" algn="r" rtl="1">
              <a:buFont typeface="+mj-lt"/>
              <a:buAutoNum type="arabicPeriod"/>
              <a:defRPr/>
            </a:pPr>
            <a:r>
              <a:rPr lang="en-US" sz="2000" dirty="0" smtClean="0"/>
              <a:t>equal join</a:t>
            </a:r>
            <a:r>
              <a:rPr lang="he-IL" sz="2000" dirty="0" smtClean="0"/>
              <a:t> - צירוף רגיל על בסיס שיוון .</a:t>
            </a:r>
          </a:p>
          <a:p>
            <a:pPr lvl="1" algn="r" rtl="1">
              <a:buFont typeface="+mj-lt"/>
              <a:buAutoNum type="arabicPeriod"/>
              <a:defRPr/>
            </a:pPr>
            <a:r>
              <a:rPr lang="en-US" sz="2000" dirty="0" smtClean="0"/>
              <a:t>outer join</a:t>
            </a:r>
            <a:r>
              <a:rPr lang="he-IL" sz="2000" dirty="0" smtClean="0"/>
              <a:t> - צירוף חיצוני.</a:t>
            </a:r>
          </a:p>
          <a:p>
            <a:pPr lvl="1" algn="r" rtl="1">
              <a:buFont typeface="+mj-lt"/>
              <a:buAutoNum type="arabicPeriod"/>
              <a:defRPr/>
            </a:pPr>
            <a:r>
              <a:rPr lang="en-US" sz="2000" dirty="0" smtClean="0"/>
              <a:t>self join</a:t>
            </a:r>
            <a:r>
              <a:rPr lang="he-IL" sz="2000" dirty="0" smtClean="0"/>
              <a:t> - צירוף עצמי .</a:t>
            </a:r>
          </a:p>
          <a:p>
            <a:pPr lvl="1" algn="r" rtl="1">
              <a:buFont typeface="+mj-lt"/>
              <a:buAutoNum type="arabicPeriod"/>
              <a:defRPr/>
            </a:pPr>
            <a:r>
              <a:rPr lang="he-IL" sz="2000" dirty="0" smtClean="0"/>
              <a:t>צירוף טבלאות על סמך אי שוויון.</a:t>
            </a:r>
          </a:p>
          <a:p>
            <a:pPr lvl="1" algn="r" rtl="1">
              <a:buFont typeface="+mj-lt"/>
              <a:buAutoNum type="arabicPeriod"/>
              <a:defRPr/>
            </a:pPr>
            <a:r>
              <a:rPr lang="en-US" sz="2000" dirty="0" smtClean="0"/>
              <a:t>Union</a:t>
            </a:r>
            <a:r>
              <a:rPr lang="he-IL" sz="2000" dirty="0" smtClean="0"/>
              <a:t> - איחוד.</a:t>
            </a:r>
          </a:p>
          <a:p>
            <a:pPr lvl="1" algn="r" rtl="1">
              <a:buFont typeface="+mj-lt"/>
              <a:buAutoNum type="arabicPeriod"/>
              <a:defRPr/>
            </a:pPr>
            <a:r>
              <a:rPr lang="en-US" sz="2000" dirty="0" smtClean="0"/>
              <a:t>Intersect</a:t>
            </a:r>
            <a:r>
              <a:rPr lang="he-IL" sz="2000" dirty="0" smtClean="0"/>
              <a:t> - חיתוך.</a:t>
            </a:r>
          </a:p>
          <a:p>
            <a:pPr lvl="1" algn="r" rtl="1">
              <a:buFont typeface="+mj-lt"/>
              <a:buAutoNum type="arabicPeriod"/>
              <a:defRPr/>
            </a:pPr>
            <a:r>
              <a:rPr lang="en-US" sz="2000" dirty="0" smtClean="0"/>
              <a:t>Minus</a:t>
            </a:r>
            <a:r>
              <a:rPr lang="he-IL" sz="2000" dirty="0" smtClean="0"/>
              <a:t> - הפרש.</a:t>
            </a:r>
          </a:p>
          <a:p>
            <a:pPr lvl="1" algn="r" rtl="1">
              <a:buFont typeface="+mj-lt"/>
              <a:buAutoNum type="arabicPeriod"/>
              <a:defRPr/>
            </a:pPr>
            <a:r>
              <a:rPr lang="en-US" sz="2000" dirty="0" smtClean="0"/>
              <a:t>Duplicates</a:t>
            </a:r>
            <a:r>
              <a:rPr lang="he-IL" sz="2000" dirty="0" smtClean="0"/>
              <a:t> - ערכים חוזרים.</a:t>
            </a:r>
          </a:p>
          <a:p>
            <a:pPr algn="r" rtl="1">
              <a:buFont typeface="+mj-lt"/>
              <a:buAutoNum type="arabicPeriod"/>
              <a:defRPr/>
            </a:pPr>
            <a:endParaRPr lang="he-IL" sz="1800" dirty="0" smtClean="0"/>
          </a:p>
          <a:p>
            <a:pPr algn="r" rtl="1">
              <a:buFontTx/>
              <a:buNone/>
              <a:defRPr/>
            </a:pPr>
            <a:endParaRPr lang="he-IL" b="1" dirty="0" smtClean="0"/>
          </a:p>
        </p:txBody>
      </p:sp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20AB785-BC3A-43EC-9DC0-66982B217FFD}" type="slidenum">
              <a:rPr lang="he-IL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e-IL" b="1" dirty="0" smtClean="0"/>
              <a:t>צירוף טבלאות</a:t>
            </a:r>
            <a:r>
              <a:rPr lang="en-US" b="1" dirty="0" smtClean="0"/>
              <a:t> </a:t>
            </a:r>
            <a:r>
              <a:rPr lang="he-IL" b="1" dirty="0" smtClean="0"/>
              <a:t>-</a:t>
            </a:r>
            <a:r>
              <a:rPr lang="en-US" b="1" dirty="0" smtClean="0"/>
              <a:t> </a:t>
            </a:r>
            <a:r>
              <a:rPr lang="en-US" sz="3600" b="1" dirty="0" smtClean="0"/>
              <a:t>Cartesian product</a:t>
            </a:r>
            <a:r>
              <a:rPr lang="he-IL" sz="3600" b="1" dirty="0" smtClean="0"/>
              <a:t> </a:t>
            </a:r>
            <a:endParaRPr lang="en-US" b="1" dirty="0" smtClean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572000"/>
          </a:xfrm>
        </p:spPr>
        <p:txBody>
          <a:bodyPr/>
          <a:lstStyle/>
          <a:p>
            <a:pPr algn="r" rtl="1">
              <a:buFontTx/>
              <a:buNone/>
              <a:defRPr/>
            </a:pPr>
            <a:r>
              <a:rPr lang="he-IL" sz="2800" dirty="0" smtClean="0">
                <a:cs typeface="+mj-cs"/>
              </a:rPr>
              <a:t>מכפלה קרטזית.</a:t>
            </a:r>
            <a:endParaRPr lang="en-US" sz="2800" dirty="0" smtClean="0">
              <a:cs typeface="+mj-cs"/>
            </a:endParaRPr>
          </a:p>
          <a:p>
            <a:pPr algn="r" rtl="1">
              <a:defRPr/>
            </a:pPr>
            <a:endParaRPr lang="he-IL" sz="800" dirty="0" smtClean="0"/>
          </a:p>
          <a:p>
            <a:pPr algn="r" rtl="1">
              <a:defRPr/>
            </a:pPr>
            <a:r>
              <a:rPr lang="he-IL" sz="1800" dirty="0" smtClean="0"/>
              <a:t>צירוף טבלאות ללא הגבלה (</a:t>
            </a:r>
            <a:r>
              <a:rPr lang="en-US" sz="1800" dirty="0" smtClean="0"/>
              <a:t>where</a:t>
            </a:r>
            <a:r>
              <a:rPr lang="he-IL" sz="1800" dirty="0" smtClean="0"/>
              <a:t>).</a:t>
            </a:r>
            <a:endParaRPr lang="en-US" sz="1400" dirty="0" smtClean="0"/>
          </a:p>
          <a:p>
            <a:pPr algn="r" rtl="1">
              <a:defRPr/>
            </a:pPr>
            <a:endParaRPr lang="he-IL" sz="800" dirty="0" smtClean="0"/>
          </a:p>
          <a:p>
            <a:pPr algn="l">
              <a:buFontTx/>
              <a:buNone/>
              <a:defRPr/>
            </a:pPr>
            <a:r>
              <a:rPr lang="en-US" sz="1800" dirty="0" smtClean="0">
                <a:solidFill>
                  <a:srgbClr val="FFFF00"/>
                </a:solidFill>
              </a:rPr>
              <a:t>SELECT * FROM &lt;table name 1&gt;, &lt;table name 2&gt;,….;</a:t>
            </a:r>
          </a:p>
          <a:p>
            <a:pPr algn="ctr" rtl="1">
              <a:buFontTx/>
              <a:buNone/>
              <a:defRPr/>
            </a:pPr>
            <a:r>
              <a:rPr lang="he-IL" sz="1800" dirty="0" smtClean="0"/>
              <a:t>או</a:t>
            </a:r>
          </a:p>
          <a:p>
            <a:pPr algn="l">
              <a:buFontTx/>
              <a:buNone/>
              <a:defRPr/>
            </a:pPr>
            <a:r>
              <a:rPr lang="en-US" sz="1800" dirty="0" smtClean="0">
                <a:solidFill>
                  <a:srgbClr val="FFFF00"/>
                </a:solidFill>
              </a:rPr>
              <a:t>SELECT &lt;table name 1&gt;.&lt; field name &gt;, &lt; table name 2&gt;&lt; field name &gt;, ... FROM &lt;table name 1&gt;, &lt;table name 2&gt;,….;</a:t>
            </a:r>
          </a:p>
          <a:p>
            <a:pPr algn="r" rtl="1">
              <a:buFontTx/>
              <a:buNone/>
              <a:defRPr/>
            </a:pPr>
            <a:endParaRPr lang="en-US" sz="1800" dirty="0" smtClean="0"/>
          </a:p>
          <a:p>
            <a:pPr algn="r" rtl="1">
              <a:buFontTx/>
              <a:buNone/>
              <a:defRPr/>
            </a:pPr>
            <a:r>
              <a:rPr lang="he-IL" sz="1800" b="1" dirty="0" smtClean="0"/>
              <a:t>*כאשר יש שדות עם שמות זהים בכמה טבלאות, צריך לזהות את השדות ע"י שם הטבלה.</a:t>
            </a:r>
            <a:endParaRPr lang="en-US" sz="1800" b="1" dirty="0" smtClean="0"/>
          </a:p>
          <a:p>
            <a:pPr algn="r" rtl="1">
              <a:buFontTx/>
              <a:buNone/>
              <a:defRPr/>
            </a:pPr>
            <a:endParaRPr lang="he-IL" sz="1800" dirty="0" smtClean="0"/>
          </a:p>
          <a:p>
            <a:pPr algn="r" rtl="1">
              <a:defRPr/>
            </a:pPr>
            <a:r>
              <a:rPr lang="he-IL" sz="1800" dirty="0" smtClean="0"/>
              <a:t>צירוף מסוג זה מחבר את כל השורות מכל הטבלאות המוכרזות בהוראה </a:t>
            </a:r>
            <a:r>
              <a:rPr lang="en-US" sz="1800" dirty="0" smtClean="0"/>
              <a:t>FROM</a:t>
            </a:r>
            <a:r>
              <a:rPr lang="he-IL" sz="1800" dirty="0" smtClean="0"/>
              <a:t> ואנו מקבלים מכפלה קרטזית של כל הטבלאות.</a:t>
            </a:r>
            <a:endParaRPr lang="en-US" sz="1800" dirty="0" smtClean="0"/>
          </a:p>
          <a:p>
            <a:pPr algn="r" rtl="1">
              <a:buFontTx/>
              <a:buNone/>
              <a:defRPr/>
            </a:pPr>
            <a:endParaRPr lang="he-IL" sz="1800" dirty="0" smtClean="0"/>
          </a:p>
          <a:p>
            <a:pPr algn="r" rtl="1">
              <a:buFontTx/>
              <a:buNone/>
              <a:defRPr/>
            </a:pPr>
            <a:endParaRPr lang="en-US" sz="1800" dirty="0" smtClean="0"/>
          </a:p>
          <a:p>
            <a:pPr algn="r" rtl="1">
              <a:buFontTx/>
              <a:buNone/>
              <a:defRPr/>
            </a:pPr>
            <a:endParaRPr lang="en-US" sz="1800" dirty="0" smtClean="0"/>
          </a:p>
          <a:p>
            <a:pPr algn="r" rtl="1">
              <a:defRPr/>
            </a:pPr>
            <a:endParaRPr lang="en-US" sz="800" dirty="0" smtClean="0"/>
          </a:p>
        </p:txBody>
      </p:sp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0C8BBC1-7096-4193-9565-3E1082731F39}" type="slidenum">
              <a:rPr lang="he-IL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e-IL" b="1" dirty="0" smtClean="0"/>
              <a:t>צירוף טבלאות</a:t>
            </a:r>
            <a:r>
              <a:rPr lang="en-US" b="1" dirty="0" smtClean="0"/>
              <a:t> </a:t>
            </a:r>
            <a:r>
              <a:rPr lang="he-IL" b="1" dirty="0" smtClean="0"/>
              <a:t>-</a:t>
            </a:r>
            <a:r>
              <a:rPr lang="en-US" b="1" dirty="0" smtClean="0"/>
              <a:t> </a:t>
            </a:r>
            <a:r>
              <a:rPr lang="en-US" sz="3600" b="1" dirty="0" smtClean="0"/>
              <a:t>Cartesian product</a:t>
            </a:r>
            <a:r>
              <a:rPr lang="he-IL" sz="3600" b="1" dirty="0" smtClean="0"/>
              <a:t> </a:t>
            </a:r>
            <a:endParaRPr lang="en-US" b="1" dirty="0" smtClean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>
              <a:buFontTx/>
              <a:buNone/>
              <a:defRPr/>
            </a:pPr>
            <a:r>
              <a:rPr lang="he-IL" sz="2800" dirty="0" smtClean="0">
                <a:cs typeface="+mj-cs"/>
              </a:rPr>
              <a:t>לדוגמא:</a:t>
            </a:r>
            <a:endParaRPr lang="en-US" sz="2800" dirty="0" smtClean="0">
              <a:cs typeface="+mj-cs"/>
            </a:endParaRPr>
          </a:p>
          <a:p>
            <a:pPr>
              <a:defRPr/>
            </a:pPr>
            <a:endParaRPr lang="he-IL" sz="800" dirty="0" smtClean="0"/>
          </a:p>
          <a:p>
            <a:pPr algn="r" rtl="1">
              <a:defRPr/>
            </a:pPr>
            <a:r>
              <a:rPr lang="he-IL" sz="1800" dirty="0" smtClean="0"/>
              <a:t>נתונות הטבלאות הבאות:</a:t>
            </a:r>
            <a:endParaRPr lang="en-US" sz="1400" dirty="0" smtClean="0"/>
          </a:p>
          <a:p>
            <a:pPr>
              <a:defRPr/>
            </a:pPr>
            <a:endParaRPr lang="he-IL" sz="800" dirty="0" smtClean="0"/>
          </a:p>
          <a:p>
            <a:pPr algn="l" rtl="0">
              <a:buFontTx/>
              <a:buNone/>
              <a:defRPr/>
            </a:pPr>
            <a:r>
              <a:rPr lang="en-US" sz="1800" dirty="0" smtClean="0"/>
              <a:t>SELECT * FROM T1;</a:t>
            </a:r>
          </a:p>
          <a:p>
            <a:pPr algn="l" rtl="0">
              <a:buFontTx/>
              <a:buNone/>
              <a:defRPr/>
            </a:pPr>
            <a:endParaRPr lang="en-US" sz="1800" dirty="0" smtClean="0"/>
          </a:p>
          <a:p>
            <a:pPr>
              <a:defRPr/>
            </a:pPr>
            <a:endParaRPr lang="en-US" sz="800" dirty="0" smtClean="0"/>
          </a:p>
        </p:txBody>
      </p:sp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161551B-F42C-42DE-961D-30EB5AA962FA}" type="slidenum">
              <a:rPr lang="he-IL"/>
              <a:pPr/>
              <a:t>5</a:t>
            </a:fld>
            <a:endParaRPr lang="en-US"/>
          </a:p>
        </p:txBody>
      </p:sp>
      <p:graphicFrame>
        <p:nvGraphicFramePr>
          <p:cNvPr id="5" name="טבלה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736915"/>
              </p:ext>
            </p:extLst>
          </p:nvPr>
        </p:nvGraphicFramePr>
        <p:xfrm>
          <a:off x="1524000" y="3429000"/>
          <a:ext cx="6096000" cy="1854200"/>
        </p:xfrm>
        <a:graphic>
          <a:graphicData uri="http://schemas.openxmlformats.org/drawingml/2006/table">
            <a:tbl>
              <a:tblPr rtl="1" firstRow="1" bandRow="1">
                <a:tableStyleId>{073A0DAA-6AF3-43AB-8588-CEC1D06C72B9}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rem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row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T1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R1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T1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R2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T1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R3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T1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R4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b="1" dirty="0" smtClean="0"/>
              <a:t>צירוף טבלאות</a:t>
            </a:r>
            <a:r>
              <a:rPr lang="en-US" b="1" dirty="0" smtClean="0"/>
              <a:t> </a:t>
            </a:r>
            <a:r>
              <a:rPr lang="he-IL" b="1" dirty="0" smtClean="0"/>
              <a:t>-</a:t>
            </a:r>
            <a:r>
              <a:rPr lang="en-US" b="1" dirty="0" smtClean="0"/>
              <a:t> </a:t>
            </a:r>
            <a:r>
              <a:rPr lang="en-US" sz="3600" b="1" dirty="0" smtClean="0"/>
              <a:t>Cartesian product</a:t>
            </a:r>
            <a:r>
              <a:rPr lang="he-IL" sz="3600" b="1" dirty="0" smtClean="0"/>
              <a:t> </a:t>
            </a:r>
            <a:endParaRPr lang="en-US" b="1" dirty="0" smtClean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endParaRPr lang="he-IL" sz="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>
              <a:buFontTx/>
              <a:buNone/>
            </a:pPr>
            <a:r>
              <a:rPr lang="en-US" sz="1800" dirty="0" smtClean="0"/>
              <a:t>SELECT * FROM T2;</a:t>
            </a:r>
          </a:p>
          <a:p>
            <a:pPr algn="l" rtl="0">
              <a:buFontTx/>
              <a:buNone/>
            </a:pPr>
            <a:endParaRPr lang="en-US" sz="1800" dirty="0" smtClean="0"/>
          </a:p>
          <a:p>
            <a:endParaRPr lang="en-US" sz="800" dirty="0" smtClean="0"/>
          </a:p>
        </p:txBody>
      </p:sp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3E7954D-F12C-4CE8-B46B-CE69461C49AF}" type="slidenum">
              <a:rPr lang="he-IL"/>
              <a:pPr/>
              <a:t>6</a:t>
            </a:fld>
            <a:endParaRPr lang="en-US"/>
          </a:p>
        </p:txBody>
      </p:sp>
      <p:graphicFrame>
        <p:nvGraphicFramePr>
          <p:cNvPr id="5" name="טבלה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105740"/>
              </p:ext>
            </p:extLst>
          </p:nvPr>
        </p:nvGraphicFramePr>
        <p:xfrm>
          <a:off x="1524000" y="3429000"/>
          <a:ext cx="6096000" cy="1854200"/>
        </p:xfrm>
        <a:graphic>
          <a:graphicData uri="http://schemas.openxmlformats.org/drawingml/2006/table">
            <a:tbl>
              <a:tblPr rtl="1" firstRow="1" bandRow="1">
                <a:tableStyleId>{073A0DAA-6AF3-43AB-8588-CEC1D06C72B9}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rem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row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T2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R1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T2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R2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T2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R3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T2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R4</a:t>
                      </a:r>
                      <a:endParaRPr lang="en-US" sz="18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b="1" dirty="0" smtClean="0"/>
              <a:t>צירוף טבלאות</a:t>
            </a:r>
            <a:r>
              <a:rPr lang="en-US" b="1" dirty="0" smtClean="0"/>
              <a:t> </a:t>
            </a:r>
            <a:r>
              <a:rPr lang="he-IL" b="1" dirty="0" smtClean="0"/>
              <a:t> -</a:t>
            </a:r>
            <a:r>
              <a:rPr lang="en-US" sz="3600" b="1" dirty="0" smtClean="0"/>
              <a:t>Cartesian product</a:t>
            </a:r>
            <a:r>
              <a:rPr lang="he-IL" sz="3600" b="1" dirty="0" smtClean="0"/>
              <a:t> </a:t>
            </a:r>
            <a:endParaRPr lang="en-US" b="1" dirty="0" smtClean="0"/>
          </a:p>
        </p:txBody>
      </p:sp>
      <p:sp>
        <p:nvSpPr>
          <p:cNvPr id="9220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 algn="l" rtl="0">
              <a:buFontTx/>
              <a:buNone/>
            </a:pPr>
            <a:endParaRPr lang="en-US" sz="1800" dirty="0" smtClean="0"/>
          </a:p>
          <a:p>
            <a:pPr algn="r" rtl="1">
              <a:buFontTx/>
              <a:buNone/>
            </a:pPr>
            <a:r>
              <a:rPr lang="he-IL" sz="1800" dirty="0" smtClean="0"/>
              <a:t>התוצאה של המכפלה הקרטזית בניהם לפי השאילתה הבאה, היא:</a:t>
            </a: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SELECT * FROM T1,T2;</a:t>
            </a:r>
          </a:p>
          <a:p>
            <a:pPr algn="l" rtl="0">
              <a:buFontTx/>
              <a:buNone/>
            </a:pPr>
            <a:endParaRPr lang="en-US" sz="1800" dirty="0" smtClean="0"/>
          </a:p>
          <a:p>
            <a:endParaRPr lang="en-US" sz="800" dirty="0" smtClean="0"/>
          </a:p>
        </p:txBody>
      </p:sp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2507377-0A0C-49E3-87C3-9409B7824B46}" type="slidenum">
              <a:rPr lang="he-IL"/>
              <a:pPr/>
              <a:t>7</a:t>
            </a:fld>
            <a:endParaRPr lang="en-US"/>
          </a:p>
        </p:txBody>
      </p:sp>
      <p:graphicFrame>
        <p:nvGraphicFramePr>
          <p:cNvPr id="5" name="טבלה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9627283"/>
              </p:ext>
            </p:extLst>
          </p:nvPr>
        </p:nvGraphicFramePr>
        <p:xfrm>
          <a:off x="1524000" y="2819400"/>
          <a:ext cx="6096000" cy="3509344"/>
        </p:xfrm>
        <a:graphic>
          <a:graphicData uri="http://schemas.openxmlformats.org/drawingml/2006/table">
            <a:tbl>
              <a:tblPr rtl="1" firstRow="1" bandRow="1">
                <a:tableStyleId>{073A0DAA-6AF3-43AB-8588-CEC1D06C72B9}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2528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 u="none" dirty="0"/>
                        <a:t>T2.rem</a:t>
                      </a:r>
                      <a:endParaRPr lang="en-US" sz="1200" u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 u="none" dirty="0"/>
                        <a:t>T2.Row</a:t>
                      </a:r>
                      <a:endParaRPr lang="en-US" sz="1200" u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 u="none" dirty="0"/>
                        <a:t>T1.rem</a:t>
                      </a:r>
                      <a:endParaRPr lang="en-US" sz="1200" u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 u="none" dirty="0"/>
                        <a:t>T1.row</a:t>
                      </a:r>
                      <a:endParaRPr lang="en-US" sz="1200" u="none" dirty="0">
                        <a:solidFill>
                          <a:schemeClr val="tx1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7904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T2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 dirty="0"/>
                        <a:t>R1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 dirty="0"/>
                        <a:t>T1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 dirty="0"/>
                        <a:t>R1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7904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T2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R2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T1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 dirty="0"/>
                        <a:t>R1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7904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T2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R3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T1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R1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7904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T2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R4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T1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R1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7904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T2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R1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T1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R2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7904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T2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R2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T1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R2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7904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T2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R3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T1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R2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7904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T2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R4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T1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R2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7904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T2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R1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T1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R3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7904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T2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R2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T1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R3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7904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 dirty="0"/>
                        <a:t>T2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R3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T1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R3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7904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T2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R4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T1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R3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7904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T2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R1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T1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R4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7904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T2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R2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T1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R4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7904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T2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R3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T1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/>
                        <a:t>R4</a:t>
                      </a:r>
                      <a:endParaRPr lang="en-US" sz="120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7904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 dirty="0"/>
                        <a:t>T2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 dirty="0"/>
                        <a:t>R4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 dirty="0"/>
                        <a:t>T1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200" dirty="0"/>
                        <a:t>R4</a:t>
                      </a:r>
                      <a:endParaRPr lang="en-US" sz="1200" dirty="0">
                        <a:latin typeface="Times New Roman"/>
                        <a:ea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e-IL" sz="4000" b="1" dirty="0" smtClean="0"/>
              <a:t>צירוף טבלאות על בסיס שוויון</a:t>
            </a:r>
            <a:r>
              <a:rPr lang="en-US" sz="4000" b="1" dirty="0" smtClean="0"/>
              <a:t> </a:t>
            </a:r>
            <a:r>
              <a:rPr lang="he-IL" b="1" dirty="0" smtClean="0"/>
              <a:t>-</a:t>
            </a:r>
            <a:r>
              <a:rPr lang="en-US" b="1" dirty="0" smtClean="0"/>
              <a:t> </a:t>
            </a:r>
            <a:r>
              <a:rPr lang="en-US" sz="3600" b="1" dirty="0" smtClean="0"/>
              <a:t>Equal join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572000"/>
          </a:xfrm>
        </p:spPr>
        <p:txBody>
          <a:bodyPr/>
          <a:lstStyle/>
          <a:p>
            <a:pPr algn="r" rtl="1">
              <a:buFontTx/>
              <a:buNone/>
              <a:defRPr/>
            </a:pPr>
            <a:r>
              <a:rPr lang="he-IL" sz="2800" dirty="0" smtClean="0">
                <a:cs typeface="+mj-cs"/>
              </a:rPr>
              <a:t>צירוף רגיל על בסיס שוויון.</a:t>
            </a:r>
            <a:endParaRPr lang="en-US" sz="2800" dirty="0" smtClean="0">
              <a:cs typeface="+mj-cs"/>
            </a:endParaRPr>
          </a:p>
          <a:p>
            <a:pPr>
              <a:defRPr/>
            </a:pPr>
            <a:endParaRPr lang="he-IL" sz="800" dirty="0" smtClean="0"/>
          </a:p>
          <a:p>
            <a:pPr algn="r" rtl="1">
              <a:defRPr/>
            </a:pPr>
            <a:r>
              <a:rPr lang="he-IL" sz="1800" dirty="0" smtClean="0"/>
              <a:t>צירוף טבלאות עם הגבלה </a:t>
            </a:r>
            <a:r>
              <a:rPr lang="en-US" sz="1800" dirty="0" smtClean="0"/>
              <a:t>WHERE</a:t>
            </a:r>
            <a:r>
              <a:rPr lang="he-IL" sz="1800" dirty="0" smtClean="0"/>
              <a:t> בתאום של שדות קשר, למשל:</a:t>
            </a:r>
            <a:endParaRPr lang="he-IL" sz="800" dirty="0" smtClean="0"/>
          </a:p>
          <a:p>
            <a:pPr algn="l" rtl="0">
              <a:buFontTx/>
              <a:buNone/>
              <a:defRPr/>
            </a:pPr>
            <a:r>
              <a:rPr lang="en-US" sz="1800" dirty="0" smtClean="0"/>
              <a:t>SELECT </a:t>
            </a:r>
            <a:r>
              <a:rPr lang="en-US" sz="1800" dirty="0" err="1" smtClean="0"/>
              <a:t>ename</a:t>
            </a:r>
            <a:r>
              <a:rPr lang="en-US" sz="1800" dirty="0" smtClean="0"/>
              <a:t>, </a:t>
            </a:r>
            <a:r>
              <a:rPr lang="en-US" sz="1800" dirty="0" err="1" smtClean="0"/>
              <a:t>sal</a:t>
            </a:r>
            <a:r>
              <a:rPr lang="en-US" sz="1800" dirty="0" smtClean="0"/>
              <a:t>, </a:t>
            </a:r>
            <a:r>
              <a:rPr lang="en-US" sz="1800" dirty="0" err="1" smtClean="0"/>
              <a:t>dname</a:t>
            </a:r>
            <a:endParaRPr lang="en-US" sz="1800" dirty="0" smtClean="0"/>
          </a:p>
          <a:p>
            <a:pPr algn="l" rtl="0">
              <a:buFontTx/>
              <a:buNone/>
              <a:defRPr/>
            </a:pPr>
            <a:r>
              <a:rPr lang="en-US" sz="1800" dirty="0" smtClean="0"/>
              <a:t>FROM </a:t>
            </a:r>
            <a:r>
              <a:rPr lang="en-US" sz="1800" dirty="0" err="1" smtClean="0"/>
              <a:t>emp</a:t>
            </a:r>
            <a:r>
              <a:rPr lang="en-US" sz="1800" dirty="0" smtClean="0"/>
              <a:t>, dept</a:t>
            </a:r>
          </a:p>
          <a:p>
            <a:pPr algn="l" rtl="0">
              <a:buFontTx/>
              <a:buNone/>
              <a:defRPr/>
            </a:pPr>
            <a:r>
              <a:rPr lang="en-US" sz="1800" dirty="0" smtClean="0"/>
              <a:t>WHERE </a:t>
            </a:r>
            <a:r>
              <a:rPr lang="en-US" sz="1800" dirty="0" err="1" smtClean="0"/>
              <a:t>emp.deptno</a:t>
            </a:r>
            <a:r>
              <a:rPr lang="en-US" sz="1800" dirty="0" smtClean="0"/>
              <a:t>=</a:t>
            </a:r>
            <a:r>
              <a:rPr lang="en-US" sz="1800" dirty="0" err="1" smtClean="0"/>
              <a:t>dept.deptno</a:t>
            </a:r>
            <a:r>
              <a:rPr lang="en-US" sz="1800" dirty="0" smtClean="0"/>
              <a:t>;</a:t>
            </a:r>
          </a:p>
          <a:p>
            <a:pPr algn="ctr">
              <a:buFontTx/>
              <a:buNone/>
              <a:defRPr/>
            </a:pPr>
            <a:r>
              <a:rPr lang="he-IL" sz="1800" dirty="0" smtClean="0"/>
              <a:t>או</a:t>
            </a:r>
          </a:p>
          <a:p>
            <a:pPr algn="l" rtl="0">
              <a:buFontTx/>
              <a:buNone/>
              <a:defRPr/>
            </a:pPr>
            <a:r>
              <a:rPr lang="en-US" sz="1800" dirty="0" smtClean="0"/>
              <a:t>SELECT </a:t>
            </a:r>
            <a:r>
              <a:rPr lang="en-US" sz="1800" dirty="0" err="1" smtClean="0"/>
              <a:t>ename</a:t>
            </a:r>
            <a:r>
              <a:rPr lang="en-US" sz="1800" dirty="0" smtClean="0"/>
              <a:t>, </a:t>
            </a:r>
            <a:r>
              <a:rPr lang="en-US" sz="1800" dirty="0" err="1" smtClean="0"/>
              <a:t>sal</a:t>
            </a:r>
            <a:r>
              <a:rPr lang="en-US" sz="1800" dirty="0" smtClean="0"/>
              <a:t>, </a:t>
            </a:r>
            <a:r>
              <a:rPr lang="en-US" sz="1800" dirty="0" err="1" smtClean="0"/>
              <a:t>dname</a:t>
            </a:r>
            <a:endParaRPr lang="en-US" sz="1800" dirty="0" smtClean="0"/>
          </a:p>
          <a:p>
            <a:pPr algn="l" rtl="0">
              <a:buFontTx/>
              <a:buNone/>
              <a:defRPr/>
            </a:pPr>
            <a:r>
              <a:rPr lang="en-US" sz="1800" dirty="0" smtClean="0"/>
              <a:t>FROM </a:t>
            </a:r>
            <a:r>
              <a:rPr lang="en-US" sz="1800" dirty="0" err="1" smtClean="0"/>
              <a:t>emp</a:t>
            </a:r>
            <a:r>
              <a:rPr lang="en-US" sz="1800" dirty="0" smtClean="0"/>
              <a:t> e, dept d</a:t>
            </a:r>
          </a:p>
          <a:p>
            <a:pPr algn="l" rtl="0">
              <a:buFontTx/>
              <a:buNone/>
              <a:defRPr/>
            </a:pPr>
            <a:r>
              <a:rPr lang="en-US" sz="1800" dirty="0" smtClean="0"/>
              <a:t>WHERE </a:t>
            </a:r>
            <a:r>
              <a:rPr lang="en-US" sz="1800" dirty="0" err="1" smtClean="0"/>
              <a:t>e.deptno</a:t>
            </a:r>
            <a:r>
              <a:rPr lang="en-US" sz="1800" dirty="0" smtClean="0"/>
              <a:t>=</a:t>
            </a:r>
            <a:r>
              <a:rPr lang="en-US" sz="1800" dirty="0" err="1" smtClean="0"/>
              <a:t>d.deptno</a:t>
            </a:r>
            <a:r>
              <a:rPr lang="en-US" sz="1800" dirty="0" smtClean="0"/>
              <a:t>;</a:t>
            </a:r>
          </a:p>
          <a:p>
            <a:pPr algn="ctr">
              <a:buFontTx/>
              <a:buNone/>
              <a:defRPr/>
            </a:pPr>
            <a:endParaRPr lang="he-IL" sz="1800" dirty="0" smtClean="0"/>
          </a:p>
          <a:p>
            <a:pPr algn="r" rtl="1">
              <a:defRPr/>
            </a:pPr>
            <a:r>
              <a:rPr lang="he-IL" sz="1800" dirty="0" smtClean="0"/>
              <a:t>זה צירוף שיווני כי מטרתו להתאים בין ערכי העמודות בטבלה אחת לבין ערכים המתקיימים בטבלה אחרת.</a:t>
            </a:r>
            <a:endParaRPr lang="en-US" sz="1800" dirty="0" smtClean="0"/>
          </a:p>
          <a:p>
            <a:pPr algn="l" rtl="0">
              <a:buFontTx/>
              <a:buNone/>
              <a:defRPr/>
            </a:pPr>
            <a:endParaRPr lang="he-IL" sz="1800" dirty="0" smtClean="0"/>
          </a:p>
          <a:p>
            <a:pPr algn="l" rtl="0">
              <a:buFontTx/>
              <a:buNone/>
              <a:defRPr/>
            </a:pPr>
            <a:endParaRPr lang="en-US" sz="1800" dirty="0" smtClean="0"/>
          </a:p>
          <a:p>
            <a:pPr algn="l" rtl="0">
              <a:buFontTx/>
              <a:buNone/>
              <a:defRPr/>
            </a:pPr>
            <a:endParaRPr lang="en-US" sz="1800" dirty="0" smtClean="0"/>
          </a:p>
          <a:p>
            <a:pPr>
              <a:defRPr/>
            </a:pPr>
            <a:endParaRPr lang="en-US" sz="800" dirty="0" smtClean="0"/>
          </a:p>
        </p:txBody>
      </p:sp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AB5E953B-DF24-4166-8FDD-FF8EC6305691}" type="slidenum">
              <a:rPr lang="he-IL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e-IL" sz="4000" b="1" dirty="0"/>
              <a:t>צירוף טבלאות על בסיס שוויון</a:t>
            </a:r>
            <a:r>
              <a:rPr lang="en-US" b="1" dirty="0" smtClean="0"/>
              <a:t> </a:t>
            </a:r>
            <a:r>
              <a:rPr lang="he-IL" sz="4400" b="1" dirty="0" smtClean="0"/>
              <a:t>-</a:t>
            </a:r>
            <a:r>
              <a:rPr lang="en-US" sz="4400" b="1" dirty="0" smtClean="0"/>
              <a:t> </a:t>
            </a:r>
            <a:r>
              <a:rPr lang="en-US" sz="3600" b="1" dirty="0" smtClean="0"/>
              <a:t>Equal join</a:t>
            </a:r>
          </a:p>
        </p:txBody>
      </p:sp>
      <p:sp>
        <p:nvSpPr>
          <p:cNvPr id="1126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D39080F-CF2D-4228-8C70-2AF1CD7E3705}" type="slidenum">
              <a:rPr lang="he-IL"/>
              <a:pPr/>
              <a:t>9</a:t>
            </a:fld>
            <a:endParaRPr lang="en-US"/>
          </a:p>
        </p:txBody>
      </p:sp>
      <p:pic>
        <p:nvPicPr>
          <p:cNvPr id="1126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00400" y="3962400"/>
            <a:ext cx="152717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29200" y="2286000"/>
            <a:ext cx="3784600" cy="2566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62000" y="2667000"/>
            <a:ext cx="2152650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71" name="TextBox 8"/>
          <p:cNvSpPr txBox="1">
            <a:spLocks noChangeArrowheads="1"/>
          </p:cNvSpPr>
          <p:nvPr/>
        </p:nvSpPr>
        <p:spPr bwMode="auto">
          <a:xfrm>
            <a:off x="1447800" y="2362200"/>
            <a:ext cx="44132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Dep</a:t>
            </a:r>
            <a:endParaRPr lang="he-IL"/>
          </a:p>
        </p:txBody>
      </p:sp>
      <p:sp>
        <p:nvSpPr>
          <p:cNvPr id="11272" name="TextBox 9"/>
          <p:cNvSpPr txBox="1">
            <a:spLocks noChangeArrowheads="1"/>
          </p:cNvSpPr>
          <p:nvPr/>
        </p:nvSpPr>
        <p:spPr bwMode="auto">
          <a:xfrm>
            <a:off x="6518275" y="1981200"/>
            <a:ext cx="47625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Emp</a:t>
            </a:r>
            <a:endParaRPr lang="he-IL"/>
          </a:p>
        </p:txBody>
      </p:sp>
      <p:sp>
        <p:nvSpPr>
          <p:cNvPr id="20" name="Bent Arrow 19"/>
          <p:cNvSpPr/>
          <p:nvPr/>
        </p:nvSpPr>
        <p:spPr>
          <a:xfrm flipV="1">
            <a:off x="914400" y="3733800"/>
            <a:ext cx="2209800" cy="60960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>
              <a:solidFill>
                <a:schemeClr val="tx1"/>
              </a:solidFill>
            </a:endParaRPr>
          </a:p>
        </p:txBody>
      </p:sp>
      <p:sp>
        <p:nvSpPr>
          <p:cNvPr id="21" name="Bent Arrow 20"/>
          <p:cNvSpPr/>
          <p:nvPr/>
        </p:nvSpPr>
        <p:spPr>
          <a:xfrm flipH="1" flipV="1">
            <a:off x="4800600" y="4876800"/>
            <a:ext cx="3657600" cy="60960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e-IL" sz="4000" b="1" dirty="0"/>
              <a:t>צירוף טבלאות על בסיס </a:t>
            </a:r>
            <a:r>
              <a:rPr lang="he-IL" sz="4000" b="1" dirty="0" smtClean="0"/>
              <a:t>שוויון</a:t>
            </a:r>
            <a:r>
              <a:rPr lang="en-US" sz="4000" b="1" dirty="0" smtClean="0"/>
              <a:t> </a:t>
            </a:r>
            <a:r>
              <a:rPr lang="he-IL" b="1" dirty="0" smtClean="0"/>
              <a:t>-</a:t>
            </a:r>
            <a:r>
              <a:rPr lang="en-US" b="1" dirty="0" smtClean="0"/>
              <a:t> </a:t>
            </a:r>
            <a:r>
              <a:rPr lang="en-US" sz="3600" b="1" dirty="0" smtClean="0"/>
              <a:t>Equal join</a:t>
            </a:r>
            <a:endParaRPr lang="en-US" b="1" dirty="0" smtClean="0"/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572000"/>
          </a:xfrm>
        </p:spPr>
        <p:txBody>
          <a:bodyPr/>
          <a:lstStyle/>
          <a:p>
            <a:pPr>
              <a:buFontTx/>
              <a:buNone/>
            </a:pPr>
            <a:endParaRPr lang="he-IL" sz="800" dirty="0" smtClean="0"/>
          </a:p>
          <a:p>
            <a:pPr algn="r" rtl="1"/>
            <a:r>
              <a:rPr lang="he-IL" sz="1800" dirty="0" smtClean="0"/>
              <a:t>ניתן גם להגדיר מספר קריטריונים, למשל:</a:t>
            </a: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SELECT </a:t>
            </a:r>
            <a:r>
              <a:rPr lang="en-US" sz="1800" dirty="0" err="1" smtClean="0"/>
              <a:t>ename,sal,ename</a:t>
            </a: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FROM </a:t>
            </a:r>
            <a:r>
              <a:rPr lang="en-US" sz="1800" dirty="0" err="1" smtClean="0"/>
              <a:t>emp,dept</a:t>
            </a: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WHERE </a:t>
            </a:r>
            <a:r>
              <a:rPr lang="en-US" sz="1800" dirty="0" err="1" smtClean="0"/>
              <a:t>emp.deptno</a:t>
            </a:r>
            <a:r>
              <a:rPr lang="en-US" sz="1800" dirty="0" smtClean="0"/>
              <a:t>=</a:t>
            </a:r>
            <a:r>
              <a:rPr lang="en-US" sz="1800" dirty="0" err="1" smtClean="0"/>
              <a:t>dept.deptno</a:t>
            </a: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AND </a:t>
            </a:r>
            <a:r>
              <a:rPr lang="en-US" sz="1800" dirty="0" err="1" smtClean="0"/>
              <a:t>sal</a:t>
            </a:r>
            <a:r>
              <a:rPr lang="en-US" sz="1800" dirty="0" smtClean="0"/>
              <a:t>&gt;2000;</a:t>
            </a:r>
          </a:p>
          <a:p>
            <a:pPr algn="l" rtl="0">
              <a:buFontTx/>
              <a:buNone/>
            </a:pPr>
            <a:endParaRPr lang="en-US" sz="1800" dirty="0" smtClean="0"/>
          </a:p>
          <a:p>
            <a:pPr algn="r" rtl="1"/>
            <a:r>
              <a:rPr lang="he-IL" sz="1800" dirty="0" smtClean="0"/>
              <a:t>במקרה של חיבור יותר מ-2 טבלאות:</a:t>
            </a: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SELECT c. name ,( o. quantity * </a:t>
            </a:r>
            <a:r>
              <a:rPr lang="en-US" sz="1800" dirty="0" err="1" smtClean="0"/>
              <a:t>i</a:t>
            </a:r>
            <a:r>
              <a:rPr lang="en-US" sz="1800" dirty="0" smtClean="0"/>
              <a:t>. price) total</a:t>
            </a:r>
          </a:p>
          <a:p>
            <a:pPr algn="l" rtl="0">
              <a:buFontTx/>
              <a:buNone/>
            </a:pPr>
            <a:r>
              <a:rPr lang="en-US" sz="1800" dirty="0" smtClean="0"/>
              <a:t>FROM orders o, items </a:t>
            </a:r>
            <a:r>
              <a:rPr lang="en-US" sz="1800" dirty="0" err="1" smtClean="0"/>
              <a:t>i</a:t>
            </a:r>
            <a:r>
              <a:rPr lang="en-US" sz="1800" dirty="0" smtClean="0"/>
              <a:t> ,customer c</a:t>
            </a:r>
          </a:p>
          <a:p>
            <a:pPr algn="l" rtl="0">
              <a:buFontTx/>
              <a:buNone/>
            </a:pPr>
            <a:r>
              <a:rPr lang="en-US" sz="1800" dirty="0" smtClean="0"/>
              <a:t>WHERE o. </a:t>
            </a:r>
            <a:r>
              <a:rPr lang="en-US" sz="1800" dirty="0" err="1" smtClean="0"/>
              <a:t>itemID</a:t>
            </a:r>
            <a:r>
              <a:rPr lang="en-US" sz="1800" dirty="0" smtClean="0"/>
              <a:t> = </a:t>
            </a:r>
            <a:r>
              <a:rPr lang="en-US" sz="1800" dirty="0" err="1" smtClean="0"/>
              <a:t>i</a:t>
            </a:r>
            <a:r>
              <a:rPr lang="en-US" sz="1800" dirty="0" smtClean="0"/>
              <a:t>. </a:t>
            </a:r>
            <a:r>
              <a:rPr lang="en-US" sz="1800" dirty="0" err="1" smtClean="0"/>
              <a:t>itemID</a:t>
            </a:r>
            <a:r>
              <a:rPr lang="en-US" sz="1800" dirty="0" smtClean="0"/>
              <a:t> AND </a:t>
            </a:r>
          </a:p>
          <a:p>
            <a:pPr algn="l" rtl="0">
              <a:buFontTx/>
              <a:buNone/>
            </a:pPr>
            <a:r>
              <a:rPr lang="en-US" sz="1800" dirty="0" smtClean="0"/>
              <a:t>o .name=c. name;</a:t>
            </a:r>
          </a:p>
          <a:p>
            <a:pPr algn="l" rtl="0">
              <a:buFontTx/>
              <a:buNone/>
            </a:pPr>
            <a:endParaRPr lang="he-IL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endParaRPr lang="en-US" sz="800" dirty="0" smtClean="0"/>
          </a:p>
        </p:txBody>
      </p:sp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9886D79-6292-4108-B2E5-E7FE9A85D25A}" type="slidenum">
              <a:rPr lang="he-IL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b="1" dirty="0" smtClean="0"/>
              <a:t>צירוף חיצוני</a:t>
            </a:r>
            <a:r>
              <a:rPr lang="en-US" b="1" dirty="0" smtClean="0"/>
              <a:t> </a:t>
            </a:r>
            <a:r>
              <a:rPr lang="he-IL" b="1" dirty="0" smtClean="0"/>
              <a:t> -</a:t>
            </a:r>
            <a:r>
              <a:rPr lang="en-US" sz="3600" b="1" dirty="0" smtClean="0"/>
              <a:t>Outer join</a:t>
            </a:r>
            <a:endParaRPr lang="en-US" b="1" dirty="0" smtClean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572000"/>
          </a:xfrm>
        </p:spPr>
        <p:txBody>
          <a:bodyPr/>
          <a:lstStyle/>
          <a:p>
            <a:pPr algn="r" rtl="1">
              <a:buFontTx/>
              <a:buNone/>
              <a:defRPr/>
            </a:pPr>
            <a:r>
              <a:rPr lang="he-IL" sz="2800" dirty="0" smtClean="0">
                <a:cs typeface="+mj-cs"/>
              </a:rPr>
              <a:t>צירוף חיצוני - "הצג לי </a:t>
            </a:r>
            <a:r>
              <a:rPr lang="he-IL" sz="2800" dirty="0" err="1" smtClean="0">
                <a:cs typeface="+mj-cs"/>
              </a:rPr>
              <a:t>הכל</a:t>
            </a:r>
            <a:r>
              <a:rPr lang="he-IL" sz="2800" dirty="0" smtClean="0">
                <a:cs typeface="+mj-cs"/>
              </a:rPr>
              <a:t>, גם אם חסר דבר מה".</a:t>
            </a:r>
          </a:p>
          <a:p>
            <a:pPr algn="r" rtl="1">
              <a:defRPr/>
            </a:pPr>
            <a:r>
              <a:rPr lang="he-IL" sz="1800" dirty="0" smtClean="0"/>
              <a:t>למשל,אם לא כל הלקוחות ביצעו הזמנה, נקבל רשימת של כל הלקוחות ללא קשר לביצוע הזמנות.</a:t>
            </a:r>
            <a:endParaRPr lang="en-US" sz="1800" dirty="0" smtClean="0"/>
          </a:p>
          <a:p>
            <a:pPr algn="r" rtl="1">
              <a:defRPr/>
            </a:pPr>
            <a:r>
              <a:rPr lang="he-IL" sz="1800" dirty="0" smtClean="0"/>
              <a:t>את הסימן (+) רושמים לצד העמודה שבה עשויים להיות נתונים חסרים מול עמודה איתה מתבצע הצירוף.</a:t>
            </a:r>
          </a:p>
          <a:p>
            <a:pPr algn="r" rtl="1">
              <a:defRPr/>
            </a:pPr>
            <a:r>
              <a:rPr lang="he-IL" sz="1800" dirty="0" smtClean="0"/>
              <a:t>כתוצאה מכך יופיעו לקוחות והזמנות שעשו ויופיעו גם לקוחות שלא ביצעו שום הזמנה.</a:t>
            </a:r>
          </a:p>
          <a:p>
            <a:pPr>
              <a:defRPr/>
            </a:pPr>
            <a:endParaRPr lang="en-US" sz="1800" dirty="0" smtClean="0"/>
          </a:p>
          <a:p>
            <a:pPr algn="l" rtl="0">
              <a:buFontTx/>
              <a:buNone/>
              <a:defRPr/>
            </a:pPr>
            <a:r>
              <a:rPr lang="en-US" sz="1800" dirty="0" smtClean="0"/>
              <a:t>SELECT </a:t>
            </a:r>
            <a:r>
              <a:rPr lang="en-US" sz="1800" dirty="0" err="1" smtClean="0"/>
              <a:t>c.custname,o.prodid,o.quantity</a:t>
            </a:r>
            <a:endParaRPr lang="en-US" sz="1800" dirty="0" smtClean="0"/>
          </a:p>
          <a:p>
            <a:pPr algn="l" rtl="0">
              <a:buFontTx/>
              <a:buNone/>
              <a:defRPr/>
            </a:pPr>
            <a:r>
              <a:rPr lang="en-US" sz="1800" dirty="0" smtClean="0"/>
              <a:t>FROM </a:t>
            </a:r>
            <a:r>
              <a:rPr lang="en-US" sz="1800" dirty="0" err="1" smtClean="0"/>
              <a:t>cust</a:t>
            </a:r>
            <a:r>
              <a:rPr lang="en-US" sz="1800" dirty="0" smtClean="0"/>
              <a:t> </a:t>
            </a:r>
            <a:r>
              <a:rPr lang="en-US" sz="1800" dirty="0" err="1" smtClean="0"/>
              <a:t>c,orders</a:t>
            </a:r>
            <a:r>
              <a:rPr lang="en-US" sz="1800" dirty="0" smtClean="0"/>
              <a:t> o</a:t>
            </a:r>
          </a:p>
          <a:p>
            <a:pPr algn="l" rtl="0">
              <a:buFontTx/>
              <a:buNone/>
              <a:defRPr/>
            </a:pPr>
            <a:r>
              <a:rPr lang="en-US" sz="1800" dirty="0" smtClean="0"/>
              <a:t>WHERE </a:t>
            </a:r>
            <a:r>
              <a:rPr lang="en-US" sz="1800" dirty="0" err="1" smtClean="0"/>
              <a:t>c.custid</a:t>
            </a:r>
            <a:r>
              <a:rPr lang="en-US" sz="1800" dirty="0" smtClean="0"/>
              <a:t>=</a:t>
            </a:r>
            <a:r>
              <a:rPr lang="en-US" sz="1800" dirty="0" err="1" smtClean="0"/>
              <a:t>o.custid</a:t>
            </a:r>
            <a:r>
              <a:rPr lang="en-US" sz="1800" dirty="0" smtClean="0"/>
              <a:t>(+);</a:t>
            </a:r>
          </a:p>
          <a:p>
            <a:pPr algn="l" rtl="0">
              <a:buFontTx/>
              <a:buNone/>
              <a:defRPr/>
            </a:pPr>
            <a:endParaRPr lang="he-IL" sz="1800" dirty="0" smtClean="0"/>
          </a:p>
          <a:p>
            <a:pPr algn="l" rtl="0">
              <a:buFontTx/>
              <a:buNone/>
              <a:defRPr/>
            </a:pPr>
            <a:endParaRPr lang="en-US" sz="1800" dirty="0" smtClean="0"/>
          </a:p>
          <a:p>
            <a:pPr algn="l" rtl="0">
              <a:buFontTx/>
              <a:buNone/>
              <a:defRPr/>
            </a:pPr>
            <a:endParaRPr lang="en-US" sz="1800" dirty="0" smtClean="0"/>
          </a:p>
          <a:p>
            <a:pPr>
              <a:defRPr/>
            </a:pPr>
            <a:endParaRPr lang="en-US" sz="800" dirty="0" smtClean="0"/>
          </a:p>
        </p:txBody>
      </p:sp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DD27D35-89F0-4432-A985-DB186CD188E1}" type="slidenum">
              <a:rPr lang="he-IL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rtl="1"/>
            <a:r>
              <a:rPr lang="en-US" sz="3600" b="1" dirty="0" smtClean="0"/>
              <a:t> - Self </a:t>
            </a:r>
            <a:r>
              <a:rPr lang="en-US" sz="3600" b="1" dirty="0"/>
              <a:t>join </a:t>
            </a:r>
            <a:r>
              <a:rPr lang="he-IL" sz="3600" b="1" dirty="0" smtClean="0"/>
              <a:t>צירוף טבלאות</a:t>
            </a:r>
            <a:endParaRPr lang="en-US" sz="2400" b="1" dirty="0" smtClean="0"/>
          </a:p>
        </p:txBody>
      </p:sp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572000"/>
          </a:xfrm>
        </p:spPr>
        <p:txBody>
          <a:bodyPr/>
          <a:lstStyle/>
          <a:p>
            <a:pPr algn="r" rtl="1">
              <a:buFontTx/>
              <a:buNone/>
            </a:pPr>
            <a:r>
              <a:rPr lang="he-IL" sz="2800" dirty="0" smtClean="0"/>
              <a:t>צירוף עצמי - אם אנו רוצים למצוא לכל עובד את המנהל שלו (מתוך טבלה אחת).</a:t>
            </a:r>
            <a:endParaRPr lang="en-US" sz="2800" dirty="0" smtClean="0"/>
          </a:p>
          <a:p>
            <a:pPr algn="r" rtl="1"/>
            <a:r>
              <a:rPr lang="he-IL" sz="1800" dirty="0" smtClean="0"/>
              <a:t>נבצע:</a:t>
            </a:r>
          </a:p>
          <a:p>
            <a:pPr algn="l" rtl="0">
              <a:buFontTx/>
              <a:buNone/>
            </a:pPr>
            <a:r>
              <a:rPr lang="en-US" sz="1800" dirty="0" smtClean="0"/>
              <a:t>SELECT </a:t>
            </a:r>
            <a:r>
              <a:rPr lang="en-US" sz="1800" dirty="0" err="1" smtClean="0"/>
              <a:t>a.ename</a:t>
            </a:r>
            <a:r>
              <a:rPr lang="en-US" sz="1800" dirty="0" smtClean="0"/>
              <a:t> </a:t>
            </a:r>
            <a:r>
              <a:rPr lang="en-US" sz="1800" dirty="0" err="1" smtClean="0"/>
              <a:t>empl</a:t>
            </a:r>
            <a:r>
              <a:rPr lang="en-US" sz="1800" dirty="0" smtClean="0"/>
              <a:t> ,</a:t>
            </a:r>
            <a:r>
              <a:rPr lang="en-US" sz="1800" dirty="0" err="1" smtClean="0"/>
              <a:t>b.ename</a:t>
            </a:r>
            <a:r>
              <a:rPr lang="en-US" sz="1800" dirty="0" smtClean="0"/>
              <a:t> </a:t>
            </a:r>
            <a:r>
              <a:rPr lang="en-US" sz="1800" dirty="0" err="1" smtClean="0"/>
              <a:t>Magr</a:t>
            </a: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FROM </a:t>
            </a:r>
            <a:r>
              <a:rPr lang="en-US" sz="1800" dirty="0" err="1" smtClean="0"/>
              <a:t>emp</a:t>
            </a:r>
            <a:r>
              <a:rPr lang="en-US" sz="1800" dirty="0" smtClean="0"/>
              <a:t> </a:t>
            </a:r>
            <a:r>
              <a:rPr lang="en-US" sz="1800" dirty="0" err="1" smtClean="0"/>
              <a:t>a,emp</a:t>
            </a:r>
            <a:r>
              <a:rPr lang="en-US" sz="1800" dirty="0" smtClean="0"/>
              <a:t> b</a:t>
            </a:r>
          </a:p>
          <a:p>
            <a:pPr algn="l" rtl="0">
              <a:buFontTx/>
              <a:buNone/>
            </a:pPr>
            <a:r>
              <a:rPr lang="en-US" sz="1800" dirty="0" smtClean="0"/>
              <a:t>WHERE b. </a:t>
            </a:r>
            <a:r>
              <a:rPr lang="en-US" sz="1800" dirty="0" err="1" smtClean="0"/>
              <a:t>empno</a:t>
            </a:r>
            <a:r>
              <a:rPr lang="en-US" sz="1800" dirty="0" smtClean="0"/>
              <a:t> =a. </a:t>
            </a:r>
            <a:r>
              <a:rPr lang="en-US" sz="1800" dirty="0" err="1" smtClean="0"/>
              <a:t>mgr</a:t>
            </a:r>
            <a:r>
              <a:rPr lang="en-US" sz="1800" dirty="0" smtClean="0"/>
              <a:t> </a:t>
            </a:r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endParaRPr lang="he-IL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endParaRPr lang="en-US" sz="800" dirty="0" smtClean="0"/>
          </a:p>
        </p:txBody>
      </p:sp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486DE31-D61D-4A5A-8F27-FE0A2BD5F1BC}" type="slidenum">
              <a:rPr lang="he-IL"/>
              <a:pPr/>
              <a:t>12</a:t>
            </a:fld>
            <a:endParaRPr lang="en-US"/>
          </a:p>
        </p:txBody>
      </p:sp>
      <p:pic>
        <p:nvPicPr>
          <p:cNvPr id="1434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05000" y="3962400"/>
            <a:ext cx="3706813" cy="251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2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934200" y="3352800"/>
            <a:ext cx="1085850" cy="292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ight Arrow 6"/>
          <p:cNvSpPr/>
          <p:nvPr/>
        </p:nvSpPr>
        <p:spPr>
          <a:xfrm>
            <a:off x="5410200" y="4495800"/>
            <a:ext cx="14478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e-IL" sz="3600" b="1" dirty="0" smtClean="0"/>
              <a:t>צירוף טבלאות על בסיס אי שוויון</a:t>
            </a:r>
            <a:endParaRPr lang="en-US" sz="3600" b="1" dirty="0" smtClean="0"/>
          </a:p>
        </p:txBody>
      </p:sp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572000"/>
          </a:xfrm>
        </p:spPr>
        <p:txBody>
          <a:bodyPr/>
          <a:lstStyle/>
          <a:p>
            <a:pPr algn="r" rtl="1">
              <a:buFontTx/>
              <a:buNone/>
            </a:pPr>
            <a:r>
              <a:rPr lang="he-IL" sz="2800" dirty="0" smtClean="0"/>
              <a:t>אנו רוצים להציג את כל העובדים אשר מקבלים משכורת גבוהה יותר מהמשכורת של עובד מס' </a:t>
            </a:r>
            <a:r>
              <a:rPr lang="en-US" sz="2800" dirty="0" smtClean="0"/>
              <a:t>7782</a:t>
            </a:r>
            <a:r>
              <a:rPr lang="he-IL" sz="2800" dirty="0" smtClean="0"/>
              <a:t>.</a:t>
            </a:r>
            <a:endParaRPr lang="en-US" sz="2800" dirty="0" smtClean="0"/>
          </a:p>
          <a:p>
            <a:pPr algn="r" rtl="1"/>
            <a:r>
              <a:rPr lang="he-IL" sz="1800" dirty="0" smtClean="0"/>
              <a:t>נבצע:</a:t>
            </a:r>
          </a:p>
          <a:p>
            <a:pPr algn="l" rtl="0">
              <a:buFontTx/>
              <a:buNone/>
            </a:pPr>
            <a:r>
              <a:rPr lang="en-US" sz="1800" dirty="0" smtClean="0"/>
              <a:t>SELECT E1.empno, E1.ename</a:t>
            </a:r>
          </a:p>
          <a:p>
            <a:pPr algn="l" rtl="0">
              <a:buFontTx/>
              <a:buNone/>
            </a:pPr>
            <a:r>
              <a:rPr lang="en-US" sz="1800" dirty="0" smtClean="0"/>
              <a:t>FROM </a:t>
            </a:r>
            <a:r>
              <a:rPr lang="en-US" sz="1800" dirty="0" err="1" smtClean="0"/>
              <a:t>emp</a:t>
            </a:r>
            <a:r>
              <a:rPr lang="en-US" sz="1800" dirty="0" smtClean="0"/>
              <a:t> E1,emp E2</a:t>
            </a:r>
          </a:p>
          <a:p>
            <a:pPr algn="l" rtl="0">
              <a:buFontTx/>
              <a:buNone/>
            </a:pPr>
            <a:r>
              <a:rPr lang="en-US" sz="1800" dirty="0" smtClean="0"/>
              <a:t>WHERE E1.sal&gt;E2.sal</a:t>
            </a:r>
          </a:p>
          <a:p>
            <a:pPr algn="l" rtl="0">
              <a:buFontTx/>
              <a:buNone/>
            </a:pPr>
            <a:r>
              <a:rPr lang="en-US" sz="1800" dirty="0" smtClean="0"/>
              <a:t>AND E2.empno=7782;</a:t>
            </a:r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endParaRPr lang="he-IL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endParaRPr lang="en-US" sz="800" dirty="0" smtClean="0"/>
          </a:p>
        </p:txBody>
      </p:sp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858BC4A-D2C2-48B4-84EE-E6EA9B50F0E8}" type="slidenum">
              <a:rPr lang="he-IL"/>
              <a:pPr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he-IL" sz="3600" b="1" dirty="0"/>
              <a:t>צירוף טבלאות על </a:t>
            </a:r>
            <a:r>
              <a:rPr lang="he-IL" sz="3600" b="1" dirty="0" smtClean="0"/>
              <a:t>בסיס </a:t>
            </a:r>
            <a:r>
              <a:rPr lang="he-IL" sz="3600" b="1" dirty="0"/>
              <a:t>אי שוויון</a:t>
            </a:r>
            <a:endParaRPr lang="en-US" sz="2400" b="1" dirty="0" smtClean="0"/>
          </a:p>
        </p:txBody>
      </p:sp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F661969-E883-4C7D-83B5-6636E87BA213}" type="slidenum">
              <a:rPr lang="he-IL"/>
              <a:pPr/>
              <a:t>14</a:t>
            </a:fld>
            <a:endParaRPr lang="en-US"/>
          </a:p>
        </p:txBody>
      </p:sp>
      <p:pic>
        <p:nvPicPr>
          <p:cNvPr id="16388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8200" y="2057400"/>
            <a:ext cx="3819525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0" y="5257800"/>
            <a:ext cx="1171575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390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057400"/>
            <a:ext cx="3819525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91" name="TextBox 9"/>
          <p:cNvSpPr txBox="1">
            <a:spLocks noChangeArrowheads="1"/>
          </p:cNvSpPr>
          <p:nvPr/>
        </p:nvSpPr>
        <p:spPr bwMode="auto">
          <a:xfrm>
            <a:off x="6038850" y="1752600"/>
            <a:ext cx="6858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Emp E2</a:t>
            </a:r>
            <a:endParaRPr lang="he-IL"/>
          </a:p>
        </p:txBody>
      </p:sp>
      <p:sp>
        <p:nvSpPr>
          <p:cNvPr id="16392" name="TextBox 10"/>
          <p:cNvSpPr txBox="1">
            <a:spLocks noChangeArrowheads="1"/>
          </p:cNvSpPr>
          <p:nvPr/>
        </p:nvSpPr>
        <p:spPr bwMode="auto">
          <a:xfrm>
            <a:off x="1619250" y="1752600"/>
            <a:ext cx="685800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200"/>
              <a:t>Emp E1</a:t>
            </a:r>
            <a:endParaRPr lang="he-IL"/>
          </a:p>
        </p:txBody>
      </p:sp>
      <p:sp>
        <p:nvSpPr>
          <p:cNvPr id="12" name="Bent Arrow 11"/>
          <p:cNvSpPr/>
          <p:nvPr/>
        </p:nvSpPr>
        <p:spPr>
          <a:xfrm flipV="1">
            <a:off x="1600200" y="4648200"/>
            <a:ext cx="2209800" cy="99060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>
              <a:solidFill>
                <a:schemeClr val="tx1"/>
              </a:solidFill>
            </a:endParaRPr>
          </a:p>
        </p:txBody>
      </p:sp>
      <p:sp>
        <p:nvSpPr>
          <p:cNvPr id="14" name="Bent Arrow 13"/>
          <p:cNvSpPr/>
          <p:nvPr/>
        </p:nvSpPr>
        <p:spPr>
          <a:xfrm flipH="1" flipV="1">
            <a:off x="4953000" y="4648200"/>
            <a:ext cx="2590800" cy="99060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>
              <a:solidFill>
                <a:schemeClr val="tx1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72000" y="2590800"/>
            <a:ext cx="3962400" cy="152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  <p:cxnSp>
        <p:nvCxnSpPr>
          <p:cNvPr id="18" name="Straight Connector 17"/>
          <p:cNvCxnSpPr/>
          <p:nvPr/>
        </p:nvCxnSpPr>
        <p:spPr>
          <a:xfrm>
            <a:off x="4648200" y="2286000"/>
            <a:ext cx="3733800" cy="2286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4648200" y="2819400"/>
            <a:ext cx="3733800" cy="17526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4648200" y="2819400"/>
            <a:ext cx="3733800" cy="17526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4648200" y="2286000"/>
            <a:ext cx="3810000" cy="2286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16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2" dur="500"/>
                                        <p:tgtEl>
                                          <p:spTgt spid="16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 algn="r" rtl="1">
              <a:buFontTx/>
              <a:buNone/>
              <a:defRPr/>
            </a:pPr>
            <a:r>
              <a:rPr lang="he-IL" sz="2800" dirty="0" smtClean="0"/>
              <a:t>באיגוד נתונים נקבל את כל הנתונים השונים מכל שאילתה (חוץ מזהים).</a:t>
            </a:r>
            <a:endParaRPr lang="he-IL" sz="2800" dirty="0" smtClean="0">
              <a:cs typeface="+mj-cs"/>
            </a:endParaRPr>
          </a:p>
          <a:p>
            <a:pPr algn="r" rtl="1">
              <a:buFontTx/>
              <a:buNone/>
              <a:defRPr/>
            </a:pPr>
            <a:r>
              <a:rPr lang="he-IL" sz="2800" dirty="0" smtClean="0">
                <a:cs typeface="+mj-cs"/>
              </a:rPr>
              <a:t>לדוגמא:</a:t>
            </a:r>
            <a:endParaRPr lang="en-US" sz="2800" dirty="0" smtClean="0">
              <a:cs typeface="+mj-cs"/>
            </a:endParaRPr>
          </a:p>
          <a:p>
            <a:pPr>
              <a:defRPr/>
            </a:pPr>
            <a:endParaRPr lang="he-IL" sz="800" dirty="0" smtClean="0"/>
          </a:p>
          <a:p>
            <a:pPr algn="r" rtl="1">
              <a:defRPr/>
            </a:pPr>
            <a:r>
              <a:rPr lang="he-IL" sz="1800" dirty="0" smtClean="0"/>
              <a:t>נתונות הטבלאות הבאות:</a:t>
            </a:r>
            <a:endParaRPr lang="en-US" sz="1400" dirty="0" smtClean="0"/>
          </a:p>
          <a:p>
            <a:pPr>
              <a:defRPr/>
            </a:pPr>
            <a:endParaRPr lang="he-IL" sz="800" dirty="0" smtClean="0"/>
          </a:p>
          <a:p>
            <a:pPr algn="l" rtl="0">
              <a:buFontTx/>
              <a:buNone/>
              <a:defRPr/>
            </a:pPr>
            <a:r>
              <a:rPr lang="en-US" sz="1800" dirty="0" smtClean="0"/>
              <a:t>SELECT * FROM A;</a:t>
            </a:r>
          </a:p>
          <a:p>
            <a:pPr algn="l" rtl="0">
              <a:buFontTx/>
              <a:buNone/>
              <a:defRPr/>
            </a:pPr>
            <a:endParaRPr lang="en-US" sz="1800" dirty="0" smtClean="0"/>
          </a:p>
          <a:p>
            <a:pPr>
              <a:defRPr/>
            </a:pPr>
            <a:endParaRPr lang="en-US" sz="800" dirty="0" smtClean="0"/>
          </a:p>
        </p:txBody>
      </p:sp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AC95B1C-E58D-4F86-9B04-7FA33D60D6C6}" type="slidenum">
              <a:rPr lang="he-IL"/>
              <a:pPr/>
              <a:t>15</a:t>
            </a:fld>
            <a:endParaRPr lang="en-US"/>
          </a:p>
        </p:txBody>
      </p:sp>
      <p:graphicFrame>
        <p:nvGraphicFramePr>
          <p:cNvPr id="5" name="טבלה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2872234"/>
              </p:ext>
            </p:extLst>
          </p:nvPr>
        </p:nvGraphicFramePr>
        <p:xfrm>
          <a:off x="1524000" y="4318000"/>
          <a:ext cx="6096000" cy="1112520"/>
        </p:xfrm>
        <a:graphic>
          <a:graphicData uri="http://schemas.openxmlformats.org/drawingml/2006/table">
            <a:tbl>
              <a:tblPr rtl="1" firstRow="1" bandRow="1">
                <a:tableStyleId>{073A0DAA-6AF3-43AB-8588-CEC1D06C72B9}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City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Status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err="1" smtClean="0"/>
                        <a:t>SName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Sid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1800" kern="1200" smtClean="0"/>
                        <a:t>London</a:t>
                      </a:r>
                      <a:endParaRPr lang="he-IL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he-IL" sz="1800" kern="1200" dirty="0" smtClean="0"/>
                        <a:t>20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Smith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S1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London</a:t>
                      </a:r>
                      <a:endParaRPr lang="he-IL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he-IL" sz="1800" kern="1200" dirty="0" smtClean="0"/>
                        <a:t>20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Clark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S4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53536"/>
            <a:ext cx="8229600" cy="1143000"/>
          </a:xfrm>
        </p:spPr>
        <p:txBody>
          <a:bodyPr>
            <a:normAutofit/>
          </a:bodyPr>
          <a:lstStyle/>
          <a:p>
            <a:pPr algn="ctr" rtl="1"/>
            <a:r>
              <a:rPr lang="en-US" sz="4800" b="1" dirty="0" smtClean="0"/>
              <a:t> </a:t>
            </a:r>
            <a:r>
              <a:rPr lang="en-US" sz="3600" b="1" dirty="0" smtClean="0"/>
              <a:t>Union</a:t>
            </a:r>
            <a:r>
              <a:rPr lang="he-IL" sz="4800" b="1" dirty="0" smtClean="0"/>
              <a:t>- </a:t>
            </a:r>
            <a:r>
              <a:rPr lang="he-IL" sz="3100" b="1" dirty="0" smtClean="0"/>
              <a:t>איחוד בין טבלאות ללא כפילויות</a:t>
            </a:r>
            <a:endParaRPr lang="en-US" sz="31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endParaRPr lang="he-IL" sz="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SELECT * FROM B;</a:t>
            </a:r>
          </a:p>
          <a:p>
            <a:pPr marL="0" indent="0">
              <a:buNone/>
            </a:pPr>
            <a:endParaRPr lang="en-US" sz="800" dirty="0" smtClean="0"/>
          </a:p>
        </p:txBody>
      </p:sp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16A8B2D-1A52-4345-84CB-05DDC5751A35}" type="slidenum">
              <a:rPr lang="he-IL"/>
              <a:pPr/>
              <a:t>16</a:t>
            </a:fld>
            <a:endParaRPr lang="en-US"/>
          </a:p>
        </p:txBody>
      </p:sp>
      <p:graphicFrame>
        <p:nvGraphicFramePr>
          <p:cNvPr id="6" name="טבלה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4604157"/>
              </p:ext>
            </p:extLst>
          </p:nvPr>
        </p:nvGraphicFramePr>
        <p:xfrm>
          <a:off x="1524000" y="3886200"/>
          <a:ext cx="6096000" cy="1112520"/>
        </p:xfrm>
        <a:graphic>
          <a:graphicData uri="http://schemas.openxmlformats.org/drawingml/2006/table">
            <a:tbl>
              <a:tblPr rtl="1" firstRow="1" bandRow="1">
                <a:tableStyleId>{073A0DAA-6AF3-43AB-8588-CEC1D06C72B9}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City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Status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err="1" smtClean="0"/>
                        <a:t>SName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Sid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London</a:t>
                      </a:r>
                      <a:endParaRPr lang="he-IL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he-IL" sz="1800" kern="1200" dirty="0" smtClean="0"/>
                        <a:t>20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Smith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S1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Paris</a:t>
                      </a:r>
                      <a:endParaRPr lang="he-IL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he-IL" sz="1800" kern="1200" dirty="0" smtClean="0"/>
                        <a:t>10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Jones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S2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53536"/>
            <a:ext cx="8229600" cy="1143000"/>
          </a:xfrm>
        </p:spPr>
        <p:txBody>
          <a:bodyPr>
            <a:normAutofit/>
          </a:bodyPr>
          <a:lstStyle/>
          <a:p>
            <a:pPr algn="ctr" rtl="1"/>
            <a:r>
              <a:rPr lang="en-US" sz="4800" b="1" dirty="0" smtClean="0"/>
              <a:t> </a:t>
            </a:r>
            <a:r>
              <a:rPr lang="en-US" sz="3600" b="1" dirty="0" smtClean="0"/>
              <a:t>Union</a:t>
            </a:r>
            <a:r>
              <a:rPr lang="he-IL" sz="4800" b="1" dirty="0" smtClean="0"/>
              <a:t>- </a:t>
            </a:r>
            <a:r>
              <a:rPr lang="he-IL" sz="3100" b="1" dirty="0" smtClean="0"/>
              <a:t>איחוד בין טבלאות ללא כפילויות</a:t>
            </a:r>
            <a:endParaRPr lang="en-US" sz="31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0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724400"/>
          </a:xfrm>
        </p:spPr>
        <p:txBody>
          <a:bodyPr/>
          <a:lstStyle/>
          <a:p>
            <a:pPr algn="l" rtl="0">
              <a:buFontTx/>
              <a:buNone/>
            </a:pPr>
            <a:r>
              <a:rPr lang="en-US" sz="1800" dirty="0" smtClean="0"/>
              <a:t>A  UNION  B :</a:t>
            </a:r>
          </a:p>
          <a:p>
            <a:pPr>
              <a:buFontTx/>
              <a:buNone/>
            </a:pPr>
            <a:endParaRPr lang="en-US" sz="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SELECT Sid, </a:t>
            </a:r>
            <a:r>
              <a:rPr lang="en-US" sz="1800" dirty="0" err="1" smtClean="0"/>
              <a:t>SName</a:t>
            </a:r>
            <a:r>
              <a:rPr lang="en-US" sz="1800" dirty="0" smtClean="0"/>
              <a:t>, City</a:t>
            </a:r>
          </a:p>
          <a:p>
            <a:pPr algn="l" rtl="0">
              <a:buFontTx/>
              <a:buNone/>
            </a:pPr>
            <a:r>
              <a:rPr lang="en-US" sz="1800" dirty="0" smtClean="0"/>
              <a:t>FROM A</a:t>
            </a:r>
          </a:p>
          <a:p>
            <a:pPr algn="l" rtl="0">
              <a:buFontTx/>
              <a:buNone/>
            </a:pPr>
            <a:r>
              <a:rPr lang="en-US" sz="1800" dirty="0" smtClean="0"/>
              <a:t>UNION</a:t>
            </a:r>
          </a:p>
          <a:p>
            <a:pPr algn="l" rtl="0">
              <a:buFontTx/>
              <a:buNone/>
            </a:pPr>
            <a:r>
              <a:rPr lang="en-US" sz="1800" dirty="0" smtClean="0"/>
              <a:t>SELECT Sid, </a:t>
            </a:r>
            <a:r>
              <a:rPr lang="en-US" sz="1800" dirty="0" err="1" smtClean="0"/>
              <a:t>SName</a:t>
            </a:r>
            <a:r>
              <a:rPr lang="en-US" sz="1800" dirty="0" smtClean="0"/>
              <a:t>, City</a:t>
            </a:r>
          </a:p>
          <a:p>
            <a:pPr algn="l" rtl="0">
              <a:buFontTx/>
              <a:buNone/>
            </a:pPr>
            <a:r>
              <a:rPr lang="en-US" sz="1800" dirty="0" smtClean="0"/>
              <a:t>FROM B;</a:t>
            </a:r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pPr>
              <a:buFontTx/>
              <a:buNone/>
            </a:pPr>
            <a:endParaRPr lang="he-IL" sz="1800" dirty="0" smtClean="0"/>
          </a:p>
          <a:p>
            <a:pPr>
              <a:buFontTx/>
              <a:buNone/>
            </a:pPr>
            <a:endParaRPr lang="he-IL" sz="1800" dirty="0"/>
          </a:p>
          <a:p>
            <a:pPr algn="r" rtl="1">
              <a:buFontTx/>
              <a:buNone/>
            </a:pPr>
            <a:endParaRPr lang="he-IL" sz="1800" b="1" dirty="0" smtClean="0"/>
          </a:p>
          <a:p>
            <a:pPr algn="r" rtl="1">
              <a:buFontTx/>
              <a:buNone/>
            </a:pPr>
            <a:r>
              <a:rPr lang="he-IL" sz="1800" b="1" dirty="0" smtClean="0"/>
              <a:t>	* משפטי </a:t>
            </a:r>
            <a:r>
              <a:rPr lang="en-US" sz="1800" b="1" dirty="0" smtClean="0"/>
              <a:t>SELECT</a:t>
            </a:r>
            <a:r>
              <a:rPr lang="he-IL" sz="1800" b="1" dirty="0" smtClean="0"/>
              <a:t> חייבים להכיל מספר עמודות, שמות זהים.</a:t>
            </a:r>
            <a:endParaRPr lang="en-US" sz="1800" b="1" dirty="0" smtClean="0"/>
          </a:p>
          <a:p>
            <a:pPr>
              <a:buFontTx/>
              <a:buNone/>
            </a:pPr>
            <a:endParaRPr lang="en-US" sz="1800" dirty="0" smtClean="0"/>
          </a:p>
          <a:p>
            <a:endParaRPr lang="en-US" sz="800" dirty="0" smtClean="0"/>
          </a:p>
        </p:txBody>
      </p:sp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A87A383-5C1D-461A-B293-3FD962B8FFA7}" type="slidenum">
              <a:rPr lang="he-IL"/>
              <a:pPr/>
              <a:t>17</a:t>
            </a:fld>
            <a:endParaRPr lang="en-US"/>
          </a:p>
        </p:txBody>
      </p:sp>
      <p:graphicFrame>
        <p:nvGraphicFramePr>
          <p:cNvPr id="6" name="טבלה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5152623"/>
              </p:ext>
            </p:extLst>
          </p:nvPr>
        </p:nvGraphicFramePr>
        <p:xfrm>
          <a:off x="2362200" y="4038600"/>
          <a:ext cx="4572000" cy="1483360"/>
        </p:xfrm>
        <a:graphic>
          <a:graphicData uri="http://schemas.openxmlformats.org/drawingml/2006/table">
            <a:tbl>
              <a:tblPr rtl="1" firstRow="1" bandRow="1">
                <a:tableStyleId>{073A0DAA-6AF3-43AB-8588-CEC1D06C72B9}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City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err="1" smtClean="0"/>
                        <a:t>SName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Sid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London</a:t>
                      </a:r>
                      <a:endParaRPr lang="he-IL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Smith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S1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London</a:t>
                      </a:r>
                      <a:endParaRPr lang="he-IL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Clark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S4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Paris 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Jones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S2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53536"/>
            <a:ext cx="8229600" cy="1143000"/>
          </a:xfrm>
        </p:spPr>
        <p:txBody>
          <a:bodyPr>
            <a:normAutofit/>
          </a:bodyPr>
          <a:lstStyle/>
          <a:p>
            <a:pPr algn="ctr" rtl="1"/>
            <a:r>
              <a:rPr lang="en-US" sz="4800" b="1" dirty="0" smtClean="0"/>
              <a:t> </a:t>
            </a:r>
            <a:r>
              <a:rPr lang="en-US" sz="3600" b="1" dirty="0" smtClean="0"/>
              <a:t>Union</a:t>
            </a:r>
            <a:r>
              <a:rPr lang="he-IL" sz="4800" b="1" dirty="0" smtClean="0"/>
              <a:t>- </a:t>
            </a:r>
            <a:r>
              <a:rPr lang="he-IL" sz="3100" b="1" dirty="0" smtClean="0"/>
              <a:t>איחוד בין טבלאות ללא כפילויות</a:t>
            </a:r>
            <a:endParaRPr lang="en-US" sz="31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rtl="1"/>
            <a:r>
              <a:rPr lang="en-US" sz="3600" b="1" dirty="0"/>
              <a:t>Union all </a:t>
            </a:r>
            <a:r>
              <a:rPr lang="he-IL" sz="3600" b="1" dirty="0" smtClean="0"/>
              <a:t> - </a:t>
            </a:r>
            <a:r>
              <a:rPr lang="he-IL" sz="3100" b="1" dirty="0" smtClean="0"/>
              <a:t>איחוד בין טבלאות עם כפילויות</a:t>
            </a:r>
            <a:endParaRPr lang="en-US" sz="3100" b="1" dirty="0" smtClean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724400"/>
          </a:xfrm>
        </p:spPr>
        <p:txBody>
          <a:bodyPr/>
          <a:lstStyle/>
          <a:p>
            <a:pPr algn="r" rtl="1">
              <a:buFontTx/>
              <a:buNone/>
              <a:defRPr/>
            </a:pPr>
            <a:r>
              <a:rPr lang="he-IL" sz="2800" dirty="0" smtClean="0"/>
              <a:t>ערכים חוזרים - מציג גם את כל הרשומות החוזרים בניגוד ל- </a:t>
            </a:r>
            <a:r>
              <a:rPr lang="en-US" sz="2800" dirty="0" smtClean="0"/>
              <a:t>Union</a:t>
            </a:r>
            <a:r>
              <a:rPr lang="he-IL" sz="2800" dirty="0" smtClean="0"/>
              <a:t>.</a:t>
            </a:r>
            <a:endParaRPr lang="en-US" sz="2800" dirty="0" smtClean="0"/>
          </a:p>
          <a:p>
            <a:pPr>
              <a:buFontTx/>
              <a:buNone/>
              <a:defRPr/>
            </a:pPr>
            <a:r>
              <a:rPr lang="he-IL" sz="2800" dirty="0" smtClean="0">
                <a:cs typeface="+mj-cs"/>
              </a:rPr>
              <a:t>לדוגמא:</a:t>
            </a:r>
            <a:endParaRPr lang="en-US" sz="2800" dirty="0" smtClean="0">
              <a:cs typeface="+mj-cs"/>
            </a:endParaRPr>
          </a:p>
          <a:p>
            <a:pPr>
              <a:defRPr/>
            </a:pPr>
            <a:endParaRPr lang="he-IL" sz="800" dirty="0" smtClean="0"/>
          </a:p>
          <a:p>
            <a:pPr>
              <a:defRPr/>
            </a:pPr>
            <a:r>
              <a:rPr lang="he-IL" sz="1800" dirty="0" smtClean="0"/>
              <a:t>נתונות הטבלאות הבאות:</a:t>
            </a:r>
            <a:endParaRPr lang="he-IL" sz="800" dirty="0" smtClean="0"/>
          </a:p>
          <a:p>
            <a:pPr algn="l" rtl="0">
              <a:buFontTx/>
              <a:buNone/>
              <a:defRPr/>
            </a:pPr>
            <a:r>
              <a:rPr lang="en-US" sz="1800" b="1" i="1" u="sng" dirty="0" smtClean="0"/>
              <a:t>Movie</a:t>
            </a:r>
            <a:r>
              <a:rPr lang="en-US" sz="1800" i="1" u="sng" dirty="0" smtClean="0"/>
              <a:t>(</a:t>
            </a:r>
            <a:r>
              <a:rPr lang="en-US" sz="1800" dirty="0" smtClean="0"/>
              <a:t> </a:t>
            </a:r>
            <a:r>
              <a:rPr lang="en-US" sz="1800" dirty="0" err="1" smtClean="0"/>
              <a:t>title,year,length,inColor,StudioName</a:t>
            </a:r>
            <a:r>
              <a:rPr lang="en-US" sz="1800" dirty="0" smtClean="0"/>
              <a:t>)</a:t>
            </a:r>
          </a:p>
          <a:p>
            <a:pPr algn="l" rtl="0">
              <a:buFontTx/>
              <a:buNone/>
              <a:defRPr/>
            </a:pPr>
            <a:r>
              <a:rPr lang="en-US" sz="1800" b="1" i="1" u="sng" dirty="0" err="1" smtClean="0"/>
              <a:t>StarsIn</a:t>
            </a:r>
            <a:r>
              <a:rPr lang="en-US" sz="1800" i="1" u="sng" dirty="0" smtClean="0"/>
              <a:t>(</a:t>
            </a:r>
            <a:r>
              <a:rPr lang="en-US" sz="1800" dirty="0" smtClean="0"/>
              <a:t> </a:t>
            </a:r>
            <a:r>
              <a:rPr lang="en-US" sz="1800" dirty="0" err="1" smtClean="0"/>
              <a:t>MovieTitle</a:t>
            </a:r>
            <a:r>
              <a:rPr lang="en-US" sz="1800" dirty="0" smtClean="0"/>
              <a:t>, </a:t>
            </a:r>
            <a:r>
              <a:rPr lang="en-US" sz="1800" dirty="0" err="1" smtClean="0"/>
              <a:t>MovieYear</a:t>
            </a:r>
            <a:r>
              <a:rPr lang="en-US" sz="1800" dirty="0" smtClean="0"/>
              <a:t>, </a:t>
            </a:r>
            <a:r>
              <a:rPr lang="en-US" sz="1800" dirty="0" err="1" smtClean="0"/>
              <a:t>StarName</a:t>
            </a:r>
            <a:r>
              <a:rPr lang="en-US" sz="1800" dirty="0" smtClean="0"/>
              <a:t>)</a:t>
            </a:r>
          </a:p>
          <a:p>
            <a:pPr algn="l" rtl="0">
              <a:buFontTx/>
              <a:buNone/>
              <a:defRPr/>
            </a:pPr>
            <a:endParaRPr lang="en-US" sz="1800" dirty="0" smtClean="0"/>
          </a:p>
          <a:p>
            <a:pPr algn="l" rtl="0">
              <a:buFontTx/>
              <a:buNone/>
              <a:defRPr/>
            </a:pPr>
            <a:r>
              <a:rPr lang="en-US" sz="1800" dirty="0" smtClean="0"/>
              <a:t>	SELECT title, year </a:t>
            </a:r>
          </a:p>
          <a:p>
            <a:pPr algn="l" rtl="0">
              <a:buFontTx/>
              <a:buNone/>
              <a:defRPr/>
            </a:pPr>
            <a:r>
              <a:rPr lang="en-US" sz="1800" dirty="0" smtClean="0"/>
              <a:t>	FROM Movie</a:t>
            </a:r>
          </a:p>
          <a:p>
            <a:pPr algn="l" rtl="0">
              <a:buFontTx/>
              <a:buNone/>
              <a:defRPr/>
            </a:pPr>
            <a:r>
              <a:rPr lang="en-US" sz="1800" dirty="0" smtClean="0"/>
              <a:t>		UNION ALL</a:t>
            </a:r>
          </a:p>
          <a:p>
            <a:pPr algn="l" rtl="0">
              <a:buFontTx/>
              <a:buNone/>
              <a:defRPr/>
            </a:pPr>
            <a:r>
              <a:rPr lang="en-US" sz="1800" dirty="0" smtClean="0"/>
              <a:t>	SELECT </a:t>
            </a:r>
            <a:r>
              <a:rPr lang="en-US" sz="1800" dirty="0" err="1" smtClean="0"/>
              <a:t>MovieTitle</a:t>
            </a:r>
            <a:r>
              <a:rPr lang="en-US" sz="1800" dirty="0" smtClean="0"/>
              <a:t> AS title, </a:t>
            </a:r>
            <a:r>
              <a:rPr lang="en-US" sz="1800" dirty="0" err="1" smtClean="0"/>
              <a:t>MovieYear</a:t>
            </a:r>
            <a:r>
              <a:rPr lang="en-US" sz="1800" dirty="0" smtClean="0"/>
              <a:t> AS year </a:t>
            </a:r>
          </a:p>
          <a:p>
            <a:pPr algn="l" rtl="0">
              <a:buFontTx/>
              <a:buNone/>
              <a:defRPr/>
            </a:pPr>
            <a:r>
              <a:rPr lang="en-US" sz="1800" dirty="0" smtClean="0"/>
              <a:t>	FROM </a:t>
            </a:r>
            <a:r>
              <a:rPr lang="en-US" sz="1800" dirty="0" err="1" smtClean="0"/>
              <a:t>StarsIn</a:t>
            </a:r>
            <a:r>
              <a:rPr lang="en-US" sz="1800" dirty="0" smtClean="0"/>
              <a:t>;</a:t>
            </a:r>
          </a:p>
          <a:p>
            <a:pPr>
              <a:defRPr/>
            </a:pPr>
            <a:endParaRPr lang="en-US" sz="800" dirty="0" smtClean="0"/>
          </a:p>
        </p:txBody>
      </p:sp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E410F52-BAD1-4F01-84E4-996DB30121F6}" type="slidenum">
              <a:rPr lang="he-IL"/>
              <a:pPr/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b="1" dirty="0" smtClean="0"/>
              <a:t>חיתוך בין טבלאות</a:t>
            </a:r>
            <a:r>
              <a:rPr lang="en-US" b="1" dirty="0" smtClean="0"/>
              <a:t> </a:t>
            </a:r>
            <a:r>
              <a:rPr lang="he-IL" b="1" dirty="0" smtClean="0"/>
              <a:t>-</a:t>
            </a:r>
            <a:r>
              <a:rPr lang="en-US" b="1" dirty="0" smtClean="0"/>
              <a:t> </a:t>
            </a:r>
            <a:r>
              <a:rPr lang="en-US" sz="3600" b="1" dirty="0" smtClean="0"/>
              <a:t>Intersect</a:t>
            </a:r>
            <a:endParaRPr lang="en-US" b="1" dirty="0" smtClean="0"/>
          </a:p>
        </p:txBody>
      </p:sp>
      <p:sp>
        <p:nvSpPr>
          <p:cNvPr id="20484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A  INTERSECT  B:</a:t>
            </a:r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pPr algn="r" rtl="1"/>
            <a:r>
              <a:rPr lang="he-IL" sz="1800" dirty="0" smtClean="0"/>
              <a:t>שאילתה מתאימה:</a:t>
            </a: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SELECT Sid, </a:t>
            </a:r>
            <a:r>
              <a:rPr lang="en-US" sz="1800" dirty="0" err="1" smtClean="0"/>
              <a:t>SName</a:t>
            </a:r>
            <a:r>
              <a:rPr lang="en-US" sz="1800" dirty="0" smtClean="0"/>
              <a:t>, City</a:t>
            </a:r>
          </a:p>
          <a:p>
            <a:pPr algn="l" rtl="0">
              <a:buFontTx/>
              <a:buNone/>
            </a:pPr>
            <a:r>
              <a:rPr lang="en-US" sz="1800" dirty="0" smtClean="0"/>
              <a:t>FROM A</a:t>
            </a:r>
          </a:p>
          <a:p>
            <a:pPr algn="l" rtl="0">
              <a:buFontTx/>
              <a:buNone/>
            </a:pPr>
            <a:r>
              <a:rPr lang="en-US" sz="1800" dirty="0" smtClean="0"/>
              <a:t>	INTERSECT</a:t>
            </a:r>
          </a:p>
          <a:p>
            <a:pPr algn="l" rtl="0">
              <a:buFontTx/>
              <a:buNone/>
            </a:pPr>
            <a:r>
              <a:rPr lang="en-US" sz="1800" dirty="0" smtClean="0"/>
              <a:t>SELECT Sid, </a:t>
            </a:r>
            <a:r>
              <a:rPr lang="en-US" sz="1800" dirty="0" err="1" smtClean="0"/>
              <a:t>SName</a:t>
            </a:r>
            <a:r>
              <a:rPr lang="en-US" sz="1800" dirty="0" smtClean="0"/>
              <a:t>, City</a:t>
            </a:r>
          </a:p>
          <a:p>
            <a:pPr algn="l" rtl="0">
              <a:buFontTx/>
              <a:buNone/>
            </a:pPr>
            <a:r>
              <a:rPr lang="en-US" sz="1800" dirty="0" smtClean="0"/>
              <a:t>FROM B;</a:t>
            </a:r>
          </a:p>
          <a:p>
            <a:endParaRPr lang="en-US" sz="800" dirty="0" smtClean="0"/>
          </a:p>
        </p:txBody>
      </p:sp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E5683A1-2387-4D41-B0CE-6899822463EE}" type="slidenum">
              <a:rPr lang="he-IL"/>
              <a:pPr/>
              <a:t>19</a:t>
            </a:fld>
            <a:endParaRPr lang="en-US"/>
          </a:p>
        </p:txBody>
      </p:sp>
      <p:graphicFrame>
        <p:nvGraphicFramePr>
          <p:cNvPr id="6" name="טבלה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722674"/>
              </p:ext>
            </p:extLst>
          </p:nvPr>
        </p:nvGraphicFramePr>
        <p:xfrm>
          <a:off x="2514600" y="2514600"/>
          <a:ext cx="4572000" cy="741680"/>
        </p:xfrm>
        <a:graphic>
          <a:graphicData uri="http://schemas.openxmlformats.org/drawingml/2006/table">
            <a:tbl>
              <a:tblPr rtl="1" firstRow="1" bandRow="1">
                <a:tableStyleId>{073A0DAA-6AF3-43AB-8588-CEC1D06C72B9}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CITY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SNAME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Sid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London</a:t>
                      </a:r>
                      <a:endParaRPr lang="he-IL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Smith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S1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b="1" dirty="0"/>
              <a:t> </a:t>
            </a:r>
            <a:r>
              <a:rPr lang="he-IL" b="1" dirty="0" smtClean="0"/>
              <a:t>- חיסור בין טבלאות</a:t>
            </a:r>
            <a:r>
              <a:rPr lang="en-US" sz="3600" b="1" dirty="0" smtClean="0"/>
              <a:t>Minus </a:t>
            </a:r>
            <a:endParaRPr lang="en-US" b="1" dirty="0" smtClean="0"/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A  MINUS  B:</a:t>
            </a:r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pPr algn="r" rtl="1"/>
            <a:r>
              <a:rPr lang="he-IL" sz="1800" dirty="0" smtClean="0"/>
              <a:t>שאילתה מתאימה:</a:t>
            </a: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SELECT Sid, </a:t>
            </a:r>
            <a:r>
              <a:rPr lang="en-US" sz="1800" dirty="0" err="1" smtClean="0"/>
              <a:t>SName,City</a:t>
            </a: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FROM A</a:t>
            </a:r>
          </a:p>
          <a:p>
            <a:pPr algn="l" rtl="0">
              <a:buFontTx/>
              <a:buNone/>
            </a:pPr>
            <a:r>
              <a:rPr lang="en-US" sz="1800" dirty="0" smtClean="0"/>
              <a:t>	MINUS</a:t>
            </a:r>
          </a:p>
          <a:p>
            <a:pPr algn="l" rtl="0">
              <a:buFontTx/>
              <a:buNone/>
            </a:pPr>
            <a:r>
              <a:rPr lang="en-US" sz="1800" dirty="0" smtClean="0"/>
              <a:t>SELECT Sid, </a:t>
            </a:r>
            <a:r>
              <a:rPr lang="en-US" sz="1800" dirty="0" err="1" smtClean="0"/>
              <a:t>SName,City</a:t>
            </a: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FROM B;</a:t>
            </a:r>
          </a:p>
          <a:p>
            <a:endParaRPr lang="en-US" sz="800" dirty="0" smtClean="0"/>
          </a:p>
        </p:txBody>
      </p:sp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4BD39A2-ABC4-4090-827F-98941DC0BCA8}" type="slidenum">
              <a:rPr lang="he-IL"/>
              <a:pPr/>
              <a:t>20</a:t>
            </a:fld>
            <a:endParaRPr lang="en-US"/>
          </a:p>
        </p:txBody>
      </p:sp>
      <p:graphicFrame>
        <p:nvGraphicFramePr>
          <p:cNvPr id="6" name="טבלה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185253"/>
              </p:ext>
            </p:extLst>
          </p:nvPr>
        </p:nvGraphicFramePr>
        <p:xfrm>
          <a:off x="2286000" y="2514600"/>
          <a:ext cx="4572000" cy="741680"/>
        </p:xfrm>
        <a:graphic>
          <a:graphicData uri="http://schemas.openxmlformats.org/drawingml/2006/table">
            <a:tbl>
              <a:tblPr rtl="1" firstRow="1" bandRow="1">
                <a:tableStyleId>{073A0DAA-6AF3-43AB-8588-CEC1D06C72B9}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City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err="1" smtClean="0"/>
                        <a:t>SName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Sid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London</a:t>
                      </a:r>
                      <a:endParaRPr lang="he-IL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Clark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S4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b="1" dirty="0"/>
              <a:t> - חיסור בין טבלאות</a:t>
            </a:r>
            <a:r>
              <a:rPr lang="en-US" sz="3600" b="1" dirty="0"/>
              <a:t>Minus </a:t>
            </a:r>
            <a:endParaRPr lang="en-US" b="1" dirty="0" smtClean="0"/>
          </a:p>
        </p:txBody>
      </p:sp>
      <p:sp>
        <p:nvSpPr>
          <p:cNvPr id="22532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B MINUS  A:</a:t>
            </a:r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pPr algn="l" rtl="0">
              <a:buFontTx/>
              <a:buNone/>
            </a:pPr>
            <a:endParaRPr lang="en-US" sz="1800" dirty="0" smtClean="0"/>
          </a:p>
          <a:p>
            <a:pPr algn="r" rtl="1"/>
            <a:r>
              <a:rPr lang="he-IL" sz="1800" dirty="0" smtClean="0"/>
              <a:t>שאילתה מתאימה:</a:t>
            </a: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SELECT Sid, </a:t>
            </a:r>
            <a:r>
              <a:rPr lang="en-US" sz="1800" dirty="0" err="1" smtClean="0"/>
              <a:t>SName,City</a:t>
            </a: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FROM B</a:t>
            </a:r>
          </a:p>
          <a:p>
            <a:pPr algn="l" rtl="0">
              <a:buFontTx/>
              <a:buNone/>
            </a:pPr>
            <a:r>
              <a:rPr lang="en-US" sz="1800" dirty="0" smtClean="0"/>
              <a:t>	MINUS</a:t>
            </a:r>
          </a:p>
          <a:p>
            <a:pPr algn="l" rtl="0">
              <a:buFontTx/>
              <a:buNone/>
            </a:pPr>
            <a:r>
              <a:rPr lang="en-US" sz="1800" dirty="0" smtClean="0"/>
              <a:t>SELECT Sid, </a:t>
            </a:r>
            <a:r>
              <a:rPr lang="en-US" sz="1800" dirty="0" err="1" smtClean="0"/>
              <a:t>SName,City</a:t>
            </a:r>
            <a:endParaRPr lang="en-US" sz="1800" dirty="0" smtClean="0"/>
          </a:p>
          <a:p>
            <a:pPr algn="l" rtl="0">
              <a:buFontTx/>
              <a:buNone/>
            </a:pPr>
            <a:r>
              <a:rPr lang="en-US" sz="1800" dirty="0" smtClean="0"/>
              <a:t>FROM A;</a:t>
            </a:r>
          </a:p>
          <a:p>
            <a:endParaRPr lang="en-US" sz="800" dirty="0" smtClean="0"/>
          </a:p>
        </p:txBody>
      </p:sp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4AF0156-0A54-43FC-8365-9AECC3305F66}" type="slidenum">
              <a:rPr lang="he-IL"/>
              <a:pPr/>
              <a:t>21</a:t>
            </a:fld>
            <a:endParaRPr lang="en-US"/>
          </a:p>
        </p:txBody>
      </p:sp>
      <p:graphicFrame>
        <p:nvGraphicFramePr>
          <p:cNvPr id="6" name="טבלה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3312739"/>
              </p:ext>
            </p:extLst>
          </p:nvPr>
        </p:nvGraphicFramePr>
        <p:xfrm>
          <a:off x="2438400" y="2514600"/>
          <a:ext cx="4572000" cy="741680"/>
        </p:xfrm>
        <a:graphic>
          <a:graphicData uri="http://schemas.openxmlformats.org/drawingml/2006/table">
            <a:tbl>
              <a:tblPr rtl="1" firstRow="1" bandRow="1">
                <a:tableStyleId>{073A0DAA-6AF3-43AB-8588-CEC1D06C72B9}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smtClean="0"/>
                        <a:t>City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dirty="0" err="1" smtClean="0"/>
                        <a:t>SName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Sid</a:t>
                      </a:r>
                      <a:endParaRPr lang="en-US" sz="1800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0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Paris 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Jones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 rtl="1">
                        <a:spcAft>
                          <a:spcPts val="0"/>
                        </a:spcAft>
                      </a:pPr>
                      <a:r>
                        <a:rPr lang="en-US" sz="1800" kern="1200" dirty="0" smtClean="0"/>
                        <a:t>S2</a:t>
                      </a:r>
                      <a:endParaRPr lang="en-US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8064</TotalTime>
  <Words>867</Words>
  <Application>Microsoft Office PowerPoint</Application>
  <PresentationFormat>On-screen Show (4:3)</PresentationFormat>
  <Paragraphs>359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Times New Roman</vt:lpstr>
      <vt:lpstr>Times New Roman (Hebrew)</vt:lpstr>
      <vt:lpstr>Wingdings 2</vt:lpstr>
      <vt:lpstr>Foundry</vt:lpstr>
      <vt:lpstr>בסיסי נתונים - מעבדה</vt:lpstr>
      <vt:lpstr>SQL - צירוף טבלאות</vt:lpstr>
      <vt:lpstr>צירוף טבלאות</vt:lpstr>
      <vt:lpstr>צירוף טבלאות - Cartesian product </vt:lpstr>
      <vt:lpstr>צירוף טבלאות - Cartesian product </vt:lpstr>
      <vt:lpstr>צירוף טבלאות - Cartesian product </vt:lpstr>
      <vt:lpstr>צירוף טבלאות  -Cartesian product </vt:lpstr>
      <vt:lpstr>צירוף טבלאות על בסיס שוויון - Equal join</vt:lpstr>
      <vt:lpstr>צירוף טבלאות על בסיס שוויון - Equal join</vt:lpstr>
      <vt:lpstr>צירוף טבלאות על בסיס שוויון - Equal join</vt:lpstr>
      <vt:lpstr>צירוף חיצוני  -Outer join</vt:lpstr>
      <vt:lpstr> - Self join צירוף טבלאות</vt:lpstr>
      <vt:lpstr>צירוף טבלאות על בסיס אי שוויון</vt:lpstr>
      <vt:lpstr>צירוף טבלאות על בסיס אי שוויון</vt:lpstr>
      <vt:lpstr> Union- איחוד בין טבלאות ללא כפילויות</vt:lpstr>
      <vt:lpstr> Union- איחוד בין טבלאות ללא כפילויות</vt:lpstr>
      <vt:lpstr> Union- איחוד בין טבלאות ללא כפילויות</vt:lpstr>
      <vt:lpstr>Union all  - איחוד בין טבלאות עם כפילויות</vt:lpstr>
      <vt:lpstr>חיתוך בין טבלאות - Intersect</vt:lpstr>
      <vt:lpstr> - חיסור בין טבלאותMinus </vt:lpstr>
      <vt:lpstr> - חיסור בין טבלאותMinus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אולז'ן</dc:creator>
  <cp:lastModifiedBy>Windows User</cp:lastModifiedBy>
  <cp:revision>565</cp:revision>
  <dcterms:created xsi:type="dcterms:W3CDTF">2004-02-02T22:13:25Z</dcterms:created>
  <dcterms:modified xsi:type="dcterms:W3CDTF">2017-10-30T09:48:04Z</dcterms:modified>
</cp:coreProperties>
</file>