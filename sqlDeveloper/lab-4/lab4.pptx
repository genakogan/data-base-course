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624" r:id="rId2"/>
    <p:sldId id="567" r:id="rId3"/>
    <p:sldId id="569" r:id="rId4"/>
    <p:sldId id="579" r:id="rId5"/>
    <p:sldId id="616" r:id="rId6"/>
    <p:sldId id="617" r:id="rId7"/>
    <p:sldId id="622" r:id="rId8"/>
    <p:sldId id="618" r:id="rId9"/>
    <p:sldId id="623" r:id="rId10"/>
    <p:sldId id="619" r:id="rId11"/>
    <p:sldId id="625" r:id="rId12"/>
    <p:sldId id="626" r:id="rId13"/>
    <p:sldId id="621" r:id="rId14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5pPr>
    <a:lvl6pPr marL="22860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6pPr>
    <a:lvl7pPr marL="27432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7pPr>
    <a:lvl8pPr marL="32004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8pPr>
    <a:lvl9pPr marL="36576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00"/>
    <a:srgbClr val="0000CC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סגנון ביניים 1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961" autoAdjust="0"/>
    <p:restoredTop sz="90929"/>
  </p:normalViewPr>
  <p:slideViewPr>
    <p:cSldViewPr>
      <p:cViewPr varScale="1">
        <p:scale>
          <a:sx n="105" d="100"/>
          <a:sy n="105" d="100"/>
        </p:scale>
        <p:origin x="141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EBC9926A-0118-4FF9-A7E0-2B3A7C5399F9}" type="datetimeFigureOut">
              <a:rPr lang="he-IL"/>
              <a:pPr/>
              <a:t>כ"ג/תשרי/תש"פ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21B63710-8B42-4877-BEC2-7113E8CB7AD0}" type="slidenum">
              <a:rPr lang="he-IL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00897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 smtClean="0"/>
              <a:t>לחץ כדי לערוך סגנונות טקסט של תבנית בסיס</a:t>
            </a:r>
          </a:p>
          <a:p>
            <a:pPr lvl="1"/>
            <a:r>
              <a:rPr lang="he-IL" noProof="0" smtClean="0"/>
              <a:t>רמה שנייה</a:t>
            </a:r>
          </a:p>
          <a:p>
            <a:pPr lvl="2"/>
            <a:r>
              <a:rPr lang="he-IL" noProof="0" smtClean="0"/>
              <a:t>רמה שלישית</a:t>
            </a:r>
          </a:p>
          <a:p>
            <a:pPr lvl="3"/>
            <a:r>
              <a:rPr lang="he-IL" noProof="0" smtClean="0"/>
              <a:t>רמה רביעית</a:t>
            </a:r>
          </a:p>
          <a:p>
            <a:pPr lvl="4"/>
            <a:r>
              <a:rPr lang="he-IL" noProof="0" smtClean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CE8FF8DB-D01B-431E-9F7C-E3E7EFCD9C09}" type="slidenum">
              <a:rPr lang="he-IL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756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261F8E0-5EB3-46FF-B913-6D3064461D08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E2EC15B4-7515-48B7-B095-CD98316E8C18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43A6-CE48-493B-BDC6-789C6D67AD76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A666-863D-4964-A5D9-294B0255CF48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A6C05D8E-6344-49A9-86AD-5FDCF8AB86C1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D0C4A26-9819-42CD-AF56-DA4F76FFE7BC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80114-2B5A-4720-BBB5-CC3634939AF7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BA68EFB5-F594-45D4-A410-E36857020CF5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1640E-CFF3-499D-8317-2B8C263135D3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71F0607D-C2AB-462E-8EE2-2274689BECAA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557F2-EDA9-4713-AC95-1495BF246953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D6EE-0E28-483A-BDD5-027246AFE81E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CFB1-3C86-46FE-B633-47EF0E737F1A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5BF0C-E9F5-427A-A02D-AC1D197D96C3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FD704D2-AA1A-4DED-ACCE-DC9134C7AFDE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C589259-802D-4A43-B785-DB80A17CA3AD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EC74A536-B333-4C7A-B7BE-FBB4BA0FAF78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173074B-708B-4B79-B0D2-5A3F421097CB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DDA69-D0A9-46C7-9A6F-B009C5D3C75A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2533-7ACD-408C-BB07-AC5D39A40208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18DC-6049-45E3-B71D-43A933FCA741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A4CB7-BE41-41FE-A495-E2B6938D9768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3F4DA667-23CA-436B-9E6E-E4E759678D61}" type="datetime8">
              <a:rPr lang="he-IL" smtClean="0"/>
              <a:pPr/>
              <a:t>22 אוקטובר 19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ACA56B85-C5EA-4E23-B85C-B912B447E64A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 smtClean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 smtClean="0"/>
                <a:t> </a:t>
              </a:r>
              <a:r>
                <a:rPr lang="he-IL" sz="8800" dirty="0" smtClean="0"/>
                <a:t> </a:t>
              </a:r>
              <a:endParaRPr lang="he-IL" dirty="0"/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715000" y="53340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 smtClean="0"/>
              <a:t>גיא שילון</a:t>
            </a:r>
            <a:endParaRPr lang="en-US" dirty="0" smtClean="0"/>
          </a:p>
          <a:p>
            <a:endParaRPr lang="he-IL" dirty="0" smtClean="0"/>
          </a:p>
          <a:p>
            <a:r>
              <a:rPr lang="en-US" dirty="0" smtClean="0"/>
              <a:t>guysh@ac.sce.ac.il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562600"/>
          </a:xfrm>
        </p:spPr>
        <p:txBody>
          <a:bodyPr/>
          <a:lstStyle/>
          <a:p>
            <a:pPr rtl="1"/>
            <a:r>
              <a:rPr lang="en-US" b="1" dirty="0" smtClean="0"/>
              <a:t>SQL</a:t>
            </a:r>
            <a:br>
              <a:rPr lang="en-US" b="1" dirty="0" smtClean="0"/>
            </a:br>
            <a:r>
              <a:rPr lang="en-US" b="1" dirty="0" smtClean="0"/>
              <a:t>-</a:t>
            </a:r>
            <a:r>
              <a:rPr lang="he-IL" b="1" dirty="0" smtClean="0"/>
              <a:t/>
            </a:r>
            <a:br>
              <a:rPr lang="he-IL" b="1" dirty="0" smtClean="0"/>
            </a:br>
            <a:r>
              <a:rPr lang="he-IL" b="1" i="1" u="sng" dirty="0" smtClean="0"/>
              <a:t>תת-שאילתה(</a:t>
            </a:r>
            <a:r>
              <a:rPr lang="en-US" b="1" i="1" u="sng" dirty="0" smtClean="0"/>
              <a:t>SUBQUERY</a:t>
            </a:r>
            <a:r>
              <a:rPr lang="he-IL" b="1" i="1" u="sng" dirty="0" smtClean="0"/>
              <a:t>)</a:t>
            </a:r>
            <a:endParaRPr lang="en-US" b="1" dirty="0" smtClean="0"/>
          </a:p>
        </p:txBody>
      </p:sp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EB2F52-843B-4391-B9F9-54C1ADA4158E}" type="slidenum">
              <a:rPr lang="he-IL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i="1" u="sng" dirty="0" smtClean="0"/>
              <a:t>תת-שאילתה(</a:t>
            </a:r>
            <a:r>
              <a:rPr lang="en-US" b="1" i="1" u="sng" dirty="0" smtClean="0"/>
              <a:t>SUBQUERY</a:t>
            </a:r>
            <a:r>
              <a:rPr lang="he-IL" b="1" i="1" u="sng" dirty="0" smtClean="0"/>
              <a:t>)</a:t>
            </a:r>
            <a:endParaRPr lang="en-US" dirty="0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/>
            <a:endParaRPr lang="he-IL" sz="2000" dirty="0" smtClean="0"/>
          </a:p>
          <a:p>
            <a:pPr algn="r" rtl="1"/>
            <a:r>
              <a:rPr lang="he-IL" sz="2000" dirty="0" smtClean="0"/>
              <a:t>ניתן לקנן שאילתות, כלומר להפעיל שאילתה בתוך שאילתה. </a:t>
            </a:r>
          </a:p>
          <a:p>
            <a:pPr algn="r" rtl="1"/>
            <a:r>
              <a:rPr lang="he-IL" sz="2000" dirty="0" smtClean="0"/>
              <a:t>השאילתה ברמה הגבוהה ביותר תיקרא שאילתה ראשית או חיצונית וכל השאר הן תת-שאילתות</a:t>
            </a:r>
            <a:r>
              <a:rPr lang="en-US" sz="2000" dirty="0"/>
              <a:t>.</a:t>
            </a:r>
            <a:endParaRPr lang="en-US" sz="2000" dirty="0" smtClean="0"/>
          </a:p>
          <a:p>
            <a:pPr algn="r" rtl="1"/>
            <a:r>
              <a:rPr lang="he-IL" sz="2000" dirty="0" smtClean="0"/>
              <a:t>התוצאה של תת-שאילתה מוחזרת לרמה שמעליה. </a:t>
            </a:r>
          </a:p>
          <a:p>
            <a:pPr algn="r" rtl="1"/>
            <a:endParaRPr lang="he-IL" sz="2000" dirty="0" smtClean="0"/>
          </a:p>
          <a:p>
            <a:pPr algn="r" rtl="1"/>
            <a:endParaRPr lang="he-IL" sz="2000" dirty="0" smtClean="0"/>
          </a:p>
          <a:p>
            <a:pPr algn="r" rtl="1">
              <a:buFontTx/>
              <a:buNone/>
            </a:pPr>
            <a:r>
              <a:rPr lang="he-IL" sz="2000" dirty="0" smtClean="0">
                <a:solidFill>
                  <a:srgbClr val="FFC000"/>
                </a:solidFill>
              </a:rPr>
              <a:t>* בתתי השאילתות לא ניתן לבצע מיון</a:t>
            </a:r>
            <a:r>
              <a:rPr lang="he-IL" dirty="0" smtClean="0">
                <a:solidFill>
                  <a:srgbClr val="FFC000"/>
                </a:solidFill>
              </a:rPr>
              <a:t>.</a:t>
            </a:r>
            <a:endParaRPr lang="en-US" dirty="0" smtClean="0">
              <a:solidFill>
                <a:srgbClr val="FFC000"/>
              </a:solidFill>
            </a:endParaRPr>
          </a:p>
          <a:p>
            <a:pPr algn="r" rtl="1">
              <a:buFont typeface="Times New Roman" pitchFamily="18" charset="0"/>
              <a:buAutoNum type="arabicPeriod"/>
            </a:pPr>
            <a:endParaRPr lang="he-IL" sz="1800" dirty="0" smtClean="0"/>
          </a:p>
          <a:p>
            <a:pPr algn="r" rtl="1">
              <a:buFontTx/>
              <a:buNone/>
            </a:pPr>
            <a:endParaRPr lang="he-IL" b="1" dirty="0" smtClean="0"/>
          </a:p>
        </p:txBody>
      </p:sp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0DD9A4C-CECC-4253-BBBE-44DEFBC9E975}" type="slidenum">
              <a:rPr lang="he-IL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dirty="0" smtClean="0"/>
              <a:t>תת שאילתה </a:t>
            </a:r>
            <a:r>
              <a:rPr lang="he-IL" sz="3600" b="1" dirty="0"/>
              <a:t>- </a:t>
            </a:r>
            <a:r>
              <a:rPr lang="en-US" sz="3600" b="1" dirty="0"/>
              <a:t>SUBQUERY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he-IL" sz="2000" dirty="0" smtClean="0"/>
              <a:t>למשל, </a:t>
            </a:r>
            <a:endParaRPr lang="en-US" sz="2000" dirty="0" smtClean="0"/>
          </a:p>
          <a:p>
            <a:pPr algn="r" rtl="1">
              <a:buFontTx/>
              <a:buNone/>
            </a:pPr>
            <a:r>
              <a:rPr lang="he-IL" sz="2000" dirty="0" smtClean="0"/>
              <a:t>	כדי לקבל את כל העובדים אשר עובדים במחלקה ששמה  </a:t>
            </a:r>
            <a:r>
              <a:rPr lang="en-US" sz="2000" dirty="0" smtClean="0"/>
              <a:t>ACCOUNTING</a:t>
            </a:r>
          </a:p>
          <a:p>
            <a:pPr algn="r" rtl="1">
              <a:buFontTx/>
              <a:buNone/>
            </a:pPr>
            <a:r>
              <a:rPr lang="he-IL" sz="2000" dirty="0" smtClean="0"/>
              <a:t>	נבצע:</a:t>
            </a:r>
            <a:endParaRPr lang="en-US" sz="2000" dirty="0" smtClean="0"/>
          </a:p>
          <a:p>
            <a:pPr>
              <a:buFontTx/>
              <a:buNone/>
            </a:pPr>
            <a:endParaRPr lang="he-IL" sz="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</a:t>
            </a:r>
            <a:r>
              <a:rPr lang="en-US" sz="1800" dirty="0" err="1" smtClean="0"/>
              <a:t>deptno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dept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WHERE </a:t>
            </a:r>
            <a:r>
              <a:rPr lang="en-US" sz="1800" dirty="0" err="1" smtClean="0"/>
              <a:t>dname</a:t>
            </a:r>
            <a:r>
              <a:rPr lang="en-US" sz="1800" dirty="0" smtClean="0"/>
              <a:t>=' ACCOUNTING';</a:t>
            </a:r>
          </a:p>
          <a:p>
            <a:pPr algn="l" rtl="0">
              <a:buFontTx/>
              <a:buNone/>
            </a:pPr>
            <a:r>
              <a:rPr lang="en-US" sz="800" dirty="0" smtClean="0"/>
              <a:t> </a:t>
            </a:r>
          </a:p>
          <a:p>
            <a:pPr algn="l" rtl="0">
              <a:buFontTx/>
              <a:buNone/>
            </a:pPr>
            <a:r>
              <a:rPr lang="en-US" sz="1800" dirty="0" smtClean="0"/>
              <a:t>Output: </a:t>
            </a:r>
          </a:p>
          <a:p>
            <a:pPr algn="l" rtl="0">
              <a:buFontTx/>
              <a:buNone/>
            </a:pPr>
            <a:r>
              <a:rPr lang="en-US" sz="1800" dirty="0" smtClean="0"/>
              <a:t>10</a:t>
            </a:r>
          </a:p>
          <a:p>
            <a:pPr algn="l" rtl="0">
              <a:buFontTx/>
              <a:buNone/>
            </a:pPr>
            <a:r>
              <a:rPr lang="en-US" sz="800" dirty="0" smtClean="0"/>
              <a:t> </a:t>
            </a:r>
          </a:p>
          <a:p>
            <a:pPr algn="l" rtl="0">
              <a:buFontTx/>
              <a:buNone/>
            </a:pPr>
            <a:r>
              <a:rPr lang="en-US" sz="1800" dirty="0" smtClean="0"/>
              <a:t>SELECT </a:t>
            </a:r>
            <a:r>
              <a:rPr lang="en-US" sz="1800" dirty="0" err="1" smtClean="0"/>
              <a:t>ename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emp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WHERE </a:t>
            </a:r>
            <a:r>
              <a:rPr lang="en-US" sz="1800" dirty="0" err="1" smtClean="0"/>
              <a:t>deptno</a:t>
            </a:r>
            <a:r>
              <a:rPr lang="en-US" sz="1800" dirty="0" smtClean="0"/>
              <a:t>=10; 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D51964-49A9-4B69-92E5-C678E02AAF05}" type="slidenum">
              <a:rPr lang="he-IL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dirty="0" smtClean="0"/>
              <a:t>תת שאילתה </a:t>
            </a:r>
            <a:r>
              <a:rPr lang="he-IL" sz="3600" b="1" dirty="0"/>
              <a:t>- </a:t>
            </a:r>
            <a:r>
              <a:rPr lang="en-US" sz="3600" b="1" dirty="0"/>
              <a:t>SUBQUERY</a:t>
            </a:r>
            <a:endParaRPr lang="en-US" b="1" dirty="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</a:pPr>
            <a:r>
              <a:rPr lang="he-IL" sz="2000" dirty="0" smtClean="0"/>
              <a:t>או</a:t>
            </a:r>
            <a:endParaRPr lang="en-US" sz="2000" dirty="0" smtClean="0"/>
          </a:p>
          <a:p>
            <a:pPr>
              <a:buFontTx/>
              <a:buNone/>
            </a:pPr>
            <a:endParaRPr lang="he-IL" sz="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</a:t>
            </a:r>
            <a:r>
              <a:rPr lang="en-US" sz="1800" dirty="0" err="1" smtClean="0"/>
              <a:t>ename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dept</a:t>
            </a:r>
            <a:r>
              <a:rPr lang="en-US" sz="1800" dirty="0" smtClean="0"/>
              <a:t>, </a:t>
            </a:r>
            <a:r>
              <a:rPr lang="en-US" sz="1800" dirty="0" err="1" smtClean="0"/>
              <a:t>emp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WHERE </a:t>
            </a:r>
            <a:r>
              <a:rPr lang="en-US" sz="1800" dirty="0" err="1" smtClean="0"/>
              <a:t>emp.depno</a:t>
            </a:r>
            <a:r>
              <a:rPr lang="en-US" sz="1800" dirty="0" smtClean="0"/>
              <a:t>=</a:t>
            </a:r>
            <a:r>
              <a:rPr lang="en-US" sz="1800" dirty="0" err="1" smtClean="0"/>
              <a:t>dept.deptno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AND </a:t>
            </a:r>
            <a:r>
              <a:rPr lang="en-US" sz="1800" dirty="0" err="1" smtClean="0"/>
              <a:t>dname</a:t>
            </a:r>
            <a:r>
              <a:rPr lang="en-US" sz="1800" dirty="0" smtClean="0"/>
              <a:t>=' ACCOUNTING';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D0A267-0D86-4DB2-97F5-2F171DC6E5BC}" type="slidenum">
              <a:rPr lang="he-IL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dirty="0"/>
              <a:t>תת שאילתה </a:t>
            </a:r>
            <a:r>
              <a:rPr lang="he-IL" sz="3600" b="1" dirty="0"/>
              <a:t>- </a:t>
            </a:r>
            <a:r>
              <a:rPr lang="en-US" sz="3600" b="1" dirty="0"/>
              <a:t>SUBQUERY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he-IL" sz="2000" dirty="0" smtClean="0"/>
              <a:t> באמצעות תת-שא</a:t>
            </a:r>
            <a:r>
              <a:rPr lang="he-IL" sz="2000" dirty="0"/>
              <a:t>י</a:t>
            </a:r>
            <a:r>
              <a:rPr lang="he-IL" sz="2000" dirty="0" smtClean="0"/>
              <a:t>לתה, נוכל לבצע זאת בצורה הבאה:</a:t>
            </a:r>
          </a:p>
          <a:p>
            <a:pPr algn="r" rtl="1"/>
            <a:r>
              <a:rPr lang="he-IL" sz="2000" dirty="0" smtClean="0"/>
              <a:t>אם תת-שאילתה מחזירה ערך </a:t>
            </a:r>
            <a:r>
              <a:rPr lang="he-IL" sz="2000" u="sng" dirty="0" smtClean="0"/>
              <a:t>אחד</a:t>
            </a:r>
            <a:r>
              <a:rPr lang="he-IL" sz="2000" dirty="0" smtClean="0"/>
              <a:t> ניתן להשתמש בסימן =.</a:t>
            </a:r>
            <a:endParaRPr lang="he-IL" sz="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</a:t>
            </a:r>
            <a:r>
              <a:rPr lang="en-US" sz="1800" dirty="0" err="1" smtClean="0"/>
              <a:t>ename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emp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WHERE </a:t>
            </a:r>
            <a:r>
              <a:rPr lang="en-US" sz="1800" dirty="0" err="1" smtClean="0"/>
              <a:t>deptno</a:t>
            </a:r>
            <a:r>
              <a:rPr lang="en-US" sz="1800" dirty="0" smtClean="0"/>
              <a:t>=</a:t>
            </a:r>
          </a:p>
          <a:p>
            <a:pPr algn="l" rtl="0">
              <a:buFontTx/>
              <a:buNone/>
            </a:pPr>
            <a:r>
              <a:rPr lang="en-US" sz="1800" dirty="0" smtClean="0"/>
              <a:t>            (SELECT </a:t>
            </a:r>
            <a:r>
              <a:rPr lang="en-US" sz="1800" dirty="0" err="1" smtClean="0"/>
              <a:t>deptno</a:t>
            </a:r>
            <a:r>
              <a:rPr lang="en-US" sz="1800" dirty="0" smtClean="0"/>
              <a:t>   	</a:t>
            </a:r>
          </a:p>
          <a:p>
            <a:pPr algn="l" rtl="0">
              <a:buFontTx/>
              <a:buNone/>
            </a:pPr>
            <a:r>
              <a:rPr lang="en-US" sz="1800" dirty="0" smtClean="0"/>
              <a:t>                 FROM </a:t>
            </a:r>
            <a:r>
              <a:rPr lang="en-US" sz="1800" dirty="0" err="1" smtClean="0"/>
              <a:t>dept</a:t>
            </a:r>
            <a:r>
              <a:rPr lang="en-US" sz="1800" dirty="0" smtClean="0"/>
              <a:t>  </a:t>
            </a:r>
          </a:p>
          <a:p>
            <a:pPr algn="l" rtl="0">
              <a:buFontTx/>
              <a:buNone/>
            </a:pPr>
            <a:r>
              <a:rPr lang="en-US" sz="1800" dirty="0" smtClean="0"/>
              <a:t>                 WHERE </a:t>
            </a:r>
            <a:r>
              <a:rPr lang="en-US" sz="1800" dirty="0" err="1" smtClean="0"/>
              <a:t>dname</a:t>
            </a:r>
            <a:r>
              <a:rPr lang="en-US" sz="1800" dirty="0" smtClean="0"/>
              <a:t>='ACCOUNTING'); </a:t>
            </a:r>
          </a:p>
          <a:p>
            <a:endParaRPr lang="en-US" sz="800" dirty="0" smtClean="0"/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46B357-3694-4991-9A37-BB66731B27E6}" type="slidenum">
              <a:rPr lang="he-IL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3429000"/>
            <a:ext cx="21526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b="1" dirty="0"/>
              <a:t>תת שאילתה </a:t>
            </a:r>
            <a:r>
              <a:rPr lang="he-IL" sz="3600" b="1" dirty="0"/>
              <a:t>- </a:t>
            </a:r>
            <a:r>
              <a:rPr lang="en-US" sz="3600" b="1" dirty="0"/>
              <a:t>SUBQUERY</a:t>
            </a:r>
            <a:endParaRPr lang="en-US" sz="3600" b="1" dirty="0" smtClean="0"/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BE88639-D17D-41B3-A518-1D5606733934}" type="slidenum">
              <a:rPr lang="he-IL"/>
              <a:pPr/>
              <a:t>7</a:t>
            </a:fld>
            <a:endParaRPr lang="en-US"/>
          </a:p>
        </p:txBody>
      </p:sp>
      <p:pic>
        <p:nvPicPr>
          <p:cNvPr id="922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057400"/>
            <a:ext cx="38195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2" name="TextBox 9"/>
          <p:cNvSpPr txBox="1">
            <a:spLocks noChangeArrowheads="1"/>
          </p:cNvSpPr>
          <p:nvPr/>
        </p:nvSpPr>
        <p:spPr bwMode="auto">
          <a:xfrm>
            <a:off x="7162800" y="3048000"/>
            <a:ext cx="4413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Dep</a:t>
            </a:r>
            <a:endParaRPr lang="he-IL"/>
          </a:p>
        </p:txBody>
      </p:sp>
      <p:sp>
        <p:nvSpPr>
          <p:cNvPr id="9223" name="TextBox 10"/>
          <p:cNvSpPr txBox="1">
            <a:spLocks noChangeArrowheads="1"/>
          </p:cNvSpPr>
          <p:nvPr/>
        </p:nvSpPr>
        <p:spPr bwMode="auto">
          <a:xfrm>
            <a:off x="1828800" y="1752600"/>
            <a:ext cx="4762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Emp</a:t>
            </a:r>
            <a:endParaRPr lang="he-IL"/>
          </a:p>
        </p:txBody>
      </p:sp>
      <p:sp>
        <p:nvSpPr>
          <p:cNvPr id="12" name="Bent Arrow 11"/>
          <p:cNvSpPr/>
          <p:nvPr/>
        </p:nvSpPr>
        <p:spPr>
          <a:xfrm flipV="1">
            <a:off x="1600200" y="4648200"/>
            <a:ext cx="2209800" cy="990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  <p:sp>
        <p:nvSpPr>
          <p:cNvPr id="14" name="Bent Arrow 13"/>
          <p:cNvSpPr/>
          <p:nvPr/>
        </p:nvSpPr>
        <p:spPr>
          <a:xfrm flipH="1" flipV="1">
            <a:off x="4953000" y="4648200"/>
            <a:ext cx="2590800" cy="990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24600" y="3657600"/>
            <a:ext cx="2133600" cy="152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cxnSp>
        <p:nvCxnSpPr>
          <p:cNvPr id="20" name="Straight Connector 19"/>
          <p:cNvCxnSpPr/>
          <p:nvPr/>
        </p:nvCxnSpPr>
        <p:spPr>
          <a:xfrm>
            <a:off x="6477000" y="3886200"/>
            <a:ext cx="1981200" cy="533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7" idx="3"/>
          </p:cNvCxnSpPr>
          <p:nvPr/>
        </p:nvCxnSpPr>
        <p:spPr>
          <a:xfrm flipV="1">
            <a:off x="6400800" y="3957638"/>
            <a:ext cx="2076450" cy="5381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5029200"/>
            <a:ext cx="762000" cy="108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dirty="0"/>
              <a:t>תת שאילתה </a:t>
            </a:r>
            <a:r>
              <a:rPr lang="he-IL" sz="3600" b="1" dirty="0"/>
              <a:t>- </a:t>
            </a:r>
            <a:r>
              <a:rPr lang="en-US" sz="3600" b="1" dirty="0"/>
              <a:t>SUBQUERY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 smtClean="0"/>
              <a:t>אם תת-שאלתה </a:t>
            </a:r>
            <a:r>
              <a:rPr lang="he-IL" sz="2000" u="sng" dirty="0" smtClean="0"/>
              <a:t>יכולה</a:t>
            </a:r>
            <a:r>
              <a:rPr lang="he-IL" sz="2000" dirty="0" smtClean="0"/>
              <a:t> להחזיר יותר מערך אחד </a:t>
            </a:r>
            <a:r>
              <a:rPr lang="he-IL" sz="2000" u="sng" dirty="0" smtClean="0"/>
              <a:t>יש</a:t>
            </a:r>
            <a:r>
              <a:rPr lang="he-IL" sz="2000" dirty="0" smtClean="0"/>
              <a:t> להשתמש ב- </a:t>
            </a:r>
            <a:r>
              <a:rPr lang="en-US" sz="2000" dirty="0" smtClean="0"/>
              <a:t>IN</a:t>
            </a:r>
            <a:r>
              <a:rPr lang="he-IL" sz="2000" dirty="0" smtClean="0"/>
              <a:t>.</a:t>
            </a:r>
          </a:p>
          <a:p>
            <a:pPr algn="r" rtl="1">
              <a:buFontTx/>
              <a:buNone/>
              <a:defRPr/>
            </a:pPr>
            <a:r>
              <a:rPr lang="he-IL" sz="2000" dirty="0" smtClean="0"/>
              <a:t>	למשל: </a:t>
            </a:r>
            <a:endParaRPr lang="en-US" sz="2000" dirty="0" smtClean="0"/>
          </a:p>
          <a:p>
            <a:pPr lvl="1" algn="r" rtl="1">
              <a:defRPr/>
            </a:pPr>
            <a:r>
              <a:rPr lang="he-IL" sz="1600" dirty="0" smtClean="0">
                <a:ea typeface="+mn-ea"/>
                <a:cs typeface="+mn-cs"/>
              </a:rPr>
              <a:t>לקבל רשימת עובדים אשר עובדים במחלקות הנמצאות ב-</a:t>
            </a:r>
            <a:r>
              <a:rPr lang="en-US" sz="1600" dirty="0" smtClean="0">
                <a:ea typeface="+mn-ea"/>
                <a:cs typeface="+mn-cs"/>
              </a:rPr>
              <a:t>NEW YORK</a:t>
            </a:r>
            <a:r>
              <a:rPr lang="he-IL" sz="1600" dirty="0" smtClean="0">
                <a:ea typeface="+mn-ea"/>
                <a:cs typeface="+mn-cs"/>
              </a:rPr>
              <a:t>:</a:t>
            </a:r>
            <a:endParaRPr lang="he-IL" sz="1400" dirty="0" smtClean="0">
              <a:ea typeface="+mn-ea"/>
              <a:cs typeface="+mn-cs"/>
            </a:endParaRPr>
          </a:p>
          <a:p>
            <a:pPr lvl="1">
              <a:defRPr/>
            </a:pPr>
            <a:endParaRPr lang="en-US" sz="1400" dirty="0" smtClean="0">
              <a:ea typeface="+mn-ea"/>
              <a:cs typeface="+mn-cs"/>
            </a:endParaRP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SELECT </a:t>
            </a:r>
            <a:r>
              <a:rPr lang="en-US" sz="1800" dirty="0" err="1" smtClean="0"/>
              <a:t>ename</a:t>
            </a:r>
            <a:endParaRPr lang="en-US" sz="1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FROM  </a:t>
            </a:r>
            <a:r>
              <a:rPr lang="en-US" sz="1800" dirty="0" err="1" smtClean="0"/>
              <a:t>emp</a:t>
            </a:r>
            <a:endParaRPr lang="en-US" sz="1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WHERE </a:t>
            </a:r>
            <a:r>
              <a:rPr lang="en-US" sz="1800" dirty="0" err="1" smtClean="0"/>
              <a:t>deptno</a:t>
            </a:r>
            <a:r>
              <a:rPr lang="en-US" sz="1800" dirty="0" smtClean="0"/>
              <a:t> IN 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                          (SELECT </a:t>
            </a:r>
            <a:r>
              <a:rPr lang="en-US" sz="1800" dirty="0" err="1" smtClean="0"/>
              <a:t>deptno</a:t>
            </a:r>
            <a:r>
              <a:rPr lang="en-US" sz="1800" dirty="0" smtClean="0"/>
              <a:t> 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                           FROM dept 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                           WHERE loc='NEW YORK'); </a:t>
            </a:r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4E8A03-9342-41D8-8661-6A5AB3FEC1DC}" type="slidenum">
              <a:rPr lang="he-IL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3505200"/>
            <a:ext cx="21621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b="1" dirty="0"/>
              <a:t>תת שאילתה </a:t>
            </a:r>
            <a:r>
              <a:rPr lang="he-IL" sz="3600" b="1" dirty="0"/>
              <a:t>- </a:t>
            </a:r>
            <a:r>
              <a:rPr lang="en-US" sz="3600" b="1" dirty="0"/>
              <a:t>SUBQUERY</a:t>
            </a:r>
            <a:endParaRPr lang="en-US" sz="3600" b="1" dirty="0" smtClean="0"/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5B2A68-6B6D-44A5-8473-879E0A89C3BD}" type="slidenum">
              <a:rPr lang="he-IL"/>
              <a:pPr/>
              <a:t>9</a:t>
            </a:fld>
            <a:endParaRPr lang="en-US"/>
          </a:p>
        </p:txBody>
      </p:sp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057400"/>
            <a:ext cx="38195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TextBox 9"/>
          <p:cNvSpPr txBox="1">
            <a:spLocks noChangeArrowheads="1"/>
          </p:cNvSpPr>
          <p:nvPr/>
        </p:nvSpPr>
        <p:spPr bwMode="auto">
          <a:xfrm>
            <a:off x="7162800" y="3048000"/>
            <a:ext cx="4413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Dep</a:t>
            </a:r>
            <a:endParaRPr lang="he-IL"/>
          </a:p>
        </p:txBody>
      </p:sp>
      <p:sp>
        <p:nvSpPr>
          <p:cNvPr id="11271" name="TextBox 10"/>
          <p:cNvSpPr txBox="1">
            <a:spLocks noChangeArrowheads="1"/>
          </p:cNvSpPr>
          <p:nvPr/>
        </p:nvSpPr>
        <p:spPr bwMode="auto">
          <a:xfrm>
            <a:off x="1790700" y="1752600"/>
            <a:ext cx="5143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Emp </a:t>
            </a:r>
            <a:endParaRPr lang="he-IL"/>
          </a:p>
        </p:txBody>
      </p:sp>
      <p:sp>
        <p:nvSpPr>
          <p:cNvPr id="12" name="Bent Arrow 11"/>
          <p:cNvSpPr/>
          <p:nvPr/>
        </p:nvSpPr>
        <p:spPr>
          <a:xfrm flipV="1">
            <a:off x="1600200" y="4648200"/>
            <a:ext cx="2209800" cy="990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  <p:sp>
        <p:nvSpPr>
          <p:cNvPr id="14" name="Bent Arrow 13"/>
          <p:cNvSpPr/>
          <p:nvPr/>
        </p:nvSpPr>
        <p:spPr>
          <a:xfrm flipH="1" flipV="1">
            <a:off x="4953000" y="4648200"/>
            <a:ext cx="2590800" cy="990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24600" y="3733800"/>
            <a:ext cx="2133600" cy="152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cxnSp>
        <p:nvCxnSpPr>
          <p:cNvPr id="20" name="Straight Connector 19"/>
          <p:cNvCxnSpPr/>
          <p:nvPr/>
        </p:nvCxnSpPr>
        <p:spPr>
          <a:xfrm>
            <a:off x="6400800" y="4038600"/>
            <a:ext cx="2057400" cy="304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6400800" y="3957638"/>
            <a:ext cx="2076450" cy="3857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24600" y="4343400"/>
            <a:ext cx="2133600" cy="228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1127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5029200"/>
            <a:ext cx="762000" cy="108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dirty="0"/>
              <a:t>תת שאילתה </a:t>
            </a:r>
            <a:r>
              <a:rPr lang="he-IL" sz="2400" b="1" dirty="0"/>
              <a:t>- </a:t>
            </a:r>
            <a:r>
              <a:rPr lang="en-US" sz="3600" b="1" dirty="0"/>
              <a:t>SUBQUERY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 smtClean="0"/>
              <a:t>ניתן ליצור מספר רמות של תת-שאלתה,</a:t>
            </a:r>
          </a:p>
          <a:p>
            <a:pPr algn="r" rtl="1">
              <a:buFontTx/>
              <a:buNone/>
              <a:defRPr/>
            </a:pPr>
            <a:r>
              <a:rPr lang="he-IL" sz="2000" dirty="0" smtClean="0"/>
              <a:t>	למשל: </a:t>
            </a:r>
          </a:p>
          <a:p>
            <a:pPr algn="l" rtl="0">
              <a:buFontTx/>
              <a:buNone/>
              <a:defRPr/>
            </a:pPr>
            <a:r>
              <a:rPr lang="en-US" sz="1800" b="1" i="1" u="sng" dirty="0" smtClean="0"/>
              <a:t>Movie (</a:t>
            </a:r>
            <a:r>
              <a:rPr lang="en-US" sz="1800" b="1" i="1" u="sng" dirty="0" err="1" smtClean="0"/>
              <a:t>title,year,length,inColor,StudioName,producer</a:t>
            </a:r>
            <a:r>
              <a:rPr lang="en-US" sz="1800" b="1" dirty="0" smtClean="0"/>
              <a:t>)</a:t>
            </a:r>
            <a:endParaRPr lang="en-US" sz="1800" b="1" dirty="0" smtClean="0"/>
          </a:p>
          <a:p>
            <a:pPr>
              <a:buNone/>
              <a:defRPr/>
            </a:pPr>
            <a:r>
              <a:rPr lang="en-US" sz="1800" b="1" i="1" u="sng" dirty="0" err="1" smtClean="0"/>
              <a:t>MovieExec</a:t>
            </a:r>
            <a:r>
              <a:rPr lang="en-US" sz="1800" b="1" i="1" u="sng" dirty="0" smtClean="0"/>
              <a:t> (</a:t>
            </a:r>
            <a:r>
              <a:rPr lang="en-US" sz="1800" b="1" i="1" u="sng" dirty="0" err="1"/>
              <a:t>cert,name,address</a:t>
            </a:r>
            <a:r>
              <a:rPr lang="en-US" sz="1800" b="1" i="1" u="sng" dirty="0" smtClean="0"/>
              <a:t>, ….)</a:t>
            </a:r>
            <a:endParaRPr lang="en-US" sz="1800" b="1" dirty="0" smtClean="0"/>
          </a:p>
          <a:p>
            <a:pPr algn="l" rtl="0">
              <a:buFontTx/>
              <a:buNone/>
              <a:defRPr/>
            </a:pPr>
            <a:r>
              <a:rPr lang="en-US" sz="1800" b="1" i="1" u="sng" dirty="0" err="1" smtClean="0"/>
              <a:t>StarsIn</a:t>
            </a:r>
            <a:r>
              <a:rPr lang="en-US" sz="1800" b="1" i="1" u="sng" dirty="0" smtClean="0"/>
              <a:t> (</a:t>
            </a:r>
            <a:r>
              <a:rPr lang="en-US" sz="1800" b="1" i="1" u="sng" dirty="0" err="1" smtClean="0"/>
              <a:t>MovieTitle</a:t>
            </a:r>
            <a:r>
              <a:rPr lang="en-US" sz="1800" b="1" i="1" u="sng" dirty="0" smtClean="0"/>
              <a:t>, </a:t>
            </a:r>
            <a:r>
              <a:rPr lang="en-US" sz="1800" b="1" i="1" u="sng" dirty="0" err="1" smtClean="0"/>
              <a:t>MovieYear</a:t>
            </a:r>
            <a:r>
              <a:rPr lang="en-US" sz="1800" b="1" i="1" u="sng" dirty="0" smtClean="0"/>
              <a:t>, </a:t>
            </a:r>
            <a:r>
              <a:rPr lang="en-US" sz="1800" b="1" i="1" u="sng" dirty="0" err="1" smtClean="0"/>
              <a:t>StarName</a:t>
            </a:r>
            <a:r>
              <a:rPr lang="en-US" sz="1800" b="1" dirty="0" smtClean="0"/>
              <a:t>)</a:t>
            </a:r>
            <a:endParaRPr lang="en-US" sz="2000" b="1" dirty="0" smtClean="0"/>
          </a:p>
          <a:p>
            <a:pPr lvl="1" algn="r" rtl="1">
              <a:defRPr/>
            </a:pPr>
            <a:r>
              <a:rPr lang="he-IL" sz="1600" b="1" i="1" dirty="0" smtClean="0"/>
              <a:t>מספר רשיון: </a:t>
            </a:r>
            <a:r>
              <a:rPr lang="en-US" sz="1600" b="1" i="1" dirty="0" smtClean="0"/>
              <a:t>producer</a:t>
            </a:r>
            <a:r>
              <a:rPr lang="en-US" sz="1600" dirty="0" smtClean="0"/>
              <a:t>, Cert</a:t>
            </a:r>
          </a:p>
          <a:p>
            <a:pPr lvl="1">
              <a:defRPr/>
            </a:pPr>
            <a:endParaRPr lang="he-IL" sz="1600" dirty="0" smtClean="0">
              <a:ea typeface="+mn-ea"/>
              <a:cs typeface="+mn-cs"/>
            </a:endParaRPr>
          </a:p>
          <a:p>
            <a:pPr lvl="1" algn="r" rtl="1">
              <a:defRPr/>
            </a:pPr>
            <a:r>
              <a:rPr lang="he-IL" sz="1600" dirty="0" smtClean="0"/>
              <a:t>להציג את כל שמות של במאים שבסרטים שלהם השתתפה </a:t>
            </a:r>
            <a:r>
              <a:rPr lang="en-US" sz="1600" dirty="0" smtClean="0"/>
              <a:t>Sharon Stone</a:t>
            </a:r>
            <a:r>
              <a:rPr lang="he-IL" sz="1600" dirty="0" smtClean="0"/>
              <a:t>:</a:t>
            </a:r>
            <a:endParaRPr lang="en-US" sz="1800" dirty="0" smtClean="0">
              <a:ea typeface="+mn-ea"/>
              <a:cs typeface="+mn-cs"/>
            </a:endParaRPr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6054CA-B0E4-466E-B5C9-8441406087C0}" type="slidenum">
              <a:rPr lang="he-IL"/>
              <a:pPr/>
              <a:t>10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104553"/>
            <a:ext cx="4876800" cy="2445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 smtClean="0"/>
              <a:t>INSERT </a:t>
            </a:r>
            <a:r>
              <a:rPr lang="en-US" sz="3600" b="1" dirty="0" smtClean="0"/>
              <a:t>SUBQUERY</a:t>
            </a:r>
            <a:endParaRPr lang="en-US" sz="3600" b="1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 smtClean="0"/>
              <a:t>ניתן להשתמש בתת שאילתות בשביל לבצע עדכון במסד הנתונים:</a:t>
            </a:r>
          </a:p>
          <a:p>
            <a:pPr marL="0" indent="0" algn="r" rtl="1">
              <a:buNone/>
              <a:defRPr/>
            </a:pPr>
            <a:r>
              <a:rPr lang="he-IL" sz="2000" dirty="0"/>
              <a:t>	</a:t>
            </a:r>
            <a:r>
              <a:rPr lang="he-IL" sz="2000" dirty="0" smtClean="0"/>
              <a:t>למשל:</a:t>
            </a:r>
            <a:endParaRPr lang="he-IL" sz="2000" dirty="0" smtClean="0"/>
          </a:p>
          <a:p>
            <a:pPr>
              <a:buNone/>
              <a:defRPr/>
            </a:pPr>
            <a:r>
              <a:rPr lang="en-US" sz="1800" dirty="0"/>
              <a:t>Studio( </a:t>
            </a:r>
            <a:r>
              <a:rPr lang="en-US" sz="1800" dirty="0" err="1"/>
              <a:t>name,address,presC</a:t>
            </a:r>
            <a:r>
              <a:rPr lang="en-US" sz="1800" dirty="0"/>
              <a:t>#) </a:t>
            </a:r>
          </a:p>
          <a:p>
            <a:pPr>
              <a:buNone/>
              <a:defRPr/>
            </a:pPr>
            <a:r>
              <a:rPr lang="en-US" sz="1800" dirty="0"/>
              <a:t>Movie( </a:t>
            </a:r>
            <a:r>
              <a:rPr lang="en-US" sz="1800" dirty="0" err="1"/>
              <a:t>title,year,length,inColor,StudioName,producerC</a:t>
            </a:r>
            <a:r>
              <a:rPr lang="en-US" sz="1800" dirty="0"/>
              <a:t>#)</a:t>
            </a:r>
          </a:p>
          <a:p>
            <a:pPr>
              <a:buNone/>
              <a:defRPr/>
            </a:pPr>
            <a:r>
              <a:rPr lang="en-US" sz="1800" dirty="0" err="1"/>
              <a:t>MovieExec</a:t>
            </a:r>
            <a:r>
              <a:rPr lang="en-US" sz="1800" dirty="0"/>
              <a:t>(</a:t>
            </a:r>
            <a:r>
              <a:rPr lang="en-US" sz="1800" dirty="0" err="1"/>
              <a:t>name,address,cert</a:t>
            </a:r>
            <a:r>
              <a:rPr lang="en-US" sz="1800" dirty="0"/>
              <a:t>#) </a:t>
            </a:r>
          </a:p>
          <a:p>
            <a:pPr lvl="1" algn="r" rtl="1">
              <a:defRPr/>
            </a:pPr>
            <a:r>
              <a:rPr lang="he-IL" sz="1600" b="1" i="1" dirty="0" smtClean="0"/>
              <a:t>מספר </a:t>
            </a:r>
            <a:r>
              <a:rPr lang="he-IL" sz="1600" b="1" i="1" dirty="0" smtClean="0"/>
              <a:t>רשיון: </a:t>
            </a:r>
            <a:r>
              <a:rPr lang="en-US" sz="1600" b="1" i="1" dirty="0" smtClean="0"/>
              <a:t>producer</a:t>
            </a:r>
            <a:r>
              <a:rPr lang="en-US" sz="1600" dirty="0" smtClean="0"/>
              <a:t>, </a:t>
            </a:r>
            <a:r>
              <a:rPr lang="en-US" sz="1600" dirty="0" smtClean="0"/>
              <a:t>Cert</a:t>
            </a:r>
            <a:endParaRPr lang="he-IL" sz="1600" dirty="0" smtClean="0">
              <a:ea typeface="+mn-ea"/>
              <a:cs typeface="+mn-cs"/>
            </a:endParaRPr>
          </a:p>
          <a:p>
            <a:pPr lvl="1" algn="r" rtl="1">
              <a:defRPr/>
            </a:pPr>
            <a:r>
              <a:rPr lang="he-IL" sz="1600" dirty="0"/>
              <a:t>להוסיף סטודיו חדש שלא מופיע עדיין ברשימת סטודיו (</a:t>
            </a:r>
            <a:r>
              <a:rPr lang="en-US" sz="1600" dirty="0" smtClean="0"/>
              <a:t>Studio</a:t>
            </a:r>
            <a:r>
              <a:rPr lang="he-IL" sz="1600" dirty="0" smtClean="0"/>
              <a:t>) וכן </a:t>
            </a:r>
            <a:r>
              <a:rPr lang="he-IL" sz="1600" dirty="0"/>
              <a:t>מופיע ברשימת </a:t>
            </a:r>
            <a:r>
              <a:rPr lang="he-IL" sz="1600" dirty="0" smtClean="0"/>
              <a:t>הסרטים </a:t>
            </a:r>
            <a:r>
              <a:rPr lang="he-IL" sz="1800" dirty="0" smtClean="0"/>
              <a:t>(</a:t>
            </a:r>
            <a:r>
              <a:rPr lang="en-US" sz="1800" dirty="0" smtClean="0"/>
              <a:t>Movie</a:t>
            </a:r>
            <a:r>
              <a:rPr lang="he-IL" sz="1800" dirty="0" smtClean="0"/>
              <a:t>) </a:t>
            </a:r>
            <a:endParaRPr lang="en-US" sz="1800" dirty="0" smtClean="0">
              <a:ea typeface="+mn-ea"/>
              <a:cs typeface="+mn-cs"/>
            </a:endParaRPr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6054CA-B0E4-466E-B5C9-8441406087C0}" type="slidenum">
              <a:rPr lang="he-IL"/>
              <a:pPr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495800"/>
            <a:ext cx="45434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8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 smtClean="0"/>
              <a:t>UPDATE </a:t>
            </a:r>
            <a:r>
              <a:rPr lang="en-US" sz="3600" b="1" dirty="0" smtClean="0"/>
              <a:t>SUBQUERY</a:t>
            </a:r>
            <a:endParaRPr lang="en-US" sz="3600" b="1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 smtClean="0"/>
              <a:t>ניתן להשתמש בתת שאילתות בשביל לבצע עדכון במסד הנתונים:</a:t>
            </a:r>
          </a:p>
          <a:p>
            <a:pPr marL="0" indent="0" algn="r" rtl="1">
              <a:buNone/>
              <a:defRPr/>
            </a:pPr>
            <a:r>
              <a:rPr lang="he-IL" sz="2000" dirty="0"/>
              <a:t>	</a:t>
            </a:r>
            <a:r>
              <a:rPr lang="he-IL" sz="2000" dirty="0" smtClean="0"/>
              <a:t>למשל:</a:t>
            </a:r>
            <a:endParaRPr lang="he-IL" sz="2000" dirty="0" smtClean="0"/>
          </a:p>
          <a:p>
            <a:pPr>
              <a:buNone/>
              <a:defRPr/>
            </a:pPr>
            <a:r>
              <a:rPr lang="en-US" sz="1800" dirty="0"/>
              <a:t>Studio( </a:t>
            </a:r>
            <a:r>
              <a:rPr lang="en-US" sz="1800" dirty="0" err="1"/>
              <a:t>name,address,presC</a:t>
            </a:r>
            <a:r>
              <a:rPr lang="en-US" sz="1800" dirty="0"/>
              <a:t>#) </a:t>
            </a:r>
            <a:endParaRPr lang="en-US" sz="1800" dirty="0" smtClean="0"/>
          </a:p>
          <a:p>
            <a:pPr>
              <a:buNone/>
              <a:defRPr/>
            </a:pPr>
            <a:r>
              <a:rPr lang="en-US" sz="1800" dirty="0" smtClean="0"/>
              <a:t>Movie</a:t>
            </a:r>
            <a:r>
              <a:rPr lang="en-US" sz="1800" dirty="0"/>
              <a:t>( </a:t>
            </a:r>
            <a:r>
              <a:rPr lang="en-US" sz="1800" dirty="0" err="1"/>
              <a:t>title,year,length,inColor,StudioName,producerC</a:t>
            </a:r>
            <a:r>
              <a:rPr lang="en-US" sz="1800" dirty="0" smtClean="0"/>
              <a:t>#)</a:t>
            </a:r>
          </a:p>
          <a:p>
            <a:pPr>
              <a:buNone/>
              <a:defRPr/>
            </a:pPr>
            <a:r>
              <a:rPr lang="en-US" sz="1800" dirty="0" err="1" smtClean="0"/>
              <a:t>MovieExec</a:t>
            </a:r>
            <a:r>
              <a:rPr lang="en-US" sz="1800" dirty="0" smtClean="0"/>
              <a:t>(</a:t>
            </a:r>
            <a:r>
              <a:rPr lang="en-US" sz="1800" dirty="0" err="1" smtClean="0"/>
              <a:t>name,address,cert</a:t>
            </a:r>
            <a:r>
              <a:rPr lang="en-US" sz="1800" dirty="0"/>
              <a:t>#) </a:t>
            </a:r>
            <a:endParaRPr lang="en-US" sz="1800" dirty="0" smtClean="0"/>
          </a:p>
          <a:p>
            <a:pPr lvl="1" algn="r" rtl="1">
              <a:defRPr/>
            </a:pPr>
            <a:endParaRPr lang="en-US" sz="1600" dirty="0" smtClean="0"/>
          </a:p>
          <a:p>
            <a:pPr lvl="1" algn="r" rtl="1">
              <a:defRPr/>
            </a:pPr>
            <a:r>
              <a:rPr lang="he-IL" sz="1600" dirty="0" smtClean="0"/>
              <a:t>לעדכן </a:t>
            </a:r>
            <a:r>
              <a:rPr lang="he-IL" sz="1600" dirty="0"/>
              <a:t>שמות של במאים </a:t>
            </a:r>
            <a:r>
              <a:rPr lang="he-IL" sz="1600" dirty="0" smtClean="0"/>
              <a:t>ל-</a:t>
            </a:r>
            <a:r>
              <a:rPr lang="en-US" sz="1600" dirty="0" smtClean="0"/>
              <a:t>“Pres”</a:t>
            </a:r>
            <a:r>
              <a:rPr lang="he-IL" sz="1600" dirty="0" smtClean="0"/>
              <a:t> אשר </a:t>
            </a:r>
            <a:r>
              <a:rPr lang="he-IL" sz="1600" dirty="0"/>
              <a:t>במאי הוא גם נשיא של סטודיו </a:t>
            </a:r>
            <a:endParaRPr lang="en-US" sz="1800" dirty="0" smtClean="0">
              <a:ea typeface="+mn-ea"/>
              <a:cs typeface="+mn-cs"/>
            </a:endParaRPr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96054CA-B0E4-466E-B5C9-8441406087C0}" type="slidenum">
              <a:rPr lang="he-IL"/>
              <a:pPr/>
              <a:t>12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267200"/>
            <a:ext cx="29622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8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dirty="0" smtClean="0"/>
              <a:t>טבלאות זמניות - </a:t>
            </a:r>
            <a:r>
              <a:rPr lang="en-US" sz="3600" b="1" dirty="0" smtClean="0"/>
              <a:t>Dynamic View</a:t>
            </a:r>
            <a:endParaRPr lang="en-US" b="1" dirty="0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/>
            <a:r>
              <a:rPr lang="he-IL" sz="2000" dirty="0" smtClean="0"/>
              <a:t>ניתן ליצור טבלאות זמניות – טבלאות אלו לא נשמרות בשום מקום, אין להן קיום פיזי. הן קיימות רק בזמן הפעלת השאילתה.</a:t>
            </a:r>
            <a:endParaRPr lang="en-US" sz="2000" dirty="0" smtClean="0"/>
          </a:p>
          <a:p>
            <a:pPr algn="r" rtl="1">
              <a:buFontTx/>
              <a:buNone/>
            </a:pPr>
            <a:r>
              <a:rPr lang="he-IL" sz="2000" dirty="0" smtClean="0"/>
              <a:t>	למשל:</a:t>
            </a:r>
          </a:p>
          <a:p>
            <a:pPr algn="r" rtl="1">
              <a:buFontTx/>
              <a:buNone/>
            </a:pPr>
            <a:r>
              <a:rPr lang="he-IL" sz="2000" dirty="0" smtClean="0"/>
              <a:t> 	- </a:t>
            </a:r>
            <a:r>
              <a:rPr lang="he-IL" sz="1600" dirty="0" smtClean="0"/>
              <a:t>להציג עובדים (שם מחלקה,שם עובד ומשכורתו) אשר משרד שלהם נמצא ב- </a:t>
            </a:r>
            <a:r>
              <a:rPr lang="en-US" sz="1600" dirty="0" smtClean="0"/>
              <a:t>NEW YORK</a:t>
            </a:r>
            <a:r>
              <a:rPr lang="he-IL" sz="1600" dirty="0" smtClean="0"/>
              <a:t>:</a:t>
            </a:r>
          </a:p>
          <a:p>
            <a:pPr>
              <a:buFontTx/>
              <a:buNone/>
            </a:pPr>
            <a:endParaRPr lang="he-IL" sz="1600" dirty="0" smtClean="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0595FA-19EA-4294-AA47-21DD495C534B}" type="slidenum">
              <a:rPr lang="he-IL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586161"/>
            <a:ext cx="6370462" cy="1290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355144"/>
            <a:ext cx="1971675" cy="895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5571986"/>
            <a:ext cx="511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d=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50" y="5571986"/>
            <a:ext cx="1638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8023</TotalTime>
  <Words>216</Words>
  <Application>Microsoft Office PowerPoint</Application>
  <PresentationFormat>On-screen Show (4:3)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Times New Roman (Hebrew)</vt:lpstr>
      <vt:lpstr>Wingdings 2</vt:lpstr>
      <vt:lpstr>Foundry</vt:lpstr>
      <vt:lpstr>בסיסי נתונים - מעבדה</vt:lpstr>
      <vt:lpstr>SQL - תת-שאילתה(SUBQUERY)</vt:lpstr>
      <vt:lpstr>תת-שאילתה(SUBQUERY)</vt:lpstr>
      <vt:lpstr>תת שאילתה - SUBQUERY</vt:lpstr>
      <vt:lpstr>תת שאילתה - SUBQUERY</vt:lpstr>
      <vt:lpstr>תת שאילתה - SUBQUERY</vt:lpstr>
      <vt:lpstr>תת שאילתה - SUBQUERY</vt:lpstr>
      <vt:lpstr>תת שאילתה - SUBQUERY</vt:lpstr>
      <vt:lpstr>תת שאילתה - SUBQUERY</vt:lpstr>
      <vt:lpstr>תת שאילתה - SUBQUERY</vt:lpstr>
      <vt:lpstr>INSERT SUBQUERY</vt:lpstr>
      <vt:lpstr>UPDATE SUBQUERY</vt:lpstr>
      <vt:lpstr>טבלאות זמניות - Dynamic 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Windows User</cp:lastModifiedBy>
  <cp:revision>557</cp:revision>
  <dcterms:created xsi:type="dcterms:W3CDTF">2004-02-02T22:13:25Z</dcterms:created>
  <dcterms:modified xsi:type="dcterms:W3CDTF">2019-10-22T12:53:11Z</dcterms:modified>
</cp:coreProperties>
</file>