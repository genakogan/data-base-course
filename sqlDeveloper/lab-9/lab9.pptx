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tl="1" saveSubsetFonts="1">
  <p:sldMasterIdLst>
    <p:sldMasterId id="2147483672" r:id="rId1"/>
    <p:sldMasterId id="2147483684" r:id="rId2"/>
  </p:sldMasterIdLst>
  <p:notesMasterIdLst>
    <p:notesMasterId r:id="rId44"/>
  </p:notesMasterIdLst>
  <p:handoutMasterIdLst>
    <p:handoutMasterId r:id="rId45"/>
  </p:handoutMasterIdLst>
  <p:sldIdLst>
    <p:sldId id="674" r:id="rId3"/>
    <p:sldId id="567" r:id="rId4"/>
    <p:sldId id="620" r:id="rId5"/>
    <p:sldId id="637" r:id="rId6"/>
    <p:sldId id="638" r:id="rId7"/>
    <p:sldId id="639" r:id="rId8"/>
    <p:sldId id="651" r:id="rId9"/>
    <p:sldId id="640" r:id="rId10"/>
    <p:sldId id="641" r:id="rId11"/>
    <p:sldId id="642" r:id="rId12"/>
    <p:sldId id="645" r:id="rId13"/>
    <p:sldId id="644" r:id="rId14"/>
    <p:sldId id="652" r:id="rId15"/>
    <p:sldId id="653" r:id="rId16"/>
    <p:sldId id="654" r:id="rId17"/>
    <p:sldId id="656" r:id="rId18"/>
    <p:sldId id="657" r:id="rId19"/>
    <p:sldId id="658" r:id="rId20"/>
    <p:sldId id="675" r:id="rId21"/>
    <p:sldId id="659" r:id="rId22"/>
    <p:sldId id="661" r:id="rId23"/>
    <p:sldId id="660" r:id="rId24"/>
    <p:sldId id="662" r:id="rId25"/>
    <p:sldId id="646" r:id="rId26"/>
    <p:sldId id="647" r:id="rId27"/>
    <p:sldId id="664" r:id="rId28"/>
    <p:sldId id="665" r:id="rId29"/>
    <p:sldId id="648" r:id="rId30"/>
    <p:sldId id="649" r:id="rId31"/>
    <p:sldId id="650" r:id="rId32"/>
    <p:sldId id="667" r:id="rId33"/>
    <p:sldId id="668" r:id="rId34"/>
    <p:sldId id="669" r:id="rId35"/>
    <p:sldId id="672" r:id="rId36"/>
    <p:sldId id="671" r:id="rId37"/>
    <p:sldId id="670" r:id="rId38"/>
    <p:sldId id="673" r:id="rId39"/>
    <p:sldId id="676" r:id="rId40"/>
    <p:sldId id="679" r:id="rId41"/>
    <p:sldId id="678" r:id="rId42"/>
    <p:sldId id="680" r:id="rId43"/>
  </p:sldIdLst>
  <p:sldSz cx="9144000" cy="6858000" type="screen4x3"/>
  <p:notesSz cx="6858000" cy="9144000"/>
  <p:defaultTextStyle>
    <a:defPPr>
      <a:defRPr lang="he-IL"/>
    </a:defPPr>
    <a:lvl1pPr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Times New Roman (Hebrew)" charset="0"/>
        <a:cs typeface="Times New Roman (Hebrew)" charset="0"/>
      </a:defRPr>
    </a:lvl1pPr>
    <a:lvl2pPr marL="4572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Times New Roman (Hebrew)" charset="0"/>
        <a:cs typeface="Times New Roman (Hebrew)" charset="0"/>
      </a:defRPr>
    </a:lvl2pPr>
    <a:lvl3pPr marL="9144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Times New Roman (Hebrew)" charset="0"/>
        <a:cs typeface="Times New Roman (Hebrew)" charset="0"/>
      </a:defRPr>
    </a:lvl3pPr>
    <a:lvl4pPr marL="13716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Times New Roman (Hebrew)" charset="0"/>
        <a:cs typeface="Times New Roman (Hebrew)" charset="0"/>
      </a:defRPr>
    </a:lvl4pPr>
    <a:lvl5pPr marL="1828800" algn="r" rtl="1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Times New Roman (Hebrew)" charset="0"/>
        <a:cs typeface="Times New Roman (Hebrew)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Times New Roman (Hebrew)" charset="0"/>
        <a:cs typeface="Times New Roman (Hebrew)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Times New Roman (Hebrew)" charset="0"/>
        <a:cs typeface="Times New Roman (Hebrew)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Times New Roman (Hebrew)" charset="0"/>
        <a:cs typeface="Times New Roman (Hebrew)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Times New Roman (Hebrew)" charset="0"/>
        <a:cs typeface="Times New Roman (Hebrew)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FF99FF"/>
    <a:srgbClr val="FFCC00"/>
    <a:srgbClr val="A02600"/>
    <a:srgbClr val="CC3300"/>
    <a:srgbClr val="E88A00"/>
    <a:srgbClr val="E9F7FF"/>
    <a:srgbClr val="33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E171933-4619-4E11-9A3F-F7608DF75F80}" styleName="סגנון ביניים 1 - הדגשה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3296810-A885-4BE3-A3E7-6D5BEEA58F35}" styleName="סגנון ביניים 2 - הדגשה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סגנון ביניים 2 - הדגשה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3178" autoAdjust="0"/>
    <p:restoredTop sz="90935"/>
  </p:normalViewPr>
  <p:slideViewPr>
    <p:cSldViewPr>
      <p:cViewPr varScale="1">
        <p:scale>
          <a:sx n="111" d="100"/>
          <a:sy n="111" d="100"/>
        </p:scale>
        <p:origin x="864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635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presProps" Target="pres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he-IL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1588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fld id="{5FDF17E3-64E1-4827-8877-08C84B8035ED}" type="datetimeFigureOut">
              <a:rPr lang="he-IL"/>
              <a:pPr/>
              <a:t>י"א.אלול.תשפ"ו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388620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1588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fld id="{6C8AD6CB-4CEF-4FCF-93D6-7EFF9498445B}" type="slidenum">
              <a:rPr lang="he-IL"/>
              <a:pPr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9245778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9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he-IL" noProof="0"/>
              <a:t>לחץ כדי לערוך סגנונות טקסט של תבנית בסיס</a:t>
            </a:r>
          </a:p>
          <a:p>
            <a:pPr lvl="1"/>
            <a:r>
              <a:rPr lang="he-IL" noProof="0"/>
              <a:t>רמה שנייה</a:t>
            </a:r>
          </a:p>
          <a:p>
            <a:pPr lvl="2"/>
            <a:r>
              <a:rPr lang="he-IL" noProof="0"/>
              <a:t>רמה שלישית</a:t>
            </a:r>
          </a:p>
          <a:p>
            <a:pPr lvl="3"/>
            <a:r>
              <a:rPr lang="he-IL" noProof="0"/>
              <a:t>רמה רביעית</a:t>
            </a:r>
          </a:p>
          <a:p>
            <a:pPr lvl="4"/>
            <a:r>
              <a:rPr lang="he-IL" noProof="0"/>
              <a:t>רמה חמישית</a:t>
            </a:r>
          </a:p>
        </p:txBody>
      </p:sp>
      <p:sp>
        <p:nvSpPr>
          <p:cNvPr id="194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4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fld id="{38E4A5CD-5DB2-487E-82A9-A7F815680E97}" type="slidenum">
              <a:rPr lang="he-IL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06255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1pPr>
    <a:lvl2pPr marL="4572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2pPr>
    <a:lvl3pPr marL="9144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3pPr>
    <a:lvl4pPr marL="13716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4pPr>
    <a:lvl5pPr marL="1828800" algn="r" rtl="1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Times New Roman" pitchFamily="18" charset="0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 Diagonal Corner Rectangle 6"/>
          <p:cNvSpPr/>
          <p:nvPr/>
        </p:nvSpPr>
        <p:spPr>
          <a:xfrm>
            <a:off x="164592" y="146304"/>
            <a:ext cx="8814816" cy="2505456"/>
          </a:xfrm>
          <a:prstGeom prst="round2DiagRect">
            <a:avLst>
              <a:gd name="adj1" fmla="val 11807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64234" y="381001"/>
            <a:ext cx="8229600" cy="2209800"/>
          </a:xfrm>
        </p:spPr>
        <p:txBody>
          <a:bodyPr lIns="45720" rIns="228600" anchor="b">
            <a:normAutofit/>
          </a:bodyPr>
          <a:lstStyle>
            <a:lvl1pPr marL="0" algn="r">
              <a:defRPr sz="480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133600" y="2819400"/>
            <a:ext cx="6560234" cy="1752600"/>
          </a:xfrm>
        </p:spPr>
        <p:txBody>
          <a:bodyPr lIns="45720" rIns="246888"/>
          <a:lstStyle>
            <a:lvl1pPr marL="0" indent="0" algn="r">
              <a:spcBef>
                <a:spcPts val="0"/>
              </a:spcBef>
              <a:buNone/>
              <a:defRPr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>
          <a:xfrm>
            <a:off x="5562600" y="6509004"/>
            <a:ext cx="3002280" cy="274320"/>
          </a:xfrm>
        </p:spPr>
        <p:txBody>
          <a:bodyPr vert="horz" rtlCol="0"/>
          <a:lstStyle/>
          <a:p>
            <a:fld id="{0698051C-8949-4F45-A6FE-3F05496B0292}" type="datetime8">
              <a:rPr lang="he-IL" smtClean="0"/>
              <a:pPr/>
              <a:t>24 באוגוסט 26</a:t>
            </a:fld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>
          <a:xfrm>
            <a:off x="8638952" y="6509004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AE77A644-4345-4BCA-B338-C62A439B3676}" type="slidenum">
              <a:rPr lang="he-IL" smtClean="0"/>
              <a:pPr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2"/>
          </p:nvPr>
        </p:nvSpPr>
        <p:spPr>
          <a:xfrm>
            <a:off x="1600200" y="6509004"/>
            <a:ext cx="3907464" cy="274320"/>
          </a:xfrm>
        </p:spPr>
        <p:txBody>
          <a:bodyPr vert="horz" rtlCol="0"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2275C4-96FB-48B2-B125-63D5B4B15C9C}" type="datetime8">
              <a:rPr lang="he-IL" smtClean="0"/>
              <a:pPr/>
              <a:t>24 באוגוסט 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40BCE-E334-46D3-9385-17AEF90EA555}" type="slidenum">
              <a:rPr lang="he-IL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0128" y="3267456"/>
            <a:ext cx="74066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498230"/>
            <a:ext cx="7772400" cy="2731008"/>
          </a:xfrm>
        </p:spPr>
        <p:txBody>
          <a:bodyPr rIns="100584"/>
          <a:lstStyle>
            <a:lvl1pPr algn="r">
              <a:buNone/>
              <a:defRPr sz="4000" b="1" cap="none">
                <a:solidFill>
                  <a:schemeClr val="accent1">
                    <a:tint val="95000"/>
                    <a:satMod val="200000"/>
                  </a:schemeClr>
                </a:solidFill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287713"/>
            <a:ext cx="7772400" cy="1509712"/>
          </a:xfrm>
        </p:spPr>
        <p:txBody>
          <a:bodyPr rIns="128016" anchor="t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62600" y="6513670"/>
            <a:ext cx="3002280" cy="274320"/>
          </a:xfrm>
        </p:spPr>
        <p:txBody>
          <a:bodyPr vert="horz" rtlCol="0"/>
          <a:lstStyle/>
          <a:p>
            <a:fld id="{08AC2863-71F4-48DE-85AE-67B44546C570}" type="datetime8">
              <a:rPr lang="he-IL" smtClean="0"/>
              <a:pPr/>
              <a:t>24 באוגוסט 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8638952" y="6513670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64608006-2C95-4EB9-B6ED-E81D13DD500A}" type="slidenum">
              <a:rPr lang="he-IL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>
          <a:xfrm>
            <a:off x="1600200" y="6513670"/>
            <a:ext cx="3907464" cy="274320"/>
          </a:xfrm>
        </p:spPr>
        <p:txBody>
          <a:bodyPr vert="horz" rtlCol="0"/>
          <a:lstStyle/>
          <a:p>
            <a:pPr>
              <a:defRPr/>
            </a:pPr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45920"/>
            <a:ext cx="4038600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45920"/>
            <a:ext cx="4038600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A17AE-7713-457F-9008-55454185B516}" type="datetime8">
              <a:rPr lang="he-IL" smtClean="0"/>
              <a:pPr/>
              <a:t>24 באוגוסט 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41080" y="6514568"/>
            <a:ext cx="464288" cy="274320"/>
          </a:xfrm>
        </p:spPr>
        <p:txBody>
          <a:bodyPr/>
          <a:lstStyle/>
          <a:p>
            <a:fld id="{6699946A-5A56-4CA0-A663-016E9CCB69C1}" type="slidenum">
              <a:rPr lang="he-IL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616744" y="216521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b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4800600" y="216521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b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1948"/>
            <a:ext cx="8229600" cy="114300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>
            <a:noAutofit/>
          </a:bodyPr>
          <a:lstStyle>
            <a:lvl1pPr marL="91440" indent="0" algn="l">
              <a:spcBef>
                <a:spcPts val="0"/>
              </a:spcBef>
              <a:buNone/>
              <a:defRPr sz="2200" b="0" cap="all" baseline="0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535113"/>
            <a:ext cx="4041775" cy="639762"/>
          </a:xfrm>
        </p:spPr>
        <p:txBody>
          <a:bodyPr anchor="b">
            <a:noAutofit/>
          </a:bodyPr>
          <a:lstStyle>
            <a:lvl1pPr marL="91440" indent="0" algn="l">
              <a:spcBef>
                <a:spcPts val="0"/>
              </a:spcBef>
              <a:buNone/>
              <a:defRPr sz="2200" b="0" cap="all" baseline="0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941763"/>
          </a:xfrm>
        </p:spPr>
        <p:txBody>
          <a:bodyPr lIns="9144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941763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C52E5-5826-461C-8F1F-1EEE26C2374D}" type="datetime8">
              <a:rPr lang="he-IL" smtClean="0"/>
              <a:pPr/>
              <a:t>24 באוגוסט 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41080" y="6514568"/>
            <a:ext cx="464288" cy="274320"/>
          </a:xfrm>
        </p:spPr>
        <p:txBody>
          <a:bodyPr/>
          <a:lstStyle/>
          <a:p>
            <a:fld id="{638BB0A2-D81E-4E4C-B7B7-8C7A328C2206}" type="slidenum">
              <a:rPr lang="he-IL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3218"/>
            <a:ext cx="822960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04BDA-45FF-4AD7-9D1F-EC802A33AE02}" type="datetime8">
              <a:rPr lang="he-IL" smtClean="0"/>
              <a:pPr/>
              <a:t>24 באוגוסט 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23F99F-8F59-4658-A5B5-1E5D08FA599A}" type="slidenum">
              <a:rPr lang="he-IL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1B865-0CE3-402B-9C08-9E0100F0E260}" type="datetime8">
              <a:rPr lang="he-IL" smtClean="0"/>
              <a:pPr/>
              <a:t>24 באוגוסט 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773CE-C931-4B44-B502-7612A51C0100}" type="slidenum">
              <a:rPr lang="he-IL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5057552" y="105765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3136" y="304800"/>
            <a:ext cx="3931920" cy="762000"/>
          </a:xfrm>
        </p:spPr>
        <p:txBody>
          <a:bodyPr anchor="b"/>
          <a:lstStyle>
            <a:lvl1pPr marL="0" algn="r">
              <a:buNone/>
              <a:defRPr sz="2000" b="1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963136" y="1107560"/>
            <a:ext cx="3931920" cy="1066800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228600" y="2209800"/>
            <a:ext cx="8666456" cy="3977640"/>
          </a:xfrm>
        </p:spPr>
        <p:txBody>
          <a:bodyPr/>
          <a:lstStyle>
            <a:lvl1pPr marL="292608">
              <a:defRPr sz="3200"/>
            </a:lvl1pPr>
            <a:lvl2pPr marL="594360">
              <a:defRPr sz="2800"/>
            </a:lvl2pPr>
            <a:lvl3pPr marL="822960">
              <a:defRPr sz="2400"/>
            </a:lvl3pPr>
            <a:lvl4pPr marL="1051560">
              <a:defRPr sz="2000"/>
            </a:lvl4pPr>
            <a:lvl5pPr marL="1261872"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>
          <a:xfrm>
            <a:off x="5562600" y="6513670"/>
            <a:ext cx="3002280" cy="274320"/>
          </a:xfrm>
        </p:spPr>
        <p:txBody>
          <a:bodyPr vert="horz" rtlCol="0"/>
          <a:lstStyle/>
          <a:p>
            <a:fld id="{336C4018-831C-4A73-B9FB-0434A099FC09}" type="datetime8">
              <a:rPr lang="he-IL" smtClean="0"/>
              <a:pPr/>
              <a:t>24 באוגוסט 26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>
          <a:xfrm>
            <a:off x="8638952" y="6513670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B3BE4F61-B24F-4EA9-B9D2-9EADAE35620B}" type="slidenum">
              <a:rPr lang="he-IL" smtClean="0"/>
              <a:pPr/>
              <a:t>‹#›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2"/>
          </p:nvPr>
        </p:nvSpPr>
        <p:spPr>
          <a:xfrm>
            <a:off x="1600200" y="6513670"/>
            <a:ext cx="3907464" cy="274320"/>
          </a:xfrm>
        </p:spPr>
        <p:txBody>
          <a:bodyPr vert="horz" rtlCol="0"/>
          <a:lstStyle/>
          <a:p>
            <a:pPr>
              <a:defRPr/>
            </a:pPr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0443" y="4724400"/>
            <a:ext cx="5486400" cy="664536"/>
          </a:xfrm>
        </p:spPr>
        <p:txBody>
          <a:bodyPr anchor="b"/>
          <a:lstStyle>
            <a:lvl1pPr marL="0" algn="r">
              <a:buNone/>
              <a:defRPr sz="2000" b="1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0443" y="5388936"/>
            <a:ext cx="5486400" cy="912255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3" name="Picture Placeholder 12"/>
          <p:cNvSpPr>
            <a:spLocks noGrp="1"/>
          </p:cNvSpPr>
          <p:nvPr>
            <p:ph type="pic" idx="1"/>
          </p:nvPr>
        </p:nvSpPr>
        <p:spPr>
          <a:xfrm>
            <a:off x="304800" y="249864"/>
            <a:ext cx="8534400" cy="4343400"/>
          </a:xfrm>
          <a:prstGeom prst="round2DiagRect">
            <a:avLst>
              <a:gd name="adj1" fmla="val 11403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  <a:extLst/>
          </a:lstStyle>
          <a:p>
            <a:pPr marL="0" algn="l" rtl="0" eaLnBrk="1" latinLnBrk="0" hangingPunct="1"/>
            <a:r>
              <a:rPr kumimoji="0" lang="en-US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Click icon to add picture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62600" y="6509004"/>
            <a:ext cx="3002280" cy="274320"/>
          </a:xfrm>
        </p:spPr>
        <p:txBody>
          <a:bodyPr vert="horz" rtlCol="0"/>
          <a:lstStyle/>
          <a:p>
            <a:fld id="{48003E6E-FBDD-48C4-AF3E-F610BBCE891B}" type="datetime8">
              <a:rPr lang="he-IL" smtClean="0"/>
              <a:pPr/>
              <a:t>24 באוגוסט 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8638952" y="6509004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9776B676-C74C-471D-9043-021DE13464EB}" type="slidenum">
              <a:rPr lang="he-IL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>
          <a:xfrm>
            <a:off x="1600200" y="6509004"/>
            <a:ext cx="3907464" cy="274320"/>
          </a:xfrm>
        </p:spPr>
        <p:txBody>
          <a:bodyPr vert="horz" rtlCol="0"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D3EC2-B72C-4911-8BFE-D71D29EF77DC}" type="datetime8">
              <a:rPr lang="he-IL" smtClean="0"/>
              <a:pPr/>
              <a:t>24 באוגוסט 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8A141-2D73-4D5B-8077-D051F587AB33}" type="slidenum">
              <a:rPr lang="he-IL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>
            <a:lvl1pPr algn="l"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D400C7-1C61-4C8F-9B4F-9E84F1CC591B}" type="datetime8">
              <a:rPr lang="he-IL" smtClean="0"/>
              <a:pPr/>
              <a:t>24 באוגוסט 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C89E6B-6CB0-4075-90C9-803BC32B64E9}" type="slidenum">
              <a:rPr lang="he-IL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 Diagonal Corner Rectangle 6"/>
          <p:cNvSpPr/>
          <p:nvPr/>
        </p:nvSpPr>
        <p:spPr>
          <a:xfrm>
            <a:off x="164592" y="146304"/>
            <a:ext cx="8814816" cy="2505456"/>
          </a:xfrm>
          <a:prstGeom prst="round2DiagRect">
            <a:avLst>
              <a:gd name="adj1" fmla="val 11807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64234" y="381001"/>
            <a:ext cx="8229600" cy="2209800"/>
          </a:xfrm>
        </p:spPr>
        <p:txBody>
          <a:bodyPr lIns="45720" rIns="228600" anchor="b">
            <a:normAutofit/>
          </a:bodyPr>
          <a:lstStyle>
            <a:lvl1pPr marL="0" algn="r">
              <a:defRPr sz="480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133600" y="2819400"/>
            <a:ext cx="6560234" cy="1752600"/>
          </a:xfrm>
        </p:spPr>
        <p:txBody>
          <a:bodyPr lIns="45720" rIns="246888"/>
          <a:lstStyle>
            <a:lvl1pPr marL="0" indent="0" algn="r">
              <a:spcBef>
                <a:spcPts val="0"/>
              </a:spcBef>
              <a:buNone/>
              <a:defRPr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>
          <a:xfrm>
            <a:off x="5562600" y="6509004"/>
            <a:ext cx="3002280" cy="274320"/>
          </a:xfrm>
        </p:spPr>
        <p:txBody>
          <a:bodyPr vert="horz" rtlCol="0"/>
          <a:lstStyle/>
          <a:p>
            <a:fld id="{0108C781-C024-4105-A4E1-ED9D4947D29D}" type="datetime8">
              <a:rPr lang="he-IL" smtClean="0">
                <a:solidFill>
                  <a:srgbClr val="000000"/>
                </a:solidFill>
              </a:rPr>
              <a:pPr/>
              <a:t>24 באוגוסט 26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>
          <a:xfrm>
            <a:off x="8638952" y="6509004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A3D3E4B4-084F-4D7E-8B05-0BCD889AA97C}" type="slidenum">
              <a:rPr lang="he-IL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2"/>
          </p:nvPr>
        </p:nvSpPr>
        <p:spPr>
          <a:xfrm>
            <a:off x="1600200" y="6509004"/>
            <a:ext cx="3907464" cy="274320"/>
          </a:xfrm>
        </p:spPr>
        <p:txBody>
          <a:bodyPr vert="horz" rtlCol="0"/>
          <a:lstStyle/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05ECC4-8C6D-4622-9873-C1F99042C42E}" type="datetime8">
              <a:rPr lang="he-IL" smtClean="0">
                <a:solidFill>
                  <a:srgbClr val="000000"/>
                </a:solidFill>
              </a:rPr>
              <a:pPr/>
              <a:t>24 באוגוסט 26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E2F2C7-3772-4C39-AD8D-5634D3F3F3D3}" type="slidenum">
              <a:rPr lang="he-IL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0128" y="3267456"/>
            <a:ext cx="74066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498230"/>
            <a:ext cx="7772400" cy="2731008"/>
          </a:xfrm>
        </p:spPr>
        <p:txBody>
          <a:bodyPr rIns="100584"/>
          <a:lstStyle>
            <a:lvl1pPr algn="r">
              <a:buNone/>
              <a:defRPr sz="4000" b="1" cap="none">
                <a:solidFill>
                  <a:schemeClr val="accent1">
                    <a:tint val="95000"/>
                    <a:satMod val="200000"/>
                  </a:schemeClr>
                </a:solidFill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287713"/>
            <a:ext cx="7772400" cy="1509712"/>
          </a:xfrm>
        </p:spPr>
        <p:txBody>
          <a:bodyPr rIns="128016" anchor="t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62600" y="6513670"/>
            <a:ext cx="3002280" cy="274320"/>
          </a:xfrm>
        </p:spPr>
        <p:txBody>
          <a:bodyPr vert="horz" rtlCol="0"/>
          <a:lstStyle/>
          <a:p>
            <a:fld id="{E5913585-9654-4F39-94D8-A238E5E7D685}" type="datetime8">
              <a:rPr lang="he-IL" smtClean="0">
                <a:solidFill>
                  <a:srgbClr val="000000"/>
                </a:solidFill>
              </a:rPr>
              <a:pPr/>
              <a:t>24 באוגוסט 26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8638952" y="6513670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1A5F30D3-2D8F-4436-82B9-F5EFBA53F50F}" type="slidenum">
              <a:rPr lang="he-IL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>
          <a:xfrm>
            <a:off x="1600200" y="6513670"/>
            <a:ext cx="3907464" cy="274320"/>
          </a:xfrm>
        </p:spPr>
        <p:txBody>
          <a:bodyPr vert="horz" rtlCol="0"/>
          <a:lstStyle/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45920"/>
            <a:ext cx="4038600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45920"/>
            <a:ext cx="4038600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57BD4-A987-4BCA-B248-5643283AC03F}" type="datetime8">
              <a:rPr lang="he-IL" smtClean="0">
                <a:solidFill>
                  <a:srgbClr val="000000"/>
                </a:solidFill>
              </a:rPr>
              <a:pPr/>
              <a:t>24 באוגוסט 26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41080" y="6514568"/>
            <a:ext cx="464288" cy="274320"/>
          </a:xfrm>
        </p:spPr>
        <p:txBody>
          <a:bodyPr/>
          <a:lstStyle/>
          <a:p>
            <a:fld id="{3B1B122E-81B1-4199-A5AF-DA32DDF85F4C}" type="slidenum">
              <a:rPr lang="he-IL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616744" y="216521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b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4800600" y="216521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b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1948"/>
            <a:ext cx="8229600" cy="114300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>
            <a:noAutofit/>
          </a:bodyPr>
          <a:lstStyle>
            <a:lvl1pPr marL="91440" indent="0" algn="l">
              <a:spcBef>
                <a:spcPts val="0"/>
              </a:spcBef>
              <a:buNone/>
              <a:defRPr sz="2200" b="0" cap="all" baseline="0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535113"/>
            <a:ext cx="4041775" cy="639762"/>
          </a:xfrm>
        </p:spPr>
        <p:txBody>
          <a:bodyPr anchor="b">
            <a:noAutofit/>
          </a:bodyPr>
          <a:lstStyle>
            <a:lvl1pPr marL="91440" indent="0" algn="l">
              <a:spcBef>
                <a:spcPts val="0"/>
              </a:spcBef>
              <a:buNone/>
              <a:defRPr sz="2200" b="0" cap="all" baseline="0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941763"/>
          </a:xfrm>
        </p:spPr>
        <p:txBody>
          <a:bodyPr lIns="9144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941763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4575F-1003-4642-B77A-1BFE0E1D087A}" type="datetime8">
              <a:rPr lang="he-IL" smtClean="0">
                <a:solidFill>
                  <a:srgbClr val="000000"/>
                </a:solidFill>
              </a:rPr>
              <a:pPr/>
              <a:t>24 באוגוסט 26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41080" y="6514568"/>
            <a:ext cx="464288" cy="274320"/>
          </a:xfrm>
        </p:spPr>
        <p:txBody>
          <a:bodyPr/>
          <a:lstStyle/>
          <a:p>
            <a:fld id="{F5289082-5EF8-497F-9C79-1A6D8935F993}" type="slidenum">
              <a:rPr lang="he-IL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3218"/>
            <a:ext cx="822960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52917-FA67-485F-8AF5-E1ACEC985896}" type="datetime8">
              <a:rPr lang="he-IL" smtClean="0">
                <a:solidFill>
                  <a:srgbClr val="000000"/>
                </a:solidFill>
              </a:rPr>
              <a:pPr/>
              <a:t>24 באוגוסט 26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4A5F6-2CD2-43B3-966F-01733E032FBF}" type="slidenum">
              <a:rPr lang="he-IL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8A013-C0F3-40DC-88FD-7DB404E55D04}" type="datetime8">
              <a:rPr lang="he-IL" smtClean="0">
                <a:solidFill>
                  <a:srgbClr val="000000"/>
                </a:solidFill>
              </a:rPr>
              <a:pPr/>
              <a:t>24 באוגוסט 26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B1ABE-12AD-437E-B368-C1BF3FA81243}" type="slidenum">
              <a:rPr lang="he-IL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5057552" y="105765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3136" y="304800"/>
            <a:ext cx="3931920" cy="762000"/>
          </a:xfrm>
        </p:spPr>
        <p:txBody>
          <a:bodyPr anchor="b"/>
          <a:lstStyle>
            <a:lvl1pPr marL="0" algn="r">
              <a:buNone/>
              <a:defRPr sz="2000" b="1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963136" y="1107560"/>
            <a:ext cx="3931920" cy="1066800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228600" y="2209800"/>
            <a:ext cx="8666456" cy="3977640"/>
          </a:xfrm>
        </p:spPr>
        <p:txBody>
          <a:bodyPr/>
          <a:lstStyle>
            <a:lvl1pPr marL="292608">
              <a:defRPr sz="3200"/>
            </a:lvl1pPr>
            <a:lvl2pPr marL="594360">
              <a:defRPr sz="2800"/>
            </a:lvl2pPr>
            <a:lvl3pPr marL="822960">
              <a:defRPr sz="2400"/>
            </a:lvl3pPr>
            <a:lvl4pPr marL="1051560">
              <a:defRPr sz="2000"/>
            </a:lvl4pPr>
            <a:lvl5pPr marL="1261872"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>
          <a:xfrm>
            <a:off x="5562600" y="6513670"/>
            <a:ext cx="3002280" cy="274320"/>
          </a:xfrm>
        </p:spPr>
        <p:txBody>
          <a:bodyPr vert="horz" rtlCol="0"/>
          <a:lstStyle/>
          <a:p>
            <a:fld id="{DDD8DB38-D90D-47BA-B4D5-3CB44E4CE36A}" type="datetime8">
              <a:rPr lang="he-IL" smtClean="0">
                <a:solidFill>
                  <a:srgbClr val="000000"/>
                </a:solidFill>
              </a:rPr>
              <a:pPr/>
              <a:t>24 באוגוסט 26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>
          <a:xfrm>
            <a:off x="8638952" y="6513670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CA9D3B0E-178D-4D8D-B61A-242015B49744}" type="slidenum">
              <a:rPr lang="he-IL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2"/>
          </p:nvPr>
        </p:nvSpPr>
        <p:spPr>
          <a:xfrm>
            <a:off x="1600200" y="6513670"/>
            <a:ext cx="3907464" cy="274320"/>
          </a:xfrm>
        </p:spPr>
        <p:txBody>
          <a:bodyPr vert="horz" rtlCol="0"/>
          <a:lstStyle/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0443" y="4724400"/>
            <a:ext cx="5486400" cy="664536"/>
          </a:xfrm>
        </p:spPr>
        <p:txBody>
          <a:bodyPr anchor="b"/>
          <a:lstStyle>
            <a:lvl1pPr marL="0" algn="r">
              <a:buNone/>
              <a:defRPr sz="2000" b="1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0443" y="5388936"/>
            <a:ext cx="5486400" cy="912255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3" name="Picture Placeholder 12"/>
          <p:cNvSpPr>
            <a:spLocks noGrp="1"/>
          </p:cNvSpPr>
          <p:nvPr>
            <p:ph type="pic" idx="1"/>
          </p:nvPr>
        </p:nvSpPr>
        <p:spPr>
          <a:xfrm>
            <a:off x="304800" y="249864"/>
            <a:ext cx="8534400" cy="4343400"/>
          </a:xfrm>
          <a:prstGeom prst="round2DiagRect">
            <a:avLst>
              <a:gd name="adj1" fmla="val 11403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  <a:extLst/>
          </a:lstStyle>
          <a:p>
            <a:pPr marL="0" algn="l" rtl="0" eaLnBrk="1" latinLnBrk="0" hangingPunct="1"/>
            <a:r>
              <a:rPr kumimoji="0" lang="en-US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Click icon to add picture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62600" y="6509004"/>
            <a:ext cx="3002280" cy="274320"/>
          </a:xfrm>
        </p:spPr>
        <p:txBody>
          <a:bodyPr vert="horz" rtlCol="0"/>
          <a:lstStyle/>
          <a:p>
            <a:fld id="{54D73158-0D53-4F2E-A6FF-2252BDD60182}" type="datetime8">
              <a:rPr lang="he-IL" smtClean="0">
                <a:solidFill>
                  <a:srgbClr val="000000"/>
                </a:solidFill>
              </a:rPr>
              <a:pPr/>
              <a:t>24 באוגוסט 26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8638952" y="6509004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E769B1E3-9605-4097-BB04-2967D4C8C7E5}" type="slidenum">
              <a:rPr lang="he-IL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>
          <a:xfrm>
            <a:off x="1600200" y="6509004"/>
            <a:ext cx="3907464" cy="274320"/>
          </a:xfrm>
        </p:spPr>
        <p:txBody>
          <a:bodyPr vert="horz" rtlCol="0"/>
          <a:lstStyle/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BDF1B0-E363-456E-B5C4-93368C9A5CFB}" type="datetime8">
              <a:rPr lang="he-IL" smtClean="0">
                <a:solidFill>
                  <a:srgbClr val="000000"/>
                </a:solidFill>
              </a:rPr>
              <a:pPr/>
              <a:t>24 באוגוסט 26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8D7CD-F0D1-4CA7-B088-B3F2A2DCB6FB}" type="slidenum">
              <a:rPr lang="he-IL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>
            <a:lvl1pPr algn="l"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7B93E-B29A-492D-B7E5-BA1C3312876B}" type="datetime8">
              <a:rPr lang="he-IL" smtClean="0">
                <a:solidFill>
                  <a:srgbClr val="000000"/>
                </a:solidFill>
              </a:rPr>
              <a:pPr/>
              <a:t>24 באוגוסט 26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180C6-FE76-4F4B-B60A-B8DFA0B56305}" type="slidenum">
              <a:rPr lang="he-IL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 Diagonal Corner Rectangle 6"/>
          <p:cNvSpPr/>
          <p:nvPr/>
        </p:nvSpPr>
        <p:spPr>
          <a:xfrm>
            <a:off x="164592" y="147085"/>
            <a:ext cx="8810846" cy="6565392"/>
          </a:xfrm>
          <a:prstGeom prst="round2DiagRect">
            <a:avLst>
              <a:gd name="adj1" fmla="val 11807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95400" y="6400800"/>
            <a:ext cx="4212264" cy="274320"/>
          </a:xfrm>
          <a:prstGeom prst="rect">
            <a:avLst/>
          </a:prstGeom>
        </p:spPr>
        <p:txBody>
          <a:bodyPr/>
          <a:lstStyle>
            <a:lvl1pPr algn="r" eaLnBrk="1" latinLnBrk="0" hangingPunct="1">
              <a:defRPr kumimoji="0" sz="1300">
                <a:solidFill>
                  <a:schemeClr val="bg2">
                    <a:tint val="60000"/>
                    <a:satMod val="155000"/>
                  </a:schemeClr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562600" y="6400800"/>
            <a:ext cx="3002280" cy="274320"/>
          </a:xfrm>
          <a:prstGeom prst="rect">
            <a:avLst/>
          </a:prstGeom>
        </p:spPr>
        <p:txBody>
          <a:bodyPr/>
          <a:lstStyle>
            <a:lvl1pPr algn="l" eaLnBrk="1" latinLnBrk="0" hangingPunct="1">
              <a:defRPr kumimoji="0" sz="1300">
                <a:solidFill>
                  <a:schemeClr val="bg2">
                    <a:tint val="60000"/>
                    <a:satMod val="155000"/>
                  </a:schemeClr>
                </a:solidFill>
              </a:defRPr>
            </a:lvl1pPr>
            <a:extLst/>
          </a:lstStyle>
          <a:p>
            <a:fld id="{A5F5C378-EDA6-4B0D-A22E-DD2C7A4CE808}" type="datetime8">
              <a:rPr lang="he-IL" smtClean="0"/>
              <a:pPr/>
              <a:t>24 באוגוסט 26</a:t>
            </a:fld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638952" y="6514568"/>
            <a:ext cx="464288" cy="274320"/>
          </a:xfrm>
          <a:prstGeom prst="rect">
            <a:avLst/>
          </a:prstGeom>
        </p:spPr>
        <p:txBody>
          <a:bodyPr anchor="ctr"/>
          <a:lstStyle>
            <a:lvl1pPr algn="r" eaLnBrk="1" latinLnBrk="0" hangingPunct="1">
              <a:defRPr kumimoji="0" sz="1600">
                <a:solidFill>
                  <a:schemeClr val="tx2">
                    <a:shade val="90000"/>
                  </a:schemeClr>
                </a:solidFill>
                <a:effectLst/>
              </a:defRPr>
            </a:lvl1pPr>
            <a:extLst/>
          </a:lstStyle>
          <a:p>
            <a:fld id="{7BCF35D3-8193-4B1F-84AF-D4FEB41A3595}" type="slidenum">
              <a:rPr lang="he-IL" smtClean="0"/>
              <a:pPr/>
              <a:t>‹#›</a:t>
            </a:fld>
            <a:endParaRPr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53536"/>
            <a:ext cx="8229600" cy="1143000"/>
          </a:xfrm>
          <a:prstGeom prst="rect">
            <a:avLst/>
          </a:prstGeom>
        </p:spPr>
        <p:txBody>
          <a:bodyPr rIns="91440" anchor="b">
            <a:normAutofit/>
            <a:scene3d>
              <a:camera prst="orthographicFront"/>
              <a:lightRig rig="soft" dir="t">
                <a:rot lat="0" lon="0" rev="2400000"/>
              </a:lightRig>
            </a:scene3d>
            <a:sp3d>
              <a:bevelT w="19050" h="12700"/>
            </a:sp3d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46237"/>
            <a:ext cx="8229600" cy="452628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marL="54864" algn="r" rtl="0" eaLnBrk="1" latinLnBrk="0" hangingPunct="1">
        <a:spcBef>
          <a:spcPct val="0"/>
        </a:spcBef>
        <a:buNone/>
        <a:defRPr kumimoji="0" sz="4600" kern="1200">
          <a:solidFill>
            <a:schemeClr val="tx2">
              <a:tint val="100000"/>
              <a:shade val="90000"/>
              <a:satMod val="250000"/>
              <a:alpha val="100000"/>
            </a:schemeClr>
          </a:solidFill>
          <a:effectLst>
            <a:outerShdw blurRad="38100" dist="25500" dir="5400000" algn="tl" rotWithShape="0">
              <a:srgbClr val="000000">
                <a:satMod val="180000"/>
                <a:alpha val="7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292100" indent="-292100" algn="l" rtl="0" eaLnBrk="1" latinLnBrk="0" hangingPunct="1">
        <a:spcBef>
          <a:spcPts val="0"/>
        </a:spcBef>
        <a:buClr>
          <a:schemeClr val="accent1"/>
        </a:buClr>
        <a:buSzPct val="70000"/>
        <a:buFont typeface="Wingdings 2"/>
        <a:buChar char="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rtl="0" eaLnBrk="1" latinLnBrk="0" hangingPunct="1">
        <a:spcBef>
          <a:spcPts val="400"/>
        </a:spcBef>
        <a:buClr>
          <a:schemeClr val="accent2"/>
        </a:buClr>
        <a:buSzPct val="90000"/>
        <a:buFontTx/>
        <a:buChar char="•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192024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82880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 Diagonal Corner Rectangle 6"/>
          <p:cNvSpPr/>
          <p:nvPr/>
        </p:nvSpPr>
        <p:spPr>
          <a:xfrm>
            <a:off x="164592" y="147085"/>
            <a:ext cx="8810846" cy="6565392"/>
          </a:xfrm>
          <a:prstGeom prst="round2DiagRect">
            <a:avLst>
              <a:gd name="adj1" fmla="val 11807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95400" y="6400800"/>
            <a:ext cx="4212264" cy="274320"/>
          </a:xfrm>
          <a:prstGeom prst="rect">
            <a:avLst/>
          </a:prstGeom>
        </p:spPr>
        <p:txBody>
          <a:bodyPr/>
          <a:lstStyle>
            <a:lvl1pPr algn="r" eaLnBrk="1" latinLnBrk="0" hangingPunct="1">
              <a:defRPr kumimoji="0" sz="1300">
                <a:solidFill>
                  <a:schemeClr val="bg2">
                    <a:tint val="60000"/>
                    <a:satMod val="155000"/>
                  </a:schemeClr>
                </a:solidFill>
              </a:defRPr>
            </a:lvl1pPr>
            <a:extLst/>
          </a:lstStyle>
          <a:p>
            <a:pPr>
              <a:defRPr/>
            </a:pPr>
            <a:endParaRPr lang="en-US">
              <a:solidFill>
                <a:srgbClr val="000000"/>
              </a:solidFill>
            </a:endParaRP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562600" y="6400800"/>
            <a:ext cx="3002280" cy="274320"/>
          </a:xfrm>
          <a:prstGeom prst="rect">
            <a:avLst/>
          </a:prstGeom>
        </p:spPr>
        <p:txBody>
          <a:bodyPr/>
          <a:lstStyle>
            <a:lvl1pPr algn="l" eaLnBrk="1" latinLnBrk="0" hangingPunct="1">
              <a:defRPr kumimoji="0" sz="1300">
                <a:solidFill>
                  <a:schemeClr val="bg2">
                    <a:tint val="60000"/>
                    <a:satMod val="155000"/>
                  </a:schemeClr>
                </a:solidFill>
              </a:defRPr>
            </a:lvl1pPr>
            <a:extLst/>
          </a:lstStyle>
          <a:p>
            <a:fld id="{6D29957A-D580-44A0-BBF9-C508F65E8ADE}" type="datetime8">
              <a:rPr lang="he-IL" smtClean="0">
                <a:solidFill>
                  <a:srgbClr val="000000"/>
                </a:solidFill>
              </a:rPr>
              <a:pPr/>
              <a:t>24 באוגוסט 26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638952" y="6514568"/>
            <a:ext cx="464288" cy="274320"/>
          </a:xfrm>
          <a:prstGeom prst="rect">
            <a:avLst/>
          </a:prstGeom>
        </p:spPr>
        <p:txBody>
          <a:bodyPr anchor="ctr"/>
          <a:lstStyle>
            <a:lvl1pPr algn="r" eaLnBrk="1" latinLnBrk="0" hangingPunct="1">
              <a:defRPr kumimoji="0" sz="1600">
                <a:solidFill>
                  <a:schemeClr val="tx2">
                    <a:shade val="90000"/>
                  </a:schemeClr>
                </a:solidFill>
                <a:effectLst/>
              </a:defRPr>
            </a:lvl1pPr>
            <a:extLst/>
          </a:lstStyle>
          <a:p>
            <a:fld id="{A39C7559-7AA5-479B-99EB-CA50434A94BB}" type="slidenum">
              <a:rPr lang="he-IL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53536"/>
            <a:ext cx="8229600" cy="1143000"/>
          </a:xfrm>
          <a:prstGeom prst="rect">
            <a:avLst/>
          </a:prstGeom>
        </p:spPr>
        <p:txBody>
          <a:bodyPr rIns="91440" anchor="b">
            <a:normAutofit/>
            <a:scene3d>
              <a:camera prst="orthographicFront"/>
              <a:lightRig rig="soft" dir="t">
                <a:rot lat="0" lon="0" rev="2400000"/>
              </a:lightRig>
            </a:scene3d>
            <a:sp3d>
              <a:bevelT w="19050" h="12700"/>
            </a:sp3d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46237"/>
            <a:ext cx="8229600" cy="452628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marL="54864" algn="r" rtl="0" eaLnBrk="1" latinLnBrk="0" hangingPunct="1">
        <a:spcBef>
          <a:spcPct val="0"/>
        </a:spcBef>
        <a:buNone/>
        <a:defRPr kumimoji="0" sz="4600" kern="1200">
          <a:solidFill>
            <a:schemeClr val="tx2">
              <a:tint val="100000"/>
              <a:shade val="90000"/>
              <a:satMod val="250000"/>
              <a:alpha val="100000"/>
            </a:schemeClr>
          </a:solidFill>
          <a:effectLst>
            <a:outerShdw blurRad="38100" dist="25500" dir="5400000" algn="tl" rotWithShape="0">
              <a:srgbClr val="000000">
                <a:satMod val="180000"/>
                <a:alpha val="7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292100" indent="-292100" algn="l" rtl="0" eaLnBrk="1" latinLnBrk="0" hangingPunct="1">
        <a:spcBef>
          <a:spcPts val="0"/>
        </a:spcBef>
        <a:buClr>
          <a:schemeClr val="accent1"/>
        </a:buClr>
        <a:buSzPct val="70000"/>
        <a:buFont typeface="Wingdings 2"/>
        <a:buChar char="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rtl="0" eaLnBrk="1" latinLnBrk="0" hangingPunct="1">
        <a:spcBef>
          <a:spcPts val="400"/>
        </a:spcBef>
        <a:buClr>
          <a:schemeClr val="accent2"/>
        </a:buClr>
        <a:buSzPct val="90000"/>
        <a:buFontTx/>
        <a:buChar char="•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192024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82880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343400" y="1600200"/>
            <a:ext cx="3962400" cy="762000"/>
          </a:xfrm>
        </p:spPr>
        <p:txBody>
          <a:bodyPr/>
          <a:lstStyle/>
          <a:p>
            <a:pPr eaLnBrk="1" hangingPunct="1"/>
            <a:r>
              <a:rPr lang="he-IL" sz="32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בסיסי נתונים - מעבדה</a:t>
            </a:r>
            <a:endParaRPr lang="en-US" sz="320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2052" name="Subtitle 7"/>
          <p:cNvSpPr>
            <a:spLocks noGrp="1"/>
          </p:cNvSpPr>
          <p:nvPr>
            <p:ph type="subTitle" idx="1"/>
          </p:nvPr>
        </p:nvSpPr>
        <p:spPr>
          <a:xfrm>
            <a:off x="4495800" y="381000"/>
            <a:ext cx="3657600" cy="1524000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sz="9600" b="1" dirty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  <a:cs typeface="Times New Roman" pitchFamily="18" charset="0"/>
              </a:rPr>
              <a:t>SQL</a:t>
            </a:r>
            <a:endParaRPr lang="he-IL" sz="9600" dirty="0"/>
          </a:p>
        </p:txBody>
      </p:sp>
      <p:grpSp>
        <p:nvGrpSpPr>
          <p:cNvPr id="3" name="Group 15"/>
          <p:cNvGrpSpPr>
            <a:grpSpLocks/>
          </p:cNvGrpSpPr>
          <p:nvPr/>
        </p:nvGrpSpPr>
        <p:grpSpPr bwMode="auto">
          <a:xfrm>
            <a:off x="3676650" y="2703513"/>
            <a:ext cx="571500" cy="1433512"/>
            <a:chOff x="0" y="0"/>
            <a:chExt cx="360" cy="903"/>
          </a:xfrm>
        </p:grpSpPr>
        <p:sp>
          <p:nvSpPr>
            <p:cNvPr id="2054" name="Rectangle 12"/>
            <p:cNvSpPr>
              <a:spLocks noChangeArrowheads="1"/>
            </p:cNvSpPr>
            <p:nvPr/>
          </p:nvSpPr>
          <p:spPr bwMode="auto">
            <a:xfrm>
              <a:off x="0" y="0"/>
              <a:ext cx="360" cy="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endParaRPr lang="he-IL">
                <a:solidFill>
                  <a:srgbClr val="000000"/>
                </a:solidFill>
              </a:endParaRPr>
            </a:p>
          </p:txBody>
        </p:sp>
        <p:sp>
          <p:nvSpPr>
            <p:cNvPr id="2055" name="Rectangle 13"/>
            <p:cNvSpPr>
              <a:spLocks noChangeArrowheads="1"/>
            </p:cNvSpPr>
            <p:nvPr/>
          </p:nvSpPr>
          <p:spPr bwMode="auto">
            <a:xfrm>
              <a:off x="0" y="0"/>
              <a:ext cx="360" cy="90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r>
                <a:rPr lang="he-IL" dirty="0">
                  <a:solidFill>
                    <a:srgbClr val="000000"/>
                  </a:solidFill>
                </a:rPr>
                <a:t> </a:t>
              </a:r>
              <a:r>
                <a:rPr lang="he-IL" sz="8800" dirty="0">
                  <a:solidFill>
                    <a:srgbClr val="000000"/>
                  </a:solidFill>
                </a:rPr>
                <a:t> </a:t>
              </a:r>
              <a:endParaRPr lang="he-IL" dirty="0">
                <a:solidFill>
                  <a:srgbClr val="000000"/>
                </a:solidFill>
              </a:endParaRPr>
            </a:p>
          </p:txBody>
        </p:sp>
      </p:grpSp>
      <p:pic>
        <p:nvPicPr>
          <p:cNvPr id="2" name="Picture 9" descr="http://www.dbametrix.com/img/articles/small/remote-database-services-3.jpg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33400" y="0"/>
            <a:ext cx="3810000" cy="28575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71419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>
          <a:xfrm>
            <a:off x="3505200" y="304800"/>
            <a:ext cx="2514600" cy="1066800"/>
          </a:xfrm>
        </p:spPr>
        <p:txBody>
          <a:bodyPr/>
          <a:lstStyle/>
          <a:p>
            <a:r>
              <a:rPr lang="en-US" b="1" dirty="0"/>
              <a:t>PL/SQL</a:t>
            </a:r>
          </a:p>
        </p:txBody>
      </p:sp>
      <p:sp>
        <p:nvSpPr>
          <p:cNvPr id="40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9pPr>
          </a:lstStyle>
          <a:p>
            <a:pPr eaLnBrk="1" hangingPunct="1"/>
            <a:fld id="{A1F88F80-9564-4726-AAE2-1F93E5C08FFC}" type="slidenum">
              <a:rPr lang="he-IL" sz="1400"/>
              <a:pPr eaLnBrk="1" hangingPunct="1"/>
              <a:t>2</a:t>
            </a:fld>
            <a:endParaRPr lang="en-US"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en-US" sz="3600" b="1" dirty="0"/>
              <a:t>PL/SQL</a:t>
            </a:r>
            <a:r>
              <a:rPr lang="he-IL" sz="3600" b="1" dirty="0"/>
              <a:t> - הקדמה</a:t>
            </a:r>
            <a:endParaRPr lang="en-US" sz="3600" b="1" dirty="0"/>
          </a:p>
        </p:txBody>
      </p:sp>
      <p:sp>
        <p:nvSpPr>
          <p:cNvPr id="5124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676400"/>
            <a:ext cx="7772400" cy="4648200"/>
          </a:xfrm>
        </p:spPr>
        <p:txBody>
          <a:bodyPr/>
          <a:lstStyle/>
          <a:p>
            <a:pPr algn="ctr" rtl="1">
              <a:buFontTx/>
              <a:buNone/>
              <a:defRPr/>
            </a:pPr>
            <a:endParaRPr lang="en-US" sz="2000" b="1" u="sng" dirty="0"/>
          </a:p>
          <a:p>
            <a:pPr algn="r" rtl="1">
              <a:buFontTx/>
              <a:buNone/>
              <a:defRPr/>
            </a:pPr>
            <a:endParaRPr lang="he-IL" sz="800" dirty="0"/>
          </a:p>
          <a:p>
            <a:pPr algn="r" rtl="1">
              <a:defRPr/>
            </a:pPr>
            <a:r>
              <a:rPr lang="en-US" sz="2000" dirty="0"/>
              <a:t>PL/SQL</a:t>
            </a:r>
            <a:r>
              <a:rPr lang="he-IL" sz="2000" dirty="0"/>
              <a:t> מרחיבה את </a:t>
            </a:r>
            <a:r>
              <a:rPr lang="en-US" sz="2000" dirty="0"/>
              <a:t>SQL</a:t>
            </a:r>
            <a:r>
              <a:rPr lang="he-IL" sz="2000" dirty="0"/>
              <a:t> ומחזק את כוחו על ידי הענקת כלים משפות פרוצדוראליות. </a:t>
            </a:r>
          </a:p>
          <a:p>
            <a:pPr algn="r" rtl="1">
              <a:defRPr/>
            </a:pPr>
            <a:endParaRPr lang="he-IL" sz="800" dirty="0"/>
          </a:p>
          <a:p>
            <a:pPr algn="r" rtl="1">
              <a:defRPr/>
            </a:pPr>
            <a:r>
              <a:rPr lang="he-IL" sz="2000" dirty="0"/>
              <a:t>בלוק  (תוכנית) ב-</a:t>
            </a:r>
            <a:r>
              <a:rPr lang="en-US" sz="2000" dirty="0"/>
              <a:t>PL/SQL</a:t>
            </a:r>
            <a:r>
              <a:rPr lang="he-IL" sz="2000" dirty="0"/>
              <a:t> הוא בעל המבנה הבא:</a:t>
            </a:r>
            <a:endParaRPr lang="en-US" sz="2000" dirty="0"/>
          </a:p>
          <a:p>
            <a:pPr algn="r" rtl="1">
              <a:buFontTx/>
              <a:buNone/>
              <a:defRPr/>
            </a:pPr>
            <a:endParaRPr lang="he-IL" sz="800" dirty="0"/>
          </a:p>
          <a:p>
            <a:pPr algn="l">
              <a:buFontTx/>
              <a:buNone/>
              <a:defRPr/>
            </a:pPr>
            <a:r>
              <a:rPr lang="en-US" sz="1800" dirty="0"/>
              <a:t>DECLARE</a:t>
            </a:r>
          </a:p>
          <a:p>
            <a:pPr algn="ctr">
              <a:buFontTx/>
              <a:buNone/>
              <a:defRPr/>
            </a:pPr>
            <a:r>
              <a:rPr lang="he-IL" sz="1800" dirty="0">
                <a:solidFill>
                  <a:schemeClr val="accent6"/>
                </a:solidFill>
              </a:rPr>
              <a:t>הכרזת משתנים, טיפוסים ופרוצדורות. </a:t>
            </a:r>
            <a:endParaRPr lang="en-US" sz="1800" dirty="0">
              <a:solidFill>
                <a:schemeClr val="accent6"/>
              </a:solidFill>
            </a:endParaRPr>
          </a:p>
          <a:p>
            <a:pPr algn="l">
              <a:buFontTx/>
              <a:buNone/>
              <a:defRPr/>
            </a:pPr>
            <a:r>
              <a:rPr lang="en-US" sz="1800" dirty="0"/>
              <a:t> BEGIN</a:t>
            </a:r>
          </a:p>
          <a:p>
            <a:pPr algn="ctr">
              <a:buFontTx/>
              <a:buNone/>
              <a:defRPr/>
            </a:pPr>
            <a:r>
              <a:rPr lang="en-US" sz="1800" dirty="0">
                <a:solidFill>
                  <a:schemeClr val="accent6"/>
                </a:solidFill>
              </a:rPr>
              <a:t>SQL </a:t>
            </a:r>
            <a:r>
              <a:rPr lang="he-IL" sz="1800" dirty="0">
                <a:solidFill>
                  <a:schemeClr val="accent6"/>
                </a:solidFill>
              </a:rPr>
              <a:t>חלק ביצועי: משפטים פרוצדוראליים ומשפטי</a:t>
            </a:r>
            <a:endParaRPr lang="en-US" sz="1800" dirty="0">
              <a:solidFill>
                <a:schemeClr val="accent6"/>
              </a:solidFill>
            </a:endParaRPr>
          </a:p>
          <a:p>
            <a:pPr algn="ctr">
              <a:buFontTx/>
              <a:buNone/>
              <a:defRPr/>
            </a:pPr>
            <a:r>
              <a:rPr lang="he-IL" sz="1800" b="1" dirty="0">
                <a:solidFill>
                  <a:srgbClr val="FFC000"/>
                </a:solidFill>
              </a:rPr>
              <a:t>* זהו החלק היחיד שנדרש בבלוק</a:t>
            </a:r>
            <a:r>
              <a:rPr lang="he-IL" sz="1800" dirty="0">
                <a:solidFill>
                  <a:srgbClr val="FFC000"/>
                </a:solidFill>
              </a:rPr>
              <a:t>. (זהו החלק העיקרי שרץ).</a:t>
            </a:r>
            <a:r>
              <a:rPr lang="en-US" sz="1800" dirty="0">
                <a:solidFill>
                  <a:srgbClr val="FFC000"/>
                </a:solidFill>
              </a:rPr>
              <a:t> </a:t>
            </a:r>
          </a:p>
          <a:p>
            <a:pPr algn="l">
              <a:buFontTx/>
              <a:buNone/>
              <a:defRPr/>
            </a:pPr>
            <a:r>
              <a:rPr lang="en-US" sz="1800" dirty="0"/>
              <a:t> EXCEPTION</a:t>
            </a:r>
          </a:p>
          <a:p>
            <a:pPr algn="ctr">
              <a:buFontTx/>
              <a:buNone/>
              <a:defRPr/>
            </a:pPr>
            <a:r>
              <a:rPr lang="he-IL" sz="1800" dirty="0">
                <a:solidFill>
                  <a:schemeClr val="accent6"/>
                </a:solidFill>
              </a:rPr>
              <a:t>חלק הטיפול בחריגות. משפטי טיפול בטעויות יבואו כאן.</a:t>
            </a:r>
            <a:r>
              <a:rPr lang="en-US" sz="1800" dirty="0">
                <a:solidFill>
                  <a:schemeClr val="accent6"/>
                </a:solidFill>
              </a:rPr>
              <a:t> </a:t>
            </a:r>
          </a:p>
          <a:p>
            <a:pPr algn="l">
              <a:buFontTx/>
              <a:buNone/>
              <a:defRPr/>
            </a:pPr>
            <a:r>
              <a:rPr lang="en-US" sz="1800" dirty="0"/>
              <a:t>END;</a:t>
            </a:r>
          </a:p>
        </p:txBody>
      </p:sp>
      <p:sp>
        <p:nvSpPr>
          <p:cNvPr id="512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9pPr>
          </a:lstStyle>
          <a:p>
            <a:pPr eaLnBrk="1" hangingPunct="1"/>
            <a:fld id="{28A604BD-FAA4-4437-BC39-F09E66D59719}" type="slidenum">
              <a:rPr lang="he-IL" sz="1400"/>
              <a:pPr eaLnBrk="1" hangingPunct="1"/>
              <a:t>3</a:t>
            </a:fld>
            <a:endParaRPr lang="en-US" sz="1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en-US" sz="3600" b="1" dirty="0"/>
              <a:t>PL/SQL</a:t>
            </a:r>
            <a:r>
              <a:rPr lang="he-IL" sz="3600" b="1" dirty="0"/>
              <a:t> - הקדמה</a:t>
            </a:r>
            <a:endParaRPr lang="en-US" sz="3600" b="1" dirty="0"/>
          </a:p>
        </p:txBody>
      </p:sp>
      <p:sp>
        <p:nvSpPr>
          <p:cNvPr id="6148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676400"/>
            <a:ext cx="7772400" cy="4419600"/>
          </a:xfrm>
        </p:spPr>
        <p:txBody>
          <a:bodyPr/>
          <a:lstStyle/>
          <a:p>
            <a:pPr algn="r" rtl="1">
              <a:buFontTx/>
              <a:buNone/>
            </a:pPr>
            <a:endParaRPr lang="he-IL" sz="800" dirty="0"/>
          </a:p>
          <a:p>
            <a:pPr algn="r" rtl="1"/>
            <a:r>
              <a:rPr lang="he-IL" sz="2000" dirty="0"/>
              <a:t>משפטי ה- </a:t>
            </a:r>
            <a:r>
              <a:rPr lang="en-US" sz="2000" dirty="0"/>
              <a:t>SQL</a:t>
            </a:r>
            <a:r>
              <a:rPr lang="he-IL" sz="2000" dirty="0"/>
              <a:t> שיכולים להשתלב בתוכנית </a:t>
            </a:r>
            <a:r>
              <a:rPr lang="en-US" sz="2000" dirty="0"/>
              <a:t>PL/SQL</a:t>
            </a:r>
            <a:r>
              <a:rPr lang="he-IL" sz="2000" dirty="0"/>
              <a:t> הם אלו המתחילים </a:t>
            </a:r>
          </a:p>
          <a:p>
            <a:pPr algn="r" rtl="1">
              <a:buFontTx/>
              <a:buNone/>
            </a:pPr>
            <a:r>
              <a:rPr lang="he-IL" sz="2000" dirty="0"/>
              <a:t>	ב-</a:t>
            </a:r>
            <a:r>
              <a:rPr lang="en-US" sz="2000" dirty="0"/>
              <a:t>SELECT</a:t>
            </a:r>
            <a:r>
              <a:rPr lang="he-IL" sz="2000" dirty="0"/>
              <a:t>, </a:t>
            </a:r>
            <a:r>
              <a:rPr lang="en-US" sz="2000" dirty="0"/>
              <a:t>UPDATE</a:t>
            </a:r>
            <a:r>
              <a:rPr lang="he-IL" sz="2000" dirty="0"/>
              <a:t>, </a:t>
            </a:r>
            <a:r>
              <a:rPr lang="en-US" sz="2000" dirty="0"/>
              <a:t>DELETE</a:t>
            </a:r>
            <a:r>
              <a:rPr lang="he-IL" sz="2000" dirty="0"/>
              <a:t>. </a:t>
            </a:r>
          </a:p>
          <a:p>
            <a:pPr algn="r" rtl="1">
              <a:buFontTx/>
              <a:buNone/>
            </a:pPr>
            <a:endParaRPr lang="he-IL" sz="800" dirty="0"/>
          </a:p>
          <a:p>
            <a:pPr algn="r" rtl="1"/>
            <a:r>
              <a:rPr lang="he-IL" sz="2000" dirty="0"/>
              <a:t>חשוב להזכיר כי </a:t>
            </a:r>
            <a:r>
              <a:rPr lang="he-IL" sz="2000" b="1" dirty="0"/>
              <a:t>תחביר ה-</a:t>
            </a:r>
            <a:r>
              <a:rPr lang="en-US" sz="2000" b="1" dirty="0"/>
              <a:t>SELECT </a:t>
            </a:r>
            <a:r>
              <a:rPr lang="he-IL" sz="2000" b="1" dirty="0"/>
              <a:t> שונה מהרגיל</a:t>
            </a:r>
            <a:r>
              <a:rPr lang="he-IL" sz="2000" dirty="0"/>
              <a:t> (נראה בהמשך).</a:t>
            </a:r>
          </a:p>
          <a:p>
            <a:pPr algn="r" rtl="1"/>
            <a:endParaRPr lang="he-IL" sz="800" dirty="0"/>
          </a:p>
          <a:p>
            <a:pPr algn="r" rtl="1"/>
            <a:r>
              <a:rPr lang="he-IL" sz="2000" dirty="0"/>
              <a:t>משפטי הגדרה כמו </a:t>
            </a:r>
            <a:r>
              <a:rPr lang="en-US" sz="2000" dirty="0"/>
              <a:t>CREATE, DROP, ALTER </a:t>
            </a:r>
            <a:r>
              <a:rPr lang="he-IL" sz="2000" dirty="0"/>
              <a:t> </a:t>
            </a:r>
            <a:r>
              <a:rPr lang="he-IL" sz="2000" b="1" dirty="0"/>
              <a:t>אינם</a:t>
            </a:r>
            <a:r>
              <a:rPr lang="he-IL" sz="2000" dirty="0"/>
              <a:t> מותרים ב-</a:t>
            </a:r>
            <a:r>
              <a:rPr lang="en-US" sz="2000" dirty="0"/>
              <a:t>PL/SQL</a:t>
            </a:r>
            <a:r>
              <a:rPr lang="he-IL" sz="2000" dirty="0"/>
              <a:t>.</a:t>
            </a:r>
          </a:p>
          <a:p>
            <a:pPr algn="r" rtl="1"/>
            <a:endParaRPr lang="en-US" sz="800" dirty="0"/>
          </a:p>
          <a:p>
            <a:pPr algn="r" rtl="1"/>
            <a:r>
              <a:rPr lang="he-IL" sz="2000" dirty="0"/>
              <a:t>הכלים הפרוצדוראליים ש-</a:t>
            </a:r>
            <a:r>
              <a:rPr lang="en-US" sz="2000" dirty="0"/>
              <a:t>PL/SQL</a:t>
            </a:r>
            <a:r>
              <a:rPr lang="he-IL" sz="2000" dirty="0"/>
              <a:t> תומך בהם הם:</a:t>
            </a:r>
          </a:p>
          <a:p>
            <a:pPr algn="r" rtl="1">
              <a:buFontTx/>
              <a:buNone/>
            </a:pPr>
            <a:r>
              <a:rPr lang="he-IL" sz="2000" dirty="0"/>
              <a:t>	- השמות. </a:t>
            </a:r>
          </a:p>
          <a:p>
            <a:pPr algn="r" rtl="1">
              <a:buFontTx/>
              <a:buNone/>
            </a:pPr>
            <a:r>
              <a:rPr lang="he-IL" sz="2000" dirty="0"/>
              <a:t>	- התניות. </a:t>
            </a:r>
          </a:p>
          <a:p>
            <a:pPr algn="r" rtl="1">
              <a:buFontTx/>
              <a:buNone/>
            </a:pPr>
            <a:r>
              <a:rPr lang="he-IL" sz="2000" dirty="0"/>
              <a:t>	- לולאות. </a:t>
            </a:r>
          </a:p>
          <a:p>
            <a:pPr algn="r" rtl="1">
              <a:buFontTx/>
              <a:buNone/>
            </a:pPr>
            <a:r>
              <a:rPr lang="he-IL" sz="2000" dirty="0"/>
              <a:t>	- קריאות לפרוצדורות.</a:t>
            </a:r>
          </a:p>
          <a:p>
            <a:pPr algn="r" rtl="1">
              <a:buFontTx/>
              <a:buNone/>
            </a:pPr>
            <a:r>
              <a:rPr lang="he-IL" sz="2000" dirty="0"/>
              <a:t>  	- והדקים </a:t>
            </a:r>
            <a:r>
              <a:rPr lang="en-US" sz="2000" dirty="0"/>
              <a:t>(Triggers)</a:t>
            </a:r>
            <a:r>
              <a:rPr lang="he-IL" sz="2000" dirty="0"/>
              <a:t>. </a:t>
            </a:r>
            <a:endParaRPr lang="en-US" sz="2000" dirty="0"/>
          </a:p>
        </p:txBody>
      </p:sp>
      <p:sp>
        <p:nvSpPr>
          <p:cNvPr id="614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9pPr>
          </a:lstStyle>
          <a:p>
            <a:pPr eaLnBrk="1" hangingPunct="1"/>
            <a:fld id="{65C90CB0-24D6-41A8-A224-30BFD913467D}" type="slidenum">
              <a:rPr lang="he-IL" sz="1400"/>
              <a:pPr eaLnBrk="1" hangingPunct="1"/>
              <a:t>4</a:t>
            </a:fld>
            <a:endParaRPr lang="en-US" sz="1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en-US" sz="3600" b="1" dirty="0"/>
              <a:t>PL/SQL</a:t>
            </a:r>
            <a:r>
              <a:rPr lang="he-IL" sz="3600" b="1" dirty="0"/>
              <a:t> - הקדמה</a:t>
            </a:r>
            <a:endParaRPr lang="en-US" sz="3600" b="1" dirty="0"/>
          </a:p>
        </p:txBody>
      </p:sp>
      <p:sp>
        <p:nvSpPr>
          <p:cNvPr id="7172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676400"/>
            <a:ext cx="7772400" cy="4419600"/>
          </a:xfrm>
        </p:spPr>
        <p:txBody>
          <a:bodyPr/>
          <a:lstStyle/>
          <a:p>
            <a:pPr algn="r" rtl="1">
              <a:buFontTx/>
              <a:buNone/>
            </a:pPr>
            <a:endParaRPr lang="he-IL" sz="800" dirty="0"/>
          </a:p>
          <a:p>
            <a:pPr algn="r" rtl="1"/>
            <a:r>
              <a:rPr lang="en-US" sz="2000" dirty="0"/>
              <a:t>PL/SQL</a:t>
            </a:r>
            <a:r>
              <a:rPr lang="he-IL" sz="2000" dirty="0"/>
              <a:t> בדומה ל-</a:t>
            </a:r>
            <a:r>
              <a:rPr lang="en-US" sz="2000" dirty="0"/>
              <a:t>SQL</a:t>
            </a:r>
            <a:r>
              <a:rPr lang="he-IL" sz="2000" dirty="0"/>
              <a:t> אינו רגיש לאותיות קטנות/גדולות. </a:t>
            </a:r>
          </a:p>
          <a:p>
            <a:pPr algn="r" rtl="1"/>
            <a:endParaRPr lang="he-IL" sz="800" dirty="0"/>
          </a:p>
          <a:p>
            <a:pPr algn="r" rtl="1"/>
            <a:r>
              <a:rPr lang="he-IL" sz="2000" dirty="0"/>
              <a:t>ישנן שתי דרכים לסימון הערות בקוד </a:t>
            </a:r>
            <a:r>
              <a:rPr lang="en-US" sz="2000" dirty="0"/>
              <a:t>:</a:t>
            </a:r>
            <a:endParaRPr lang="he-IL" sz="2000" dirty="0"/>
          </a:p>
          <a:p>
            <a:pPr lvl="1" algn="r" rtl="1"/>
            <a:r>
              <a:rPr lang="he-IL" sz="1600" dirty="0">
                <a:cs typeface="Arial" charset="0"/>
              </a:rPr>
              <a:t>סימון שורה אחת, ע"י התווים '--'</a:t>
            </a:r>
          </a:p>
          <a:p>
            <a:pPr lvl="1" algn="r" rtl="1"/>
            <a:r>
              <a:rPr lang="he-IL" sz="1600" dirty="0">
                <a:cs typeface="Arial" charset="0"/>
              </a:rPr>
              <a:t>סימון כמה שורות בבת אחת (בדומה לשפת </a:t>
            </a:r>
            <a:r>
              <a:rPr lang="en-US" sz="1600" dirty="0">
                <a:cs typeface="Arial" charset="0"/>
              </a:rPr>
              <a:t>C</a:t>
            </a:r>
            <a:r>
              <a:rPr lang="he-IL" sz="1600" dirty="0">
                <a:cs typeface="Arial" charset="0"/>
              </a:rPr>
              <a:t>), ע"י התווים   </a:t>
            </a:r>
            <a:r>
              <a:rPr lang="en-US" sz="1600" dirty="0">
                <a:cs typeface="Arial" charset="0"/>
              </a:rPr>
              <a:t>/* …………….. */</a:t>
            </a:r>
            <a:r>
              <a:rPr lang="he-IL" sz="1600" dirty="0">
                <a:cs typeface="Arial" charset="0"/>
              </a:rPr>
              <a:t>.</a:t>
            </a:r>
          </a:p>
          <a:p>
            <a:pPr algn="r" rtl="1"/>
            <a:endParaRPr lang="en-US" sz="800" dirty="0"/>
          </a:p>
          <a:p>
            <a:pPr algn="r" rtl="1"/>
            <a:r>
              <a:rPr lang="he-IL" sz="2000" dirty="0"/>
              <a:t>כדי להריץ תוכנית </a:t>
            </a:r>
            <a:r>
              <a:rPr lang="en-US" sz="2000" dirty="0"/>
              <a:t>PL/SQL</a:t>
            </a:r>
            <a:r>
              <a:rPr lang="he-IL" sz="2000" dirty="0"/>
              <a:t> עלינו להוסיף 2 שורות בסוף התוכנית:</a:t>
            </a:r>
          </a:p>
          <a:p>
            <a:pPr algn="r" rtl="1">
              <a:buFontTx/>
              <a:buNone/>
            </a:pPr>
            <a:r>
              <a:rPr lang="he-IL" sz="2000" dirty="0"/>
              <a:t>	- הראשונה רק עם נקודה (</a:t>
            </a:r>
            <a:r>
              <a:rPr lang="en-US" sz="2000" dirty="0"/>
              <a:t>A line with single dot</a:t>
            </a:r>
            <a:r>
              <a:rPr lang="he-IL" sz="2000" dirty="0"/>
              <a:t>).</a:t>
            </a:r>
          </a:p>
          <a:p>
            <a:pPr algn="r" rtl="1">
              <a:buFontTx/>
              <a:buNone/>
            </a:pPr>
            <a:r>
              <a:rPr lang="he-IL" sz="2000" dirty="0"/>
              <a:t>	- ולאחריה שורה עם </a:t>
            </a:r>
            <a:r>
              <a:rPr lang="en-US" sz="2000" dirty="0"/>
              <a:t>run;</a:t>
            </a:r>
            <a:r>
              <a:rPr lang="he-IL" sz="2000" dirty="0"/>
              <a:t> (הסימן נקודה פסיק לאחר המלה </a:t>
            </a:r>
            <a:r>
              <a:rPr lang="en-US" sz="2000" dirty="0"/>
              <a:t>run</a:t>
            </a:r>
            <a:r>
              <a:rPr lang="he-IL" sz="2000" dirty="0"/>
              <a:t>). </a:t>
            </a:r>
          </a:p>
          <a:p>
            <a:pPr algn="r" rtl="1">
              <a:buFontTx/>
              <a:buNone/>
            </a:pPr>
            <a:endParaRPr lang="he-IL" sz="800" dirty="0"/>
          </a:p>
          <a:p>
            <a:pPr algn="r" rtl="1"/>
            <a:r>
              <a:rPr lang="he-IL" sz="2000" dirty="0"/>
              <a:t>או בשורה נפרדת בעזרת </a:t>
            </a:r>
            <a:r>
              <a:rPr lang="en-US" sz="2000" dirty="0"/>
              <a:t>/;</a:t>
            </a:r>
            <a:endParaRPr lang="he-IL" sz="2000" dirty="0"/>
          </a:p>
          <a:p>
            <a:pPr algn="r" rtl="1"/>
            <a:r>
              <a:rPr lang="he-IL" sz="2000" dirty="0"/>
              <a:t>הרצת התוכנית תתבצע בדומה להרצת שאילתות </a:t>
            </a:r>
            <a:r>
              <a:rPr lang="en-US" sz="2000" dirty="0"/>
              <a:t>SQL</a:t>
            </a:r>
            <a:r>
              <a:rPr lang="he-IL" sz="2000" dirty="0"/>
              <a:t>.</a:t>
            </a:r>
            <a:endParaRPr lang="en-US" sz="2000" dirty="0"/>
          </a:p>
        </p:txBody>
      </p:sp>
      <p:sp>
        <p:nvSpPr>
          <p:cNvPr id="717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9pPr>
          </a:lstStyle>
          <a:p>
            <a:pPr eaLnBrk="1" hangingPunct="1"/>
            <a:fld id="{B330FF02-2F34-4222-94DF-1D07DD997767}" type="slidenum">
              <a:rPr lang="he-IL" sz="1400"/>
              <a:pPr eaLnBrk="1" hangingPunct="1"/>
              <a:t>5</a:t>
            </a:fld>
            <a:endParaRPr lang="en-US" sz="1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en-US" sz="3600" b="1" dirty="0"/>
              <a:t>PL/SQL</a:t>
            </a:r>
            <a:r>
              <a:rPr lang="he-IL" sz="3600" b="1" dirty="0"/>
              <a:t> - טיפוסי נתונים</a:t>
            </a:r>
            <a:endParaRPr lang="en-US" sz="3600" b="1" dirty="0"/>
          </a:p>
        </p:txBody>
      </p:sp>
      <p:sp>
        <p:nvSpPr>
          <p:cNvPr id="8196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676400"/>
            <a:ext cx="7772400" cy="4419600"/>
          </a:xfrm>
        </p:spPr>
        <p:txBody>
          <a:bodyPr/>
          <a:lstStyle/>
          <a:p>
            <a:pPr algn="r" rtl="1"/>
            <a:r>
              <a:rPr lang="he-IL" sz="2000" dirty="0"/>
              <a:t>מידע בין תוכנית ה- </a:t>
            </a:r>
            <a:r>
              <a:rPr lang="en-US" sz="2000" dirty="0"/>
              <a:t>PL/SQL</a:t>
            </a:r>
            <a:r>
              <a:rPr lang="he-IL" sz="2000" dirty="0"/>
              <a:t> לבין בסיס הנתונים מועבר דרך משתנים. </a:t>
            </a:r>
          </a:p>
          <a:p>
            <a:pPr algn="r" rtl="1"/>
            <a:r>
              <a:rPr lang="he-IL" sz="2000" dirty="0"/>
              <a:t>ב-</a:t>
            </a:r>
            <a:r>
              <a:rPr lang="en-US" sz="2000" dirty="0"/>
              <a:t>PL/SQL </a:t>
            </a:r>
            <a:r>
              <a:rPr lang="he-IL" sz="2000" dirty="0"/>
              <a:t> שם משתנה חייב להתחיל באות, ואורכו המקסימלי יהיה 30 תווים.</a:t>
            </a:r>
          </a:p>
          <a:p>
            <a:pPr algn="r" rtl="1"/>
            <a:r>
              <a:rPr lang="he-IL" sz="2000" dirty="0"/>
              <a:t>טיפוסי המשתנים המותרים הם:</a:t>
            </a:r>
          </a:p>
          <a:p>
            <a:pPr lvl="1" algn="r" rtl="1"/>
            <a:r>
              <a:rPr lang="he-IL" sz="1600" dirty="0">
                <a:cs typeface="Arial" charset="0"/>
              </a:rPr>
              <a:t>טיפוסים שבהם אנו משתמשים ב-</a:t>
            </a:r>
            <a:r>
              <a:rPr lang="en-US" sz="1600" dirty="0">
                <a:cs typeface="Arial" charset="0"/>
              </a:rPr>
              <a:t>SQL</a:t>
            </a:r>
            <a:r>
              <a:rPr lang="he-IL" sz="1600" dirty="0">
                <a:cs typeface="Arial" charset="0"/>
              </a:rPr>
              <a:t> לשדות,וטיפוסים נוספים כגון </a:t>
            </a:r>
            <a:r>
              <a:rPr lang="en-US" sz="1600" dirty="0">
                <a:cs typeface="Arial" charset="0"/>
              </a:rPr>
              <a:t>BOOLEAN </a:t>
            </a:r>
            <a:r>
              <a:rPr lang="he-IL" sz="1600" dirty="0">
                <a:cs typeface="Arial" charset="0"/>
              </a:rPr>
              <a:t> (שאינו טיפוס שדה חוקי ב-</a:t>
            </a:r>
            <a:r>
              <a:rPr lang="en-US" sz="1600" dirty="0">
                <a:cs typeface="Arial" charset="0"/>
              </a:rPr>
              <a:t>SQL</a:t>
            </a:r>
            <a:r>
              <a:rPr lang="he-IL" sz="1600" dirty="0">
                <a:cs typeface="Arial" charset="0"/>
              </a:rPr>
              <a:t>).</a:t>
            </a:r>
            <a:endParaRPr lang="en-US" sz="1600" dirty="0">
              <a:cs typeface="Arial" charset="0"/>
            </a:endParaRPr>
          </a:p>
          <a:p>
            <a:pPr lvl="1" algn="r" rtl="1"/>
            <a:endParaRPr lang="en-US" sz="1600" dirty="0">
              <a:cs typeface="Arial" charset="0"/>
            </a:endParaRPr>
          </a:p>
          <a:p>
            <a:pPr algn="r" rtl="1">
              <a:buFontTx/>
              <a:buNone/>
            </a:pPr>
            <a:r>
              <a:rPr lang="he-IL" sz="2000" dirty="0"/>
              <a:t>	</a:t>
            </a:r>
          </a:p>
          <a:p>
            <a:pPr algn="r" rtl="1">
              <a:buFontTx/>
              <a:buNone/>
            </a:pPr>
            <a:endParaRPr lang="he-IL" sz="2000" dirty="0"/>
          </a:p>
          <a:p>
            <a:pPr algn="r" rtl="1">
              <a:buFontTx/>
              <a:buNone/>
            </a:pPr>
            <a:endParaRPr lang="he-IL" sz="2000" dirty="0"/>
          </a:p>
          <a:p>
            <a:pPr algn="r" rtl="1">
              <a:buFontTx/>
              <a:buNone/>
            </a:pPr>
            <a:endParaRPr lang="he-IL" sz="2000" dirty="0"/>
          </a:p>
          <a:p>
            <a:pPr algn="r" rtl="1">
              <a:buFontTx/>
              <a:buNone/>
            </a:pPr>
            <a:endParaRPr lang="he-IL" sz="2000" dirty="0"/>
          </a:p>
          <a:p>
            <a:pPr algn="r" rtl="1">
              <a:buFontTx/>
              <a:buNone/>
            </a:pPr>
            <a:endParaRPr lang="he-IL" sz="2000" dirty="0"/>
          </a:p>
          <a:p>
            <a:pPr algn="r" rtl="1">
              <a:buFontTx/>
              <a:buNone/>
            </a:pPr>
            <a:endParaRPr lang="he-IL" sz="2000" dirty="0"/>
          </a:p>
        </p:txBody>
      </p:sp>
      <p:sp>
        <p:nvSpPr>
          <p:cNvPr id="819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9pPr>
          </a:lstStyle>
          <a:p>
            <a:pPr eaLnBrk="1" hangingPunct="1"/>
            <a:fld id="{D6EF8B0A-82D4-4E79-8A8A-7891947D6D21}" type="slidenum">
              <a:rPr lang="he-IL" sz="1400"/>
              <a:pPr eaLnBrk="1" hangingPunct="1"/>
              <a:t>6</a:t>
            </a:fld>
            <a:endParaRPr lang="en-US" sz="1400"/>
          </a:p>
        </p:txBody>
      </p:sp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3657600"/>
            <a:ext cx="6337300" cy="289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en-US" sz="3600" b="1" dirty="0"/>
              <a:t>PL/SQL</a:t>
            </a:r>
            <a:r>
              <a:rPr lang="he-IL" sz="3600" b="1" dirty="0"/>
              <a:t> - טיפוסי נתונים</a:t>
            </a:r>
            <a:endParaRPr lang="en-US" sz="3600" b="1" dirty="0"/>
          </a:p>
        </p:txBody>
      </p:sp>
      <p:sp>
        <p:nvSpPr>
          <p:cNvPr id="5124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676400"/>
            <a:ext cx="7772400" cy="4419600"/>
          </a:xfrm>
        </p:spPr>
        <p:txBody>
          <a:bodyPr/>
          <a:lstStyle/>
          <a:p>
            <a:pPr algn="r" rtl="1">
              <a:buFontTx/>
              <a:buNone/>
              <a:defRPr/>
            </a:pPr>
            <a:endParaRPr lang="he-IL" sz="2000" dirty="0"/>
          </a:p>
          <a:p>
            <a:pPr algn="r" rtl="1">
              <a:buFontTx/>
              <a:buNone/>
              <a:defRPr/>
            </a:pPr>
            <a:r>
              <a:rPr lang="he-IL" sz="2000" dirty="0"/>
              <a:t>דוגמה להגדרה:</a:t>
            </a:r>
          </a:p>
          <a:p>
            <a:pPr algn="r" rtl="1">
              <a:buFontTx/>
              <a:buNone/>
              <a:defRPr/>
            </a:pPr>
            <a:endParaRPr lang="en-US" sz="2000" dirty="0"/>
          </a:p>
        </p:txBody>
      </p:sp>
      <p:sp>
        <p:nvSpPr>
          <p:cNvPr id="921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9pPr>
          </a:lstStyle>
          <a:p>
            <a:pPr eaLnBrk="1" hangingPunct="1"/>
            <a:fld id="{842EFD16-6229-4880-A0CF-669E76F16A8D}" type="slidenum">
              <a:rPr lang="he-IL" sz="1400"/>
              <a:pPr eaLnBrk="1" hangingPunct="1"/>
              <a:t>7</a:t>
            </a:fld>
            <a:endParaRPr lang="en-US" sz="140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1825" y="2895600"/>
            <a:ext cx="3200400" cy="1219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en-US" sz="3600" b="1" dirty="0"/>
              <a:t>PL/SQL</a:t>
            </a:r>
            <a:r>
              <a:rPr lang="he-IL" sz="3600" b="1" dirty="0"/>
              <a:t> - טיפוסי נתונים</a:t>
            </a:r>
            <a:endParaRPr lang="en-US" sz="3600" b="1" dirty="0"/>
          </a:p>
        </p:txBody>
      </p:sp>
      <p:sp>
        <p:nvSpPr>
          <p:cNvPr id="5124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676400"/>
            <a:ext cx="7772400" cy="4419600"/>
          </a:xfrm>
        </p:spPr>
        <p:txBody>
          <a:bodyPr/>
          <a:lstStyle/>
          <a:p>
            <a:pPr algn="r" rtl="1">
              <a:buFontTx/>
              <a:buNone/>
              <a:defRPr/>
            </a:pPr>
            <a:endParaRPr lang="en-US" sz="800" dirty="0"/>
          </a:p>
          <a:p>
            <a:pPr algn="r" rtl="1">
              <a:defRPr/>
            </a:pPr>
            <a:r>
              <a:rPr lang="he-IL" sz="2000" dirty="0"/>
              <a:t>במקרים רבים, משתנה משמש לצורך ביצוע מניפולציות על מידע שמאוחסן בטבלה קיימת. </a:t>
            </a:r>
          </a:p>
          <a:p>
            <a:pPr algn="r" rtl="1">
              <a:buFontTx/>
              <a:buNone/>
              <a:defRPr/>
            </a:pPr>
            <a:r>
              <a:rPr lang="he-IL" sz="2000" dirty="0"/>
              <a:t>	במקרה זה וכדי למנוע טעות בהגדרת המשתנה, מגדירים אותו בדיוק כטיפוס השדה על ידי הסימון </a:t>
            </a:r>
            <a:r>
              <a:rPr lang="en-US" sz="2000" dirty="0"/>
              <a:t>%TYPE</a:t>
            </a:r>
            <a:r>
              <a:rPr lang="he-IL" sz="2000" dirty="0"/>
              <a:t>.</a:t>
            </a:r>
          </a:p>
          <a:p>
            <a:pPr algn="r" rtl="1">
              <a:buFontTx/>
              <a:buNone/>
              <a:defRPr/>
            </a:pPr>
            <a:r>
              <a:rPr lang="he-IL" sz="2000" dirty="0"/>
              <a:t>	- לדוגמא:</a:t>
            </a:r>
            <a:endParaRPr lang="en-US" sz="2000" dirty="0"/>
          </a:p>
          <a:p>
            <a:pPr algn="l">
              <a:buFontTx/>
              <a:buNone/>
              <a:defRPr/>
            </a:pPr>
            <a:endParaRPr lang="en-US" sz="2000" dirty="0"/>
          </a:p>
          <a:p>
            <a:pPr algn="ctr" rtl="1">
              <a:buFontTx/>
              <a:buNone/>
              <a:defRPr/>
            </a:pPr>
            <a:endParaRPr lang="he-IL" sz="2000" dirty="0">
              <a:solidFill>
                <a:srgbClr val="FFFF00"/>
              </a:solidFill>
            </a:endParaRPr>
          </a:p>
          <a:p>
            <a:pPr algn="ctr" rtl="1">
              <a:buFontTx/>
              <a:buNone/>
              <a:defRPr/>
            </a:pPr>
            <a:endParaRPr lang="he-IL" sz="2000" dirty="0">
              <a:solidFill>
                <a:srgbClr val="FFFF00"/>
              </a:solidFill>
            </a:endParaRPr>
          </a:p>
          <a:p>
            <a:pPr algn="ctr" rtl="1">
              <a:buFontTx/>
              <a:buNone/>
              <a:defRPr/>
            </a:pPr>
            <a:r>
              <a:rPr lang="he-IL" sz="2000" dirty="0">
                <a:solidFill>
                  <a:srgbClr val="FFFF00"/>
                </a:solidFill>
              </a:rPr>
              <a:t>מגדיר משתנה ששמו </a:t>
            </a:r>
            <a:r>
              <a:rPr lang="en-US" sz="2000" dirty="0" err="1">
                <a:solidFill>
                  <a:srgbClr val="FFFF00"/>
                </a:solidFill>
              </a:rPr>
              <a:t>FirstNum</a:t>
            </a:r>
            <a:r>
              <a:rPr lang="he-IL" sz="2000" dirty="0">
                <a:solidFill>
                  <a:srgbClr val="FFFF00"/>
                </a:solidFill>
              </a:rPr>
              <a:t> שהוא כטיפוס השדה </a:t>
            </a:r>
            <a:r>
              <a:rPr lang="en-US" sz="2000" dirty="0">
                <a:solidFill>
                  <a:srgbClr val="FFFF00"/>
                </a:solidFill>
              </a:rPr>
              <a:t>Num1</a:t>
            </a:r>
            <a:r>
              <a:rPr lang="he-IL" sz="2000" dirty="0">
                <a:solidFill>
                  <a:srgbClr val="FFFF00"/>
                </a:solidFill>
              </a:rPr>
              <a:t> ב-</a:t>
            </a:r>
            <a:r>
              <a:rPr lang="en-US" sz="2000" dirty="0">
                <a:solidFill>
                  <a:srgbClr val="FFFF00"/>
                </a:solidFill>
              </a:rPr>
              <a:t>Table1</a:t>
            </a:r>
            <a:r>
              <a:rPr lang="he-IL" sz="2000" dirty="0">
                <a:solidFill>
                  <a:srgbClr val="FFFF00"/>
                </a:solidFill>
              </a:rPr>
              <a:t>.</a:t>
            </a:r>
          </a:p>
          <a:p>
            <a:pPr algn="ctr" rtl="1">
              <a:buFontTx/>
              <a:buNone/>
              <a:defRPr/>
            </a:pPr>
            <a:endParaRPr lang="he-IL" sz="2000" dirty="0">
              <a:solidFill>
                <a:schemeClr val="accent6"/>
              </a:solidFill>
            </a:endParaRPr>
          </a:p>
        </p:txBody>
      </p:sp>
      <p:sp>
        <p:nvSpPr>
          <p:cNvPr id="1024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9pPr>
          </a:lstStyle>
          <a:p>
            <a:pPr eaLnBrk="1" hangingPunct="1"/>
            <a:fld id="{4571D648-6CF9-4FCF-8783-A30466B89CAB}" type="slidenum">
              <a:rPr lang="he-IL" sz="1400"/>
              <a:pPr eaLnBrk="1" hangingPunct="1"/>
              <a:t>8</a:t>
            </a:fld>
            <a:endParaRPr lang="en-US" sz="140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2205" y="3371850"/>
            <a:ext cx="4119995" cy="742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en-US" sz="3600" b="1" dirty="0"/>
              <a:t>PL/SQL</a:t>
            </a:r>
            <a:r>
              <a:rPr lang="he-IL" sz="3600" b="1" dirty="0"/>
              <a:t> - טיפוסי נתונים</a:t>
            </a:r>
            <a:endParaRPr lang="en-US" sz="3600" b="1" dirty="0"/>
          </a:p>
        </p:txBody>
      </p:sp>
      <p:sp>
        <p:nvSpPr>
          <p:cNvPr id="5124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676400"/>
            <a:ext cx="7772400" cy="4419600"/>
          </a:xfrm>
        </p:spPr>
        <p:txBody>
          <a:bodyPr/>
          <a:lstStyle/>
          <a:p>
            <a:pPr algn="r" rtl="1">
              <a:buFontTx/>
              <a:buNone/>
              <a:defRPr/>
            </a:pPr>
            <a:endParaRPr lang="en-US" sz="800" dirty="0"/>
          </a:p>
          <a:p>
            <a:pPr algn="r" rtl="1">
              <a:defRPr/>
            </a:pPr>
            <a:r>
              <a:rPr lang="he-IL" sz="2000" dirty="0"/>
              <a:t>משתנה יכול להיות מטיפוס רשומה עם כמה שדות. הדרך הפשוטה להגדרה היא על ידי </a:t>
            </a:r>
            <a:r>
              <a:rPr lang="en-US" sz="2000" dirty="0"/>
              <a:t>%ROWTYPE</a:t>
            </a:r>
            <a:r>
              <a:rPr lang="he-IL" sz="2000" dirty="0"/>
              <a:t>:</a:t>
            </a:r>
            <a:endParaRPr lang="en-US" sz="2000" dirty="0"/>
          </a:p>
          <a:p>
            <a:pPr algn="l">
              <a:buFontTx/>
              <a:buNone/>
              <a:defRPr/>
            </a:pPr>
            <a:endParaRPr lang="en-US" sz="2000" dirty="0"/>
          </a:p>
          <a:p>
            <a:pPr algn="ctr" rtl="1">
              <a:buFontTx/>
              <a:buNone/>
              <a:defRPr/>
            </a:pPr>
            <a:endParaRPr lang="he-IL" sz="2000" dirty="0">
              <a:solidFill>
                <a:srgbClr val="FFFF00"/>
              </a:solidFill>
            </a:endParaRPr>
          </a:p>
          <a:p>
            <a:pPr algn="ctr" rtl="1">
              <a:buFontTx/>
              <a:buNone/>
              <a:defRPr/>
            </a:pPr>
            <a:endParaRPr lang="he-IL" sz="2000" dirty="0">
              <a:solidFill>
                <a:srgbClr val="FFFF00"/>
              </a:solidFill>
            </a:endParaRPr>
          </a:p>
          <a:p>
            <a:pPr algn="ctr" rtl="1">
              <a:buFontTx/>
              <a:buNone/>
              <a:defRPr/>
            </a:pPr>
            <a:endParaRPr lang="he-IL" sz="2000" dirty="0">
              <a:solidFill>
                <a:srgbClr val="FFFF00"/>
              </a:solidFill>
            </a:endParaRPr>
          </a:p>
          <a:p>
            <a:pPr algn="ctr" rtl="1">
              <a:buFontTx/>
              <a:buNone/>
              <a:defRPr/>
            </a:pPr>
            <a:endParaRPr lang="he-IL" sz="2000" dirty="0">
              <a:solidFill>
                <a:srgbClr val="FFFF00"/>
              </a:solidFill>
            </a:endParaRPr>
          </a:p>
          <a:p>
            <a:pPr algn="r" rtl="1">
              <a:buFontTx/>
              <a:buNone/>
              <a:defRPr/>
            </a:pPr>
            <a:r>
              <a:rPr lang="he-IL" sz="2000" dirty="0">
                <a:solidFill>
                  <a:srgbClr val="FFFF00"/>
                </a:solidFill>
              </a:rPr>
              <a:t>יוצר משתנה </a:t>
            </a:r>
            <a:r>
              <a:rPr lang="en-US" sz="2000" dirty="0" err="1">
                <a:solidFill>
                  <a:srgbClr val="FFFF00"/>
                </a:solidFill>
              </a:rPr>
              <a:t>NumbersTuple</a:t>
            </a:r>
            <a:r>
              <a:rPr lang="he-IL" sz="2000" dirty="0">
                <a:solidFill>
                  <a:srgbClr val="FFFF00"/>
                </a:solidFill>
              </a:rPr>
              <a:t> להיות רשומה  עם השדות </a:t>
            </a:r>
            <a:r>
              <a:rPr lang="en-US" sz="2000" dirty="0">
                <a:solidFill>
                  <a:srgbClr val="FFFF00"/>
                </a:solidFill>
              </a:rPr>
              <a:t>Num1,Num2,Num3</a:t>
            </a:r>
            <a:r>
              <a:rPr lang="he-IL" sz="2000" dirty="0">
                <a:solidFill>
                  <a:srgbClr val="FFFF00"/>
                </a:solidFill>
              </a:rPr>
              <a:t> ( מתוך ידיעה שה-</a:t>
            </a:r>
            <a:r>
              <a:rPr lang="en-US" sz="2000" dirty="0">
                <a:solidFill>
                  <a:srgbClr val="FFFF00"/>
                </a:solidFill>
              </a:rPr>
              <a:t>Relation</a:t>
            </a:r>
            <a:r>
              <a:rPr lang="he-IL" sz="2000" dirty="0">
                <a:solidFill>
                  <a:srgbClr val="FFFF00"/>
                </a:solidFill>
              </a:rPr>
              <a:t> ששמו </a:t>
            </a:r>
            <a:r>
              <a:rPr lang="en-US" sz="2000" dirty="0">
                <a:solidFill>
                  <a:srgbClr val="FFFF00"/>
                </a:solidFill>
              </a:rPr>
              <a:t>Table1</a:t>
            </a:r>
            <a:r>
              <a:rPr lang="he-IL" sz="2000" dirty="0">
                <a:solidFill>
                  <a:srgbClr val="FFFF00"/>
                </a:solidFill>
              </a:rPr>
              <a:t> הוא הסכימה   </a:t>
            </a:r>
            <a:r>
              <a:rPr lang="en-US" sz="2000" dirty="0">
                <a:solidFill>
                  <a:srgbClr val="FFFF00"/>
                </a:solidFill>
              </a:rPr>
              <a:t>Table1(Num1,Num2,Num3)</a:t>
            </a:r>
            <a:r>
              <a:rPr lang="he-IL" sz="2000" dirty="0">
                <a:solidFill>
                  <a:srgbClr val="FFFF00"/>
                </a:solidFill>
              </a:rPr>
              <a:t>).</a:t>
            </a:r>
            <a:endParaRPr lang="en-US" sz="2000" dirty="0">
              <a:solidFill>
                <a:srgbClr val="FFFF00"/>
              </a:solidFill>
            </a:endParaRPr>
          </a:p>
        </p:txBody>
      </p:sp>
      <p:sp>
        <p:nvSpPr>
          <p:cNvPr id="1126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9pPr>
          </a:lstStyle>
          <a:p>
            <a:pPr eaLnBrk="1" hangingPunct="1"/>
            <a:fld id="{57534367-E248-41DC-B772-93BE0F2548F5}" type="slidenum">
              <a:rPr lang="he-IL" sz="1400"/>
              <a:pPr eaLnBrk="1" hangingPunct="1"/>
              <a:t>9</a:t>
            </a:fld>
            <a:endParaRPr lang="en-US" sz="140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7460" y="2895600"/>
            <a:ext cx="4701540" cy="8395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en-US" sz="3600" b="1" dirty="0"/>
              <a:t>PL/SQL</a:t>
            </a:r>
            <a:r>
              <a:rPr lang="he-IL" sz="3600" b="1" dirty="0"/>
              <a:t> - טיפוסי נתונים</a:t>
            </a:r>
            <a:endParaRPr lang="en-US" sz="3600" b="1" dirty="0"/>
          </a:p>
        </p:txBody>
      </p:sp>
      <p:sp>
        <p:nvSpPr>
          <p:cNvPr id="12292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676400"/>
            <a:ext cx="7772400" cy="4419600"/>
          </a:xfrm>
        </p:spPr>
        <p:txBody>
          <a:bodyPr/>
          <a:lstStyle/>
          <a:p>
            <a:pPr algn="r" rtl="1">
              <a:buFontTx/>
              <a:buNone/>
            </a:pPr>
            <a:endParaRPr lang="en-US" sz="800" dirty="0"/>
          </a:p>
          <a:p>
            <a:pPr algn="r" rtl="1"/>
            <a:r>
              <a:rPr lang="he-IL" sz="2000" dirty="0"/>
              <a:t>ערכו ההתחלתי של כל משתנה, ללא תלות בטיפוסו, הוא </a:t>
            </a:r>
            <a:r>
              <a:rPr lang="en-US" sz="2000" dirty="0"/>
              <a:t>NULL</a:t>
            </a:r>
            <a:r>
              <a:rPr lang="he-IL" sz="2000" dirty="0"/>
              <a:t>. </a:t>
            </a:r>
          </a:p>
          <a:p>
            <a:pPr algn="r" rtl="1"/>
            <a:r>
              <a:rPr lang="he-IL" sz="2000" dirty="0"/>
              <a:t>ניתן לבצע השמה למשתנים על ידי האופרטור =: (נקודותיים שווה). </a:t>
            </a:r>
          </a:p>
          <a:p>
            <a:pPr algn="r" rtl="1"/>
            <a:r>
              <a:rPr lang="he-IL" sz="2000" dirty="0"/>
              <a:t>ניתן לבצע השמה למשתנה גם בזמן הגדרה. </a:t>
            </a:r>
          </a:p>
          <a:p>
            <a:pPr algn="r" rtl="1"/>
            <a:r>
              <a:rPr lang="he-IL" sz="2000" dirty="0"/>
              <a:t>כדוגמה:</a:t>
            </a:r>
            <a:endParaRPr lang="en-US" sz="2000" dirty="0"/>
          </a:p>
          <a:p>
            <a:pPr algn="l">
              <a:buFontTx/>
              <a:buNone/>
            </a:pPr>
            <a:r>
              <a:rPr lang="he-IL" sz="2000" dirty="0"/>
              <a:t> </a:t>
            </a:r>
            <a:endParaRPr lang="en-US" sz="2000" dirty="0"/>
          </a:p>
        </p:txBody>
      </p:sp>
      <p:sp>
        <p:nvSpPr>
          <p:cNvPr id="1229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9pPr>
          </a:lstStyle>
          <a:p>
            <a:pPr eaLnBrk="1" hangingPunct="1"/>
            <a:fld id="{04781365-39A8-48CF-9090-D35F62CE3EFC}" type="slidenum">
              <a:rPr lang="he-IL" sz="1400"/>
              <a:pPr eaLnBrk="1" hangingPunct="1"/>
              <a:t>10</a:t>
            </a:fld>
            <a:endParaRPr lang="en-US" sz="140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0" y="3505200"/>
            <a:ext cx="1943100" cy="21220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en-US" sz="3600" b="1" dirty="0"/>
              <a:t>PL/SQL</a:t>
            </a:r>
            <a:r>
              <a:rPr lang="he-IL" sz="3600" b="1" dirty="0"/>
              <a:t> - </a:t>
            </a:r>
            <a:r>
              <a:rPr lang="en-US" sz="3600" b="1" dirty="0"/>
              <a:t>Select Into</a:t>
            </a:r>
          </a:p>
        </p:txBody>
      </p:sp>
      <p:sp>
        <p:nvSpPr>
          <p:cNvPr id="13316" name="Rectangle 3"/>
          <p:cNvSpPr>
            <a:spLocks noGrp="1" noChangeArrowheads="1"/>
          </p:cNvSpPr>
          <p:nvPr>
            <p:ph idx="1"/>
          </p:nvPr>
        </p:nvSpPr>
        <p:spPr>
          <a:xfrm>
            <a:off x="1143000" y="1676400"/>
            <a:ext cx="7315200" cy="4800600"/>
          </a:xfrm>
        </p:spPr>
        <p:txBody>
          <a:bodyPr/>
          <a:lstStyle/>
          <a:p>
            <a:pPr algn="r" rtl="1"/>
            <a:r>
              <a:rPr lang="he-IL" sz="2000" dirty="0"/>
              <a:t>השינוי העיקרי ששונה מהצורה של </a:t>
            </a:r>
            <a:r>
              <a:rPr lang="en-US" sz="2000" dirty="0"/>
              <a:t>SQL</a:t>
            </a:r>
            <a:r>
              <a:rPr lang="he-IL" sz="2000" dirty="0"/>
              <a:t> הוא בפקודה של </a:t>
            </a:r>
            <a:r>
              <a:rPr lang="en-US" sz="2000" dirty="0"/>
              <a:t> SELECT</a:t>
            </a:r>
            <a:r>
              <a:rPr lang="he-IL" sz="2000" dirty="0"/>
              <a:t>.</a:t>
            </a:r>
          </a:p>
          <a:p>
            <a:pPr algn="r" rtl="1"/>
            <a:r>
              <a:rPr lang="he-IL" sz="2000" dirty="0"/>
              <a:t>אחרי ה-</a:t>
            </a:r>
            <a:r>
              <a:rPr lang="en-US" sz="2000" dirty="0"/>
              <a:t>SELECT </a:t>
            </a:r>
            <a:r>
              <a:rPr lang="he-IL" sz="2000" dirty="0"/>
              <a:t> ושדותיו, </a:t>
            </a:r>
            <a:r>
              <a:rPr lang="he-IL" sz="2000" b="1" dirty="0"/>
              <a:t>חייבת</a:t>
            </a:r>
            <a:r>
              <a:rPr lang="he-IL" sz="2000" dirty="0"/>
              <a:t> לבוא המלה </a:t>
            </a:r>
            <a:r>
              <a:rPr lang="en-US" sz="2000" dirty="0"/>
              <a:t>INTO</a:t>
            </a:r>
            <a:r>
              <a:rPr lang="he-IL" sz="2000" dirty="0"/>
              <a:t> ורשימת משתנים לשם ייכנסו מרכיבי </a:t>
            </a:r>
            <a:r>
              <a:rPr lang="he-IL" sz="2000" b="1" u="sng" dirty="0"/>
              <a:t>השורה</a:t>
            </a:r>
            <a:r>
              <a:rPr lang="he-IL" sz="2000" dirty="0"/>
              <a:t> המוחזרת מה-</a:t>
            </a:r>
            <a:r>
              <a:rPr lang="en-US" sz="2000" dirty="0"/>
              <a:t>SELECT</a:t>
            </a:r>
            <a:r>
              <a:rPr lang="he-IL" sz="2000" dirty="0"/>
              <a:t>.</a:t>
            </a:r>
          </a:p>
          <a:p>
            <a:pPr algn="r" rtl="1"/>
            <a:r>
              <a:rPr lang="he-IL" sz="2000" dirty="0"/>
              <a:t>משתנה אחד לכל שדה של ה-</a:t>
            </a:r>
            <a:r>
              <a:rPr lang="en-US" sz="2000" dirty="0"/>
              <a:t>SELECT</a:t>
            </a:r>
            <a:r>
              <a:rPr lang="he-IL" sz="2000" dirty="0"/>
              <a:t> .</a:t>
            </a:r>
          </a:p>
          <a:p>
            <a:pPr algn="r" rtl="1"/>
            <a:endParaRPr lang="he-IL" sz="2000" dirty="0"/>
          </a:p>
          <a:p>
            <a:pPr marL="0" indent="0" algn="ctr" rtl="1">
              <a:buNone/>
            </a:pPr>
            <a:r>
              <a:rPr lang="he-IL" sz="2000" dirty="0">
                <a:solidFill>
                  <a:srgbClr val="FFFF00"/>
                </a:solidFill>
              </a:rPr>
              <a:t>ב-</a:t>
            </a:r>
            <a:r>
              <a:rPr lang="en-US" sz="2000" dirty="0">
                <a:solidFill>
                  <a:srgbClr val="FFFF00"/>
                </a:solidFill>
              </a:rPr>
              <a:t>PL/SQL </a:t>
            </a:r>
            <a:r>
              <a:rPr lang="he-IL" sz="2000" dirty="0">
                <a:solidFill>
                  <a:srgbClr val="FFFF00"/>
                </a:solidFill>
              </a:rPr>
              <a:t> ה- </a:t>
            </a:r>
            <a:r>
              <a:rPr lang="en-US" sz="2000" dirty="0">
                <a:solidFill>
                  <a:srgbClr val="FFFF00"/>
                </a:solidFill>
              </a:rPr>
              <a:t>SELECT</a:t>
            </a:r>
            <a:endParaRPr lang="he-IL" sz="2000" dirty="0">
              <a:solidFill>
                <a:srgbClr val="FFFF00"/>
              </a:solidFill>
            </a:endParaRPr>
          </a:p>
          <a:p>
            <a:pPr marL="0" indent="0" algn="ctr" rtl="1">
              <a:buNone/>
            </a:pPr>
            <a:r>
              <a:rPr lang="he-IL" sz="2000" b="1" dirty="0">
                <a:solidFill>
                  <a:srgbClr val="FFFF00"/>
                </a:solidFill>
              </a:rPr>
              <a:t>יעבוד רק אם תוצאת השאילתה היא שורה בודדת</a:t>
            </a:r>
            <a:r>
              <a:rPr lang="he-IL" sz="2000" dirty="0">
                <a:solidFill>
                  <a:srgbClr val="FFFF00"/>
                </a:solidFill>
              </a:rPr>
              <a:t>. </a:t>
            </a:r>
          </a:p>
          <a:p>
            <a:pPr marL="0" indent="0" algn="ctr" rtl="1">
              <a:buNone/>
            </a:pPr>
            <a:endParaRPr lang="he-IL" sz="2000" dirty="0">
              <a:solidFill>
                <a:srgbClr val="FFFF00"/>
              </a:solidFill>
            </a:endParaRPr>
          </a:p>
          <a:p>
            <a:pPr marL="0" indent="0" algn="ctr" rtl="1">
              <a:buNone/>
            </a:pPr>
            <a:r>
              <a:rPr lang="he-IL" sz="2000" dirty="0">
                <a:solidFill>
                  <a:srgbClr val="FFFF00"/>
                </a:solidFill>
              </a:rPr>
              <a:t>במקרים שתוצאת השאילתה מחזירה יותר משורה בודדת, יש לעבוד עם </a:t>
            </a:r>
            <a:r>
              <a:rPr lang="en-US" sz="2000" dirty="0">
                <a:solidFill>
                  <a:srgbClr val="FFFF00"/>
                </a:solidFill>
              </a:rPr>
              <a:t>Cursor</a:t>
            </a:r>
            <a:r>
              <a:rPr lang="he-IL" sz="2000" dirty="0">
                <a:solidFill>
                  <a:srgbClr val="FFFF00"/>
                </a:solidFill>
              </a:rPr>
              <a:t> (סמן, מצביע), כפי שיתואר בהמשך.</a:t>
            </a:r>
            <a:endParaRPr lang="en-US" sz="2000" dirty="0">
              <a:solidFill>
                <a:srgbClr val="FFFF00"/>
              </a:solidFill>
            </a:endParaRPr>
          </a:p>
        </p:txBody>
      </p:sp>
      <p:sp>
        <p:nvSpPr>
          <p:cNvPr id="1331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9pPr>
          </a:lstStyle>
          <a:p>
            <a:pPr eaLnBrk="1" hangingPunct="1"/>
            <a:fld id="{533CC0C9-4613-4A04-8E29-6234E3B7FDD7}" type="slidenum">
              <a:rPr lang="he-IL" sz="1400"/>
              <a:pPr eaLnBrk="1" hangingPunct="1"/>
              <a:t>11</a:t>
            </a:fld>
            <a:endParaRPr lang="en-US" sz="1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en-US" sz="3600" b="1" dirty="0"/>
              <a:t>PL/SQL</a:t>
            </a:r>
            <a:r>
              <a:rPr lang="he-IL" sz="3600" b="1" dirty="0"/>
              <a:t> - </a:t>
            </a:r>
            <a:r>
              <a:rPr lang="en-US" sz="3600" b="1" dirty="0"/>
              <a:t>Select Into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idx="1"/>
          </p:nvPr>
        </p:nvSpPr>
        <p:spPr>
          <a:xfrm>
            <a:off x="1143000" y="1676400"/>
            <a:ext cx="7315200" cy="4800600"/>
          </a:xfrm>
        </p:spPr>
        <p:txBody>
          <a:bodyPr/>
          <a:lstStyle/>
          <a:p>
            <a:pPr algn="r" rtl="1">
              <a:defRPr/>
            </a:pPr>
            <a:r>
              <a:rPr lang="he-IL" sz="2000" dirty="0"/>
              <a:t>דוגמה:</a:t>
            </a:r>
          </a:p>
        </p:txBody>
      </p:sp>
      <p:sp>
        <p:nvSpPr>
          <p:cNvPr id="1433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9pPr>
          </a:lstStyle>
          <a:p>
            <a:pPr eaLnBrk="1" hangingPunct="1"/>
            <a:fld id="{F4C5AC8E-B3F9-481F-81A1-78BB38126DE9}" type="slidenum">
              <a:rPr lang="he-IL" sz="1400"/>
              <a:pPr eaLnBrk="1" hangingPunct="1"/>
              <a:t>12</a:t>
            </a:fld>
            <a:endParaRPr lang="en-US" sz="140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2209800"/>
            <a:ext cx="5119688" cy="40562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en-US" sz="3600" b="1" dirty="0"/>
              <a:t>PL/SQL</a:t>
            </a:r>
            <a:r>
              <a:rPr lang="he-IL" sz="3600" b="1" dirty="0"/>
              <a:t> – צפייה בתוצאות</a:t>
            </a:r>
            <a:endParaRPr lang="en-US" sz="3600" b="1" dirty="0"/>
          </a:p>
        </p:txBody>
      </p:sp>
      <p:sp>
        <p:nvSpPr>
          <p:cNvPr id="15364" name="Rectangle 3"/>
          <p:cNvSpPr>
            <a:spLocks noGrp="1" noChangeArrowheads="1"/>
          </p:cNvSpPr>
          <p:nvPr>
            <p:ph idx="1"/>
          </p:nvPr>
        </p:nvSpPr>
        <p:spPr>
          <a:xfrm>
            <a:off x="1143000" y="1600200"/>
            <a:ext cx="7315200" cy="5029200"/>
          </a:xfrm>
        </p:spPr>
        <p:txBody>
          <a:bodyPr/>
          <a:lstStyle/>
          <a:p>
            <a:pPr algn="r" rtl="1"/>
            <a:r>
              <a:rPr lang="he-IL" sz="2000" dirty="0"/>
              <a:t>שיטה א' : שימוש בטבלה.</a:t>
            </a:r>
          </a:p>
          <a:p>
            <a:pPr marL="800100" lvl="1" indent="-342900" algn="r" rtl="1">
              <a:buFontTx/>
              <a:buAutoNum type="arabicPeriod"/>
            </a:pPr>
            <a:r>
              <a:rPr lang="he-IL" sz="1800" dirty="0">
                <a:cs typeface="Arial" charset="0"/>
              </a:rPr>
              <a:t>ניצור טבלה:</a:t>
            </a:r>
          </a:p>
          <a:p>
            <a:pPr marL="800100" lvl="1" indent="-342900" algn="r" rtl="1">
              <a:buFontTx/>
              <a:buAutoNum type="arabicPeriod"/>
            </a:pPr>
            <a:endParaRPr lang="he-IL" sz="1800" dirty="0">
              <a:cs typeface="Arial" charset="0"/>
            </a:endParaRPr>
          </a:p>
          <a:p>
            <a:pPr marL="800100" lvl="1" indent="-342900" algn="r" rtl="1">
              <a:buFontTx/>
              <a:buAutoNum type="arabicPeriod"/>
            </a:pPr>
            <a:endParaRPr lang="he-IL" sz="1800" dirty="0">
              <a:cs typeface="Arial" charset="0"/>
            </a:endParaRPr>
          </a:p>
          <a:p>
            <a:pPr marL="800100" lvl="1" indent="-342900" algn="r" rtl="1">
              <a:buFontTx/>
              <a:buAutoNum type="arabicPeriod"/>
            </a:pPr>
            <a:endParaRPr lang="he-IL" sz="1800" dirty="0">
              <a:cs typeface="Arial" charset="0"/>
            </a:endParaRPr>
          </a:p>
          <a:p>
            <a:pPr marL="800100" lvl="1" indent="-342900" algn="r" rtl="1">
              <a:buFontTx/>
              <a:buAutoNum type="arabicPeriod"/>
            </a:pPr>
            <a:endParaRPr lang="he-IL" sz="1800" dirty="0">
              <a:cs typeface="Arial" charset="0"/>
            </a:endParaRPr>
          </a:p>
          <a:p>
            <a:pPr marL="800100" lvl="1" indent="-342900" algn="r" rtl="1">
              <a:buFontTx/>
              <a:buAutoNum type="arabicPeriod"/>
            </a:pPr>
            <a:r>
              <a:rPr lang="he-IL" sz="2000" dirty="0">
                <a:cs typeface="Arial" charset="0"/>
              </a:rPr>
              <a:t>את מה שאנו רוצים לבדוק/פלט נכתוב לטבלה שיצרנו:</a:t>
            </a:r>
          </a:p>
          <a:p>
            <a:pPr algn="l" rtl="0">
              <a:buFontTx/>
              <a:buNone/>
            </a:pPr>
            <a:endParaRPr lang="en-US" sz="1800" dirty="0"/>
          </a:p>
          <a:p>
            <a:pPr>
              <a:buFontTx/>
              <a:buNone/>
            </a:pPr>
            <a:r>
              <a:rPr lang="he-IL" sz="1800" dirty="0"/>
              <a:t>		</a:t>
            </a:r>
            <a:endParaRPr lang="en-US" sz="1800" dirty="0"/>
          </a:p>
        </p:txBody>
      </p:sp>
      <p:sp>
        <p:nvSpPr>
          <p:cNvPr id="1536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9pPr>
          </a:lstStyle>
          <a:p>
            <a:pPr eaLnBrk="1" hangingPunct="1"/>
            <a:fld id="{374372C1-8189-48EB-BCAA-25274BC21481}" type="slidenum">
              <a:rPr lang="he-IL" sz="1400"/>
              <a:pPr eaLnBrk="1" hangingPunct="1"/>
              <a:t>13</a:t>
            </a:fld>
            <a:endParaRPr lang="en-US" sz="140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2050115"/>
            <a:ext cx="2085975" cy="10055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4031416"/>
            <a:ext cx="4020671" cy="24932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/>
              <a:t>PL/SQL</a:t>
            </a:r>
            <a:r>
              <a:rPr lang="he-IL" sz="3600" b="1"/>
              <a:t> – צפייה בתוצאות</a:t>
            </a:r>
            <a:endParaRPr lang="en-US" sz="3600" b="1"/>
          </a:p>
        </p:txBody>
      </p:sp>
      <p:sp>
        <p:nvSpPr>
          <p:cNvPr id="16388" name="Rectangle 3"/>
          <p:cNvSpPr>
            <a:spLocks noGrp="1" noChangeArrowheads="1"/>
          </p:cNvSpPr>
          <p:nvPr>
            <p:ph idx="1"/>
          </p:nvPr>
        </p:nvSpPr>
        <p:spPr>
          <a:xfrm>
            <a:off x="1143000" y="1600200"/>
            <a:ext cx="7315200" cy="5029200"/>
          </a:xfrm>
        </p:spPr>
        <p:txBody>
          <a:bodyPr/>
          <a:lstStyle/>
          <a:p>
            <a:pPr marL="800100" lvl="1" indent="-342900" algn="r" rtl="1">
              <a:buFontTx/>
              <a:buNone/>
            </a:pPr>
            <a:r>
              <a:rPr lang="he-IL" sz="1800" dirty="0">
                <a:cs typeface="Arial" charset="0"/>
              </a:rPr>
              <a:t>3. נבצע שאילתות על הטבלה:</a:t>
            </a:r>
            <a:endParaRPr lang="en-US" sz="1800" dirty="0">
              <a:cs typeface="Arial" charset="0"/>
            </a:endParaRPr>
          </a:p>
          <a:p>
            <a:pPr marL="800100" lvl="1" indent="-342900" algn="r" rtl="1">
              <a:buFontTx/>
              <a:buNone/>
            </a:pPr>
            <a:endParaRPr lang="en-US" sz="1800" dirty="0">
              <a:cs typeface="Arial" charset="0"/>
            </a:endParaRPr>
          </a:p>
          <a:p>
            <a:pPr marL="800100" lvl="1" indent="-342900" algn="r" rtl="1">
              <a:buFontTx/>
              <a:buNone/>
            </a:pPr>
            <a:endParaRPr lang="en-US" sz="1800" dirty="0">
              <a:cs typeface="Arial" charset="0"/>
            </a:endParaRPr>
          </a:p>
          <a:p>
            <a:pPr marL="800100" lvl="1" indent="-342900" algn="r" rtl="1">
              <a:buFontTx/>
              <a:buNone/>
            </a:pPr>
            <a:endParaRPr lang="en-US" sz="1800" dirty="0">
              <a:cs typeface="Arial" charset="0"/>
            </a:endParaRPr>
          </a:p>
          <a:p>
            <a:pPr marL="800100" lvl="1" indent="-342900" algn="r" rtl="1">
              <a:buFontTx/>
              <a:buNone/>
            </a:pPr>
            <a:endParaRPr lang="en-US" sz="1800" dirty="0">
              <a:cs typeface="Arial" charset="0"/>
            </a:endParaRPr>
          </a:p>
          <a:p>
            <a:pPr marL="800100" lvl="1" indent="-342900" algn="r" rtl="1">
              <a:buFontTx/>
              <a:buNone/>
            </a:pPr>
            <a:r>
              <a:rPr lang="en-US" sz="1800" dirty="0">
                <a:cs typeface="Arial" charset="0"/>
              </a:rPr>
              <a:t>.4</a:t>
            </a:r>
            <a:r>
              <a:rPr lang="he-IL" sz="1800" dirty="0">
                <a:cs typeface="Arial" charset="0"/>
              </a:rPr>
              <a:t> התוצאה:</a:t>
            </a:r>
          </a:p>
          <a:p>
            <a:pPr marL="800100" lvl="1" indent="-342900" algn="r" rtl="1">
              <a:buFontTx/>
              <a:buNone/>
            </a:pPr>
            <a:endParaRPr lang="en-US" sz="1800" dirty="0">
              <a:cs typeface="Arial" charset="0"/>
            </a:endParaRPr>
          </a:p>
          <a:p>
            <a:pPr marL="800100" lvl="1" indent="-342900" algn="r" rtl="1">
              <a:buFontTx/>
              <a:buNone/>
            </a:pPr>
            <a:endParaRPr lang="en-US" sz="1800" dirty="0">
              <a:cs typeface="Arial" charset="0"/>
            </a:endParaRPr>
          </a:p>
          <a:p>
            <a:pPr marL="800100" lvl="1" indent="-342900" algn="r" rtl="1">
              <a:buFontTx/>
              <a:buNone/>
            </a:pPr>
            <a:endParaRPr lang="en-US" sz="1800" dirty="0">
              <a:cs typeface="Arial" charset="0"/>
            </a:endParaRPr>
          </a:p>
          <a:p>
            <a:pPr marL="800100" lvl="1" indent="-342900" algn="r" rtl="1">
              <a:buFontTx/>
              <a:buNone/>
            </a:pPr>
            <a:endParaRPr lang="en-US" sz="1800" dirty="0">
              <a:cs typeface="Arial" charset="0"/>
            </a:endParaRPr>
          </a:p>
          <a:p>
            <a:pPr marL="800100" lvl="1" indent="-342900" algn="r" rtl="1">
              <a:buFontTx/>
              <a:buNone/>
            </a:pPr>
            <a:endParaRPr lang="en-US" sz="1800" dirty="0">
              <a:cs typeface="Arial" charset="0"/>
            </a:endParaRPr>
          </a:p>
          <a:p>
            <a:pPr algn="r" rtl="1">
              <a:buFontTx/>
              <a:buNone/>
            </a:pPr>
            <a:endParaRPr lang="en-US" sz="1800" dirty="0"/>
          </a:p>
          <a:p>
            <a:pPr>
              <a:buFontTx/>
              <a:buNone/>
            </a:pPr>
            <a:r>
              <a:rPr lang="he-IL" sz="1800" dirty="0"/>
              <a:t>		</a:t>
            </a:r>
            <a:endParaRPr lang="en-US" sz="1800" dirty="0"/>
          </a:p>
        </p:txBody>
      </p:sp>
      <p:sp>
        <p:nvSpPr>
          <p:cNvPr id="1638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9pPr>
          </a:lstStyle>
          <a:p>
            <a:pPr eaLnBrk="1" hangingPunct="1"/>
            <a:fld id="{901B374F-9D37-471D-A8CC-D29415E66C36}" type="slidenum">
              <a:rPr lang="he-IL" sz="1400"/>
              <a:pPr eaLnBrk="1" hangingPunct="1"/>
              <a:t>14</a:t>
            </a:fld>
            <a:endParaRPr lang="en-US" sz="140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1752599"/>
            <a:ext cx="2466976" cy="6705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1400" y="3768537"/>
            <a:ext cx="1905000" cy="14287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en-US" sz="3600" b="1" dirty="0"/>
              <a:t>PL/SQL</a:t>
            </a:r>
            <a:r>
              <a:rPr lang="he-IL" sz="3600" b="1" dirty="0"/>
              <a:t> – צפייה בתוצאות</a:t>
            </a:r>
            <a:endParaRPr lang="en-US" sz="3600" b="1" dirty="0"/>
          </a:p>
        </p:txBody>
      </p:sp>
      <p:sp>
        <p:nvSpPr>
          <p:cNvPr id="5124" name="Rectangle 3"/>
          <p:cNvSpPr>
            <a:spLocks noGrp="1" noChangeArrowheads="1"/>
          </p:cNvSpPr>
          <p:nvPr>
            <p:ph idx="1"/>
          </p:nvPr>
        </p:nvSpPr>
        <p:spPr>
          <a:xfrm>
            <a:off x="1143000" y="1600200"/>
            <a:ext cx="7315200" cy="5029200"/>
          </a:xfrm>
        </p:spPr>
        <p:txBody>
          <a:bodyPr/>
          <a:lstStyle/>
          <a:p>
            <a:pPr algn="r" rtl="1">
              <a:defRPr/>
            </a:pPr>
            <a:r>
              <a:rPr lang="he-IL" sz="2000" dirty="0"/>
              <a:t>שיטה ב' : שימוש במשתנים מקשרים.</a:t>
            </a:r>
          </a:p>
          <a:p>
            <a:pPr lvl="1" algn="r" rtl="1">
              <a:defRPr/>
            </a:pPr>
            <a:r>
              <a:rPr lang="he-IL" sz="1800" dirty="0">
                <a:ea typeface="+mn-ea"/>
                <a:cs typeface="+mn-cs"/>
              </a:rPr>
              <a:t>ניתן להדפיס משתנה, אך רק אם המשתנה הוגדר בצורה המיוחדת:</a:t>
            </a:r>
          </a:p>
          <a:p>
            <a:pPr lvl="1">
              <a:buFontTx/>
              <a:buNone/>
              <a:defRPr/>
            </a:pPr>
            <a:r>
              <a:rPr lang="he-IL" sz="18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1800" dirty="0">
                <a:latin typeface="Courier New" pitchFamily="49" charset="0"/>
                <a:cs typeface="Courier New" pitchFamily="49" charset="0"/>
              </a:rPr>
              <a:t>VARIABLE &lt;name&gt; &lt;type&gt;;</a:t>
            </a:r>
          </a:p>
          <a:p>
            <a:pPr lvl="1">
              <a:buFontTx/>
              <a:buNone/>
              <a:defRPr/>
            </a:pPr>
            <a:endParaRPr lang="he-IL" sz="1800" dirty="0">
              <a:ea typeface="+mn-ea"/>
              <a:cs typeface="+mn-cs"/>
            </a:endParaRPr>
          </a:p>
          <a:p>
            <a:pPr lvl="1" algn="r" rtl="1">
              <a:buFontTx/>
              <a:buNone/>
              <a:defRPr/>
            </a:pPr>
            <a:r>
              <a:rPr lang="he-IL" sz="1800" dirty="0">
                <a:ea typeface="+mn-ea"/>
                <a:cs typeface="+mn-cs"/>
              </a:rPr>
              <a:t>	כאשר הטיפוס הוא </a:t>
            </a:r>
            <a:r>
              <a:rPr lang="en-US" sz="1800" dirty="0">
                <a:ea typeface="+mn-ea"/>
                <a:cs typeface="+mn-cs"/>
              </a:rPr>
              <a:t>NUMBER, CHAR(n), CHAR</a:t>
            </a:r>
            <a:r>
              <a:rPr lang="he-IL" sz="1800" dirty="0">
                <a:ea typeface="+mn-ea"/>
                <a:cs typeface="+mn-cs"/>
              </a:rPr>
              <a:t>. </a:t>
            </a:r>
            <a:endParaRPr lang="en-US" sz="1800" dirty="0">
              <a:ea typeface="+mn-ea"/>
              <a:cs typeface="+mn-cs"/>
            </a:endParaRPr>
          </a:p>
          <a:p>
            <a:pPr lvl="1" algn="r" rtl="1">
              <a:buFontTx/>
              <a:buNone/>
              <a:defRPr/>
            </a:pPr>
            <a:endParaRPr lang="he-IL" sz="1800" dirty="0">
              <a:ea typeface="+mn-ea"/>
              <a:cs typeface="+mn-cs"/>
            </a:endParaRPr>
          </a:p>
          <a:p>
            <a:pPr lvl="1">
              <a:buFontTx/>
              <a:buNone/>
              <a:defRPr/>
            </a:pPr>
            <a:r>
              <a:rPr lang="he-IL" sz="1800" dirty="0">
                <a:ea typeface="+mn-ea"/>
                <a:cs typeface="+mn-cs"/>
              </a:rPr>
              <a:t>נוכל לבצע השמה למשתנה זה, כאשר לפני המשתנה נשים </a:t>
            </a:r>
            <a:r>
              <a:rPr lang="he-IL" sz="1800" b="1" dirty="0">
                <a:ea typeface="+mn-ea"/>
                <a:cs typeface="+mn-cs"/>
              </a:rPr>
              <a:t>נקודותיים</a:t>
            </a:r>
            <a:r>
              <a:rPr lang="he-IL" sz="1800" dirty="0">
                <a:ea typeface="+mn-ea"/>
                <a:cs typeface="+mn-cs"/>
              </a:rPr>
              <a:t>. </a:t>
            </a:r>
          </a:p>
          <a:p>
            <a:pPr lvl="1" algn="r" rtl="1">
              <a:buFontTx/>
              <a:buNone/>
              <a:defRPr/>
            </a:pPr>
            <a:r>
              <a:rPr lang="he-IL" sz="1800" dirty="0">
                <a:ea typeface="+mn-ea"/>
                <a:cs typeface="+mn-cs"/>
              </a:rPr>
              <a:t>	כעת, </a:t>
            </a:r>
            <a:r>
              <a:rPr lang="he-IL" sz="1800" b="1" dirty="0">
                <a:ea typeface="+mn-ea"/>
                <a:cs typeface="+mn-cs"/>
              </a:rPr>
              <a:t>מחוץ ל-</a:t>
            </a:r>
            <a:r>
              <a:rPr lang="en-US" sz="1800" b="1" dirty="0">
                <a:ea typeface="+mn-ea"/>
                <a:cs typeface="+mn-cs"/>
              </a:rPr>
              <a:t>PL/SQL</a:t>
            </a:r>
            <a:r>
              <a:rPr lang="he-IL" sz="1800" dirty="0">
                <a:ea typeface="+mn-ea"/>
                <a:cs typeface="+mn-cs"/>
              </a:rPr>
              <a:t> נוכל לכתוב: </a:t>
            </a:r>
            <a:endParaRPr lang="en-US" sz="1800" dirty="0">
              <a:ea typeface="+mn-ea"/>
              <a:cs typeface="+mn-cs"/>
            </a:endParaRPr>
          </a:p>
          <a:p>
            <a:pPr lvl="1" algn="ctr" rtl="1">
              <a:buFontTx/>
              <a:buNone/>
              <a:defRPr/>
            </a:pPr>
            <a:r>
              <a:rPr lang="he-IL" sz="1800" dirty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800" dirty="0">
                <a:latin typeface="Courier New" pitchFamily="49" charset="0"/>
                <a:cs typeface="Courier New" pitchFamily="49" charset="0"/>
              </a:rPr>
              <a:t>PRINT :&lt;name&gt;;</a:t>
            </a:r>
          </a:p>
          <a:p>
            <a:pPr>
              <a:defRPr/>
            </a:pPr>
            <a:endParaRPr lang="he-IL" sz="2000" dirty="0"/>
          </a:p>
          <a:p>
            <a:pPr marL="800100" lvl="1" indent="-342900" algn="r" rtl="1">
              <a:buFontTx/>
              <a:buNone/>
              <a:defRPr/>
            </a:pPr>
            <a:r>
              <a:rPr lang="he-IL" sz="1800" dirty="0"/>
              <a:t>1. נצהיר על המשתנה.</a:t>
            </a:r>
            <a:endParaRPr lang="he-IL" sz="800" dirty="0"/>
          </a:p>
          <a:p>
            <a:pPr algn="l" rtl="0">
              <a:buFontTx/>
              <a:buNone/>
              <a:defRPr/>
            </a:pPr>
            <a:r>
              <a:rPr lang="en-US" sz="1800" dirty="0">
                <a:latin typeface="Courier New" pitchFamily="49" charset="0"/>
                <a:cs typeface="Courier New" pitchFamily="49" charset="0"/>
              </a:rPr>
              <a:t>VARIABLE result NUMBER;</a:t>
            </a:r>
          </a:p>
          <a:p>
            <a:pPr>
              <a:buFontTx/>
              <a:buNone/>
              <a:defRPr/>
            </a:pPr>
            <a:r>
              <a:rPr lang="he-IL" sz="1800" dirty="0"/>
              <a:t>	</a:t>
            </a:r>
            <a:endParaRPr lang="en-US" sz="1600" dirty="0"/>
          </a:p>
          <a:p>
            <a:pPr algn="l" rtl="0">
              <a:buFontTx/>
              <a:buNone/>
              <a:defRPr/>
            </a:pPr>
            <a:endParaRPr lang="en-US" sz="1800" dirty="0"/>
          </a:p>
          <a:p>
            <a:pPr>
              <a:buFontTx/>
              <a:buNone/>
              <a:defRPr/>
            </a:pPr>
            <a:r>
              <a:rPr lang="he-IL" sz="1800" dirty="0"/>
              <a:t>		</a:t>
            </a:r>
            <a:endParaRPr lang="en-US" sz="1800" dirty="0"/>
          </a:p>
        </p:txBody>
      </p:sp>
      <p:sp>
        <p:nvSpPr>
          <p:cNvPr id="1741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9pPr>
          </a:lstStyle>
          <a:p>
            <a:pPr eaLnBrk="1" hangingPunct="1"/>
            <a:fld id="{DA0265BC-277E-4F47-80E8-4FA438074FB8}" type="slidenum">
              <a:rPr lang="he-IL" sz="1400"/>
              <a:pPr eaLnBrk="1" hangingPunct="1"/>
              <a:t>15</a:t>
            </a:fld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en-US" sz="3600" b="1" dirty="0"/>
              <a:t>PL/SQL</a:t>
            </a:r>
            <a:r>
              <a:rPr lang="he-IL" sz="3600" b="1" dirty="0"/>
              <a:t> – צפייה בתוצאות</a:t>
            </a:r>
            <a:endParaRPr lang="en-US" sz="3600" b="1" dirty="0"/>
          </a:p>
        </p:txBody>
      </p:sp>
      <p:sp>
        <p:nvSpPr>
          <p:cNvPr id="18436" name="Rectangle 3"/>
          <p:cNvSpPr>
            <a:spLocks noGrp="1" noChangeArrowheads="1"/>
          </p:cNvSpPr>
          <p:nvPr>
            <p:ph idx="1"/>
          </p:nvPr>
        </p:nvSpPr>
        <p:spPr>
          <a:xfrm>
            <a:off x="1143000" y="1600200"/>
            <a:ext cx="7315200" cy="5029200"/>
          </a:xfrm>
        </p:spPr>
        <p:txBody>
          <a:bodyPr>
            <a:normAutofit lnSpcReduction="10000"/>
          </a:bodyPr>
          <a:lstStyle/>
          <a:p>
            <a:pPr algn="r" rtl="1">
              <a:buFontTx/>
              <a:buNone/>
            </a:pPr>
            <a:r>
              <a:rPr lang="he-IL" sz="1800" dirty="0"/>
              <a:t>	 2. נכתוב קטע קוד.</a:t>
            </a:r>
            <a:endParaRPr lang="en-US" sz="1800" dirty="0"/>
          </a:p>
          <a:p>
            <a:pPr algn="l">
              <a:buFontTx/>
              <a:buNone/>
            </a:pPr>
            <a:endParaRPr lang="en-US" sz="1800" dirty="0"/>
          </a:p>
          <a:p>
            <a:pPr algn="l">
              <a:buFontTx/>
              <a:buNone/>
            </a:pPr>
            <a:endParaRPr lang="en-US" sz="1800" dirty="0"/>
          </a:p>
          <a:p>
            <a:pPr algn="l">
              <a:buFontTx/>
              <a:buNone/>
            </a:pPr>
            <a:endParaRPr lang="en-US" sz="1800" dirty="0"/>
          </a:p>
          <a:p>
            <a:pPr algn="l">
              <a:buFontTx/>
              <a:buNone/>
            </a:pPr>
            <a:endParaRPr lang="en-US" sz="1800" dirty="0"/>
          </a:p>
          <a:p>
            <a:pPr algn="l">
              <a:buFontTx/>
              <a:buNone/>
            </a:pPr>
            <a:endParaRPr lang="en-US" sz="1800" dirty="0"/>
          </a:p>
          <a:p>
            <a:pPr algn="l">
              <a:buFontTx/>
              <a:buNone/>
            </a:pPr>
            <a:endParaRPr lang="en-US" sz="1800" dirty="0"/>
          </a:p>
          <a:p>
            <a:pPr algn="r">
              <a:buFontTx/>
              <a:buNone/>
            </a:pPr>
            <a:endParaRPr lang="en-US" sz="1800" dirty="0"/>
          </a:p>
          <a:p>
            <a:pPr algn="r" rtl="1">
              <a:buFontTx/>
              <a:buNone/>
            </a:pPr>
            <a:r>
              <a:rPr lang="he-IL" sz="1800" dirty="0"/>
              <a:t>	 3. נדפיס את הערך</a:t>
            </a:r>
            <a:r>
              <a:rPr lang="en-US" sz="1800" dirty="0"/>
              <a:t>:</a:t>
            </a:r>
            <a:endParaRPr lang="he-IL" sz="1800" dirty="0"/>
          </a:p>
          <a:p>
            <a:pPr algn="l">
              <a:buFontTx/>
              <a:buNone/>
            </a:pPr>
            <a:r>
              <a:rPr lang="en-US" sz="1800" dirty="0">
                <a:latin typeface="Courier New" pitchFamily="49" charset="0"/>
                <a:cs typeface="Courier New" pitchFamily="49" charset="0"/>
              </a:rPr>
              <a:t>print </a:t>
            </a:r>
            <a:r>
              <a:rPr lang="en-US" sz="1800">
                <a:latin typeface="Courier New" pitchFamily="49" charset="0"/>
                <a:cs typeface="Courier New" pitchFamily="49" charset="0"/>
              </a:rPr>
              <a:t>:result;</a:t>
            </a:r>
            <a:endParaRPr lang="en-US" sz="1800" dirty="0">
              <a:latin typeface="Courier New" pitchFamily="49" charset="0"/>
              <a:cs typeface="Courier New" pitchFamily="49" charset="0"/>
            </a:endParaRPr>
          </a:p>
          <a:p>
            <a:pPr algn="l">
              <a:buFontTx/>
              <a:buNone/>
            </a:pPr>
            <a:endParaRPr lang="en-US" sz="1800" dirty="0"/>
          </a:p>
          <a:p>
            <a:pPr algn="r" rtl="1">
              <a:buFontTx/>
              <a:buNone/>
            </a:pPr>
            <a:r>
              <a:rPr lang="he-IL" sz="1800" dirty="0"/>
              <a:t>	 4. תוצאה:</a:t>
            </a:r>
            <a:endParaRPr lang="en-US" sz="1800" dirty="0"/>
          </a:p>
          <a:p>
            <a:pPr algn="l">
              <a:buFontTx/>
              <a:buNone/>
            </a:pPr>
            <a:r>
              <a:rPr lang="en-US" sz="1800" dirty="0"/>
              <a:t>RESULT</a:t>
            </a:r>
          </a:p>
          <a:p>
            <a:pPr algn="l">
              <a:buFontTx/>
              <a:buNone/>
            </a:pPr>
            <a:r>
              <a:rPr lang="en-US" sz="1800" dirty="0"/>
              <a:t>--------------</a:t>
            </a:r>
          </a:p>
          <a:p>
            <a:pPr algn="l">
              <a:buFontTx/>
              <a:buNone/>
            </a:pPr>
            <a:r>
              <a:rPr lang="en-US" sz="1800" dirty="0"/>
              <a:t>10</a:t>
            </a:r>
          </a:p>
          <a:p>
            <a:pPr algn="r" rtl="1">
              <a:buFontTx/>
              <a:buNone/>
            </a:pPr>
            <a:endParaRPr lang="en-US" sz="1800" dirty="0"/>
          </a:p>
          <a:p>
            <a:pPr algn="r" rtl="1">
              <a:buFontTx/>
              <a:buNone/>
            </a:pPr>
            <a:endParaRPr lang="en-US" sz="1600" dirty="0"/>
          </a:p>
          <a:p>
            <a:pPr algn="r" rtl="1">
              <a:buFontTx/>
              <a:buNone/>
            </a:pPr>
            <a:endParaRPr lang="en-US" sz="1800" dirty="0"/>
          </a:p>
          <a:p>
            <a:pPr algn="r" rtl="1">
              <a:buFontTx/>
              <a:buNone/>
            </a:pPr>
            <a:r>
              <a:rPr lang="he-IL" sz="1800" dirty="0"/>
              <a:t>		</a:t>
            </a:r>
            <a:endParaRPr lang="en-US" sz="1800" dirty="0"/>
          </a:p>
        </p:txBody>
      </p:sp>
      <p:sp>
        <p:nvSpPr>
          <p:cNvPr id="1843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9pPr>
          </a:lstStyle>
          <a:p>
            <a:pPr eaLnBrk="1" hangingPunct="1"/>
            <a:fld id="{E8FFE8BD-B2D8-4EE8-81F8-FD5D98A2979D}" type="slidenum">
              <a:rPr lang="he-IL" sz="1400"/>
              <a:pPr eaLnBrk="1" hangingPunct="1"/>
              <a:t>16</a:t>
            </a:fld>
            <a:endParaRPr lang="en-US" sz="140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1752600"/>
            <a:ext cx="1762125" cy="152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en-US" sz="3600" b="1" dirty="0"/>
              <a:t>PL/SQL</a:t>
            </a:r>
            <a:r>
              <a:rPr lang="he-IL" sz="3600" b="1" dirty="0"/>
              <a:t> – צפייה בתוצאות</a:t>
            </a:r>
            <a:endParaRPr lang="en-US" sz="3600" b="1" dirty="0"/>
          </a:p>
        </p:txBody>
      </p:sp>
      <p:sp>
        <p:nvSpPr>
          <p:cNvPr id="19460" name="Rectangle 3"/>
          <p:cNvSpPr>
            <a:spLocks noGrp="1" noChangeArrowheads="1"/>
          </p:cNvSpPr>
          <p:nvPr>
            <p:ph idx="1"/>
          </p:nvPr>
        </p:nvSpPr>
        <p:spPr>
          <a:xfrm>
            <a:off x="1143000" y="1600200"/>
            <a:ext cx="7315200" cy="5029200"/>
          </a:xfrm>
        </p:spPr>
        <p:txBody>
          <a:bodyPr/>
          <a:lstStyle/>
          <a:p>
            <a:pPr algn="r" rtl="1"/>
            <a:r>
              <a:rPr lang="he-IL" sz="2000" dirty="0"/>
              <a:t>שיטה ג' : שימוש ב-</a:t>
            </a:r>
            <a:r>
              <a:rPr lang="he-IL" sz="2000" b="1" dirty="0"/>
              <a:t> </a:t>
            </a:r>
            <a:r>
              <a:rPr lang="en-US" sz="2000" dirty="0"/>
              <a:t>DBMS_OUTPUT</a:t>
            </a:r>
            <a:r>
              <a:rPr lang="he-IL" sz="2000" dirty="0"/>
              <a:t>.</a:t>
            </a:r>
            <a:endParaRPr lang="en-US" sz="2000" dirty="0"/>
          </a:p>
          <a:p>
            <a:pPr algn="r" rtl="1"/>
            <a:endParaRPr lang="he-IL" sz="2000" dirty="0"/>
          </a:p>
          <a:p>
            <a:pPr algn="r" rtl="1"/>
            <a:r>
              <a:rPr lang="en-US" sz="2000" dirty="0"/>
              <a:t>DBMS_OUTPUT </a:t>
            </a:r>
            <a:r>
              <a:rPr lang="he-IL" sz="2000" dirty="0"/>
              <a:t> - הינה חבילה הכוללת מספר פרוצדורות ופונקציות אשר מכניסות מידע ל-</a:t>
            </a:r>
            <a:r>
              <a:rPr lang="en-US" sz="2000" dirty="0"/>
              <a:t>buffer </a:t>
            </a:r>
            <a:r>
              <a:rPr lang="he-IL" sz="2000" dirty="0"/>
              <a:t>.</a:t>
            </a:r>
            <a:endParaRPr lang="en-US" sz="2000" dirty="0"/>
          </a:p>
          <a:p>
            <a:pPr algn="r" rtl="1"/>
            <a:endParaRPr lang="he-IL" sz="2000" dirty="0"/>
          </a:p>
          <a:p>
            <a:pPr marL="800100" lvl="1" indent="-342900" algn="r" rtl="1">
              <a:buFontTx/>
              <a:buNone/>
            </a:pPr>
            <a:r>
              <a:rPr lang="he-IL" sz="1800" dirty="0">
                <a:cs typeface="Arial" charset="0"/>
              </a:rPr>
              <a:t>1. איפשור הפלט ב-</a:t>
            </a:r>
            <a:r>
              <a:rPr lang="en-US" sz="1800" dirty="0">
                <a:cs typeface="Arial" charset="0"/>
              </a:rPr>
              <a:t>SQL  DEVELOPER</a:t>
            </a:r>
            <a:endParaRPr lang="he-IL" sz="800" dirty="0">
              <a:cs typeface="Arial" charset="0"/>
            </a:endParaRPr>
          </a:p>
          <a:p>
            <a:pPr algn="r" rtl="1">
              <a:buFontTx/>
              <a:buNone/>
            </a:pPr>
            <a:endParaRPr lang="en-US" sz="1800" dirty="0"/>
          </a:p>
          <a:p>
            <a:pPr algn="r" rtl="1">
              <a:buFontTx/>
              <a:buNone/>
            </a:pPr>
            <a:r>
              <a:rPr lang="he-IL" sz="2000" dirty="0"/>
              <a:t>	 2. להשתמש באחת הפונקציות בכדי להדפיס.</a:t>
            </a:r>
            <a:endParaRPr lang="en-US" sz="2000" dirty="0"/>
          </a:p>
          <a:p>
            <a:pPr algn="l" rtl="0">
              <a:buFontTx/>
              <a:buNone/>
            </a:pPr>
            <a:endParaRPr lang="en-US" sz="1800" dirty="0"/>
          </a:p>
          <a:p>
            <a:pPr>
              <a:buFontTx/>
              <a:buNone/>
            </a:pPr>
            <a:r>
              <a:rPr lang="he-IL" sz="1800" dirty="0"/>
              <a:t>		</a:t>
            </a:r>
            <a:endParaRPr lang="en-US" sz="1800" dirty="0"/>
          </a:p>
        </p:txBody>
      </p:sp>
      <p:sp>
        <p:nvSpPr>
          <p:cNvPr id="1945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9pPr>
          </a:lstStyle>
          <a:p>
            <a:pPr eaLnBrk="1" hangingPunct="1"/>
            <a:fld id="{BDD46829-B582-43CB-BFE9-600B494081DD}" type="slidenum">
              <a:rPr lang="he-IL" sz="1400"/>
              <a:pPr eaLnBrk="1" hangingPunct="1"/>
              <a:t>17</a:t>
            </a:fld>
            <a:endParaRPr lang="en-US" sz="1400"/>
          </a:p>
        </p:txBody>
      </p:sp>
      <p:pic>
        <p:nvPicPr>
          <p:cNvPr id="1946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4419600"/>
            <a:ext cx="7053262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en-US" sz="3600" b="1" dirty="0"/>
              <a:t>PL/SQL</a:t>
            </a:r>
            <a:r>
              <a:rPr lang="he-IL" sz="3600" b="1" dirty="0"/>
              <a:t> – צפייה בתוצאות</a:t>
            </a:r>
            <a:endParaRPr lang="en-US" sz="3600" b="1" dirty="0"/>
          </a:p>
        </p:txBody>
      </p:sp>
      <p:sp>
        <p:nvSpPr>
          <p:cNvPr id="20484" name="Rectangle 3"/>
          <p:cNvSpPr>
            <a:spLocks noGrp="1" noChangeArrowheads="1"/>
          </p:cNvSpPr>
          <p:nvPr>
            <p:ph idx="1"/>
          </p:nvPr>
        </p:nvSpPr>
        <p:spPr>
          <a:xfrm>
            <a:off x="1143000" y="1600200"/>
            <a:ext cx="7315200" cy="5029200"/>
          </a:xfrm>
        </p:spPr>
        <p:txBody>
          <a:bodyPr/>
          <a:lstStyle/>
          <a:p>
            <a:pPr algn="r" rtl="1"/>
            <a:r>
              <a:rPr lang="he-IL" sz="1800" dirty="0"/>
              <a:t>לדוגמה:</a:t>
            </a:r>
            <a:endParaRPr lang="en-US" sz="1800" dirty="0"/>
          </a:p>
          <a:p>
            <a:pPr algn="l" rtl="0">
              <a:buFontTx/>
              <a:buNone/>
            </a:pPr>
            <a:r>
              <a:rPr lang="en-US" sz="1800" dirty="0" err="1"/>
              <a:t>DBMS_OUTPUT.put_line</a:t>
            </a:r>
            <a:r>
              <a:rPr lang="en-US" sz="1800" dirty="0"/>
              <a:t>('Hello World');</a:t>
            </a:r>
          </a:p>
          <a:p>
            <a:pPr algn="l" rtl="0">
              <a:buFontTx/>
              <a:buNone/>
            </a:pPr>
            <a:r>
              <a:rPr lang="he-IL" sz="1800" dirty="0"/>
              <a:t>	או</a:t>
            </a:r>
            <a:endParaRPr lang="en-US" sz="1800" dirty="0"/>
          </a:p>
          <a:p>
            <a:pPr algn="l" rtl="0">
              <a:buFontTx/>
              <a:buNone/>
            </a:pPr>
            <a:r>
              <a:rPr lang="en-US" sz="1800" dirty="0" err="1"/>
              <a:t>DBMS_OUTPUT.put</a:t>
            </a:r>
            <a:r>
              <a:rPr lang="en-US" sz="1800" dirty="0"/>
              <a:t>('Hello');</a:t>
            </a:r>
          </a:p>
          <a:p>
            <a:pPr algn="l" rtl="0">
              <a:buFontTx/>
              <a:buNone/>
            </a:pPr>
            <a:r>
              <a:rPr lang="en-US" sz="1800" dirty="0" err="1"/>
              <a:t>DBMS_OUTPUT.put_line</a:t>
            </a:r>
            <a:r>
              <a:rPr lang="en-US" sz="1800" dirty="0"/>
              <a:t>(' World');</a:t>
            </a:r>
          </a:p>
          <a:p>
            <a:pPr algn="l" rtl="0">
              <a:buFontTx/>
              <a:buNone/>
            </a:pPr>
            <a:r>
              <a:rPr lang="he-IL" sz="1800" dirty="0"/>
              <a:t>	או</a:t>
            </a:r>
            <a:endParaRPr lang="en-US" sz="1800" dirty="0"/>
          </a:p>
          <a:p>
            <a:pPr algn="l" rtl="0">
              <a:buFontTx/>
              <a:buNone/>
            </a:pPr>
            <a:r>
              <a:rPr lang="en-US" sz="1800" dirty="0" err="1"/>
              <a:t>DBMS_OUTPUT.put</a:t>
            </a:r>
            <a:r>
              <a:rPr lang="en-US" sz="1800" dirty="0"/>
              <a:t>('Hello World');</a:t>
            </a:r>
          </a:p>
          <a:p>
            <a:pPr algn="l" rtl="0">
              <a:buFontTx/>
              <a:buNone/>
            </a:pPr>
            <a:r>
              <a:rPr lang="en-US" sz="1800" dirty="0" err="1"/>
              <a:t>DBMS_OUTPUT.new_line</a:t>
            </a:r>
            <a:r>
              <a:rPr lang="en-US" sz="1800" dirty="0"/>
              <a:t>;</a:t>
            </a:r>
          </a:p>
          <a:p>
            <a:pPr algn="l" rtl="0">
              <a:buFontTx/>
              <a:buNone/>
            </a:pPr>
            <a:endParaRPr lang="en-US" sz="1800" dirty="0"/>
          </a:p>
          <a:p>
            <a:pPr algn="l" rtl="0">
              <a:buFontTx/>
              <a:buNone/>
            </a:pPr>
            <a:endParaRPr lang="en-US" sz="1600" dirty="0"/>
          </a:p>
          <a:p>
            <a:pPr algn="l" rtl="0">
              <a:buFontTx/>
              <a:buNone/>
            </a:pPr>
            <a:endParaRPr lang="en-US" sz="1800" dirty="0"/>
          </a:p>
          <a:p>
            <a:pPr>
              <a:buFontTx/>
              <a:buNone/>
            </a:pPr>
            <a:r>
              <a:rPr lang="he-IL" sz="1800" dirty="0"/>
              <a:t>		</a:t>
            </a:r>
            <a:endParaRPr lang="en-US" sz="1800" dirty="0"/>
          </a:p>
        </p:txBody>
      </p:sp>
      <p:sp>
        <p:nvSpPr>
          <p:cNvPr id="2048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9pPr>
          </a:lstStyle>
          <a:p>
            <a:pPr eaLnBrk="1" hangingPunct="1"/>
            <a:fld id="{43BF8041-59AD-4534-B652-F3D8437A9B03}" type="slidenum">
              <a:rPr lang="he-IL" sz="1400"/>
              <a:pPr eaLnBrk="1" hangingPunct="1"/>
              <a:t>18</a:t>
            </a:fld>
            <a:endParaRPr lang="en-US" sz="14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en-US" sz="4800" b="1" dirty="0"/>
              <a:t>PL/SQL</a:t>
            </a:r>
            <a:r>
              <a:rPr lang="he-IL" sz="4800" b="1" dirty="0"/>
              <a:t> – צפייה בתוצאות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he-IL" sz="2800" dirty="0"/>
              <a:t>במידה ואתם לא משתמשים ב-</a:t>
            </a:r>
            <a:r>
              <a:rPr lang="en-US" sz="2800" dirty="0"/>
              <a:t>SQL Developer</a:t>
            </a:r>
            <a:r>
              <a:rPr lang="he-IL" sz="2800" dirty="0"/>
              <a:t>, יתכן ותצטרכו לרשום את ההוראה הבאה עבור שיטה ג':</a:t>
            </a:r>
          </a:p>
          <a:p>
            <a:pPr algn="r" rtl="1"/>
            <a:endParaRPr lang="he-IL" dirty="0"/>
          </a:p>
          <a:p>
            <a:pPr marL="0" indent="0" algn="l">
              <a:buNone/>
            </a:pPr>
            <a:r>
              <a:rPr lang="en-US" dirty="0"/>
              <a:t>Set </a:t>
            </a:r>
            <a:r>
              <a:rPr lang="en-US" dirty="0" err="1"/>
              <a:t>serverout</a:t>
            </a:r>
            <a:r>
              <a:rPr lang="en-US" dirty="0"/>
              <a:t> on;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40BCE-E334-46D3-9385-17AEF90EA555}" type="slidenum">
              <a:rPr lang="he-IL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6507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en-US" sz="3600" b="1" dirty="0"/>
              <a:t>PL/SQL</a:t>
            </a:r>
            <a:r>
              <a:rPr lang="he-IL" sz="3600" b="1" dirty="0"/>
              <a:t> – צפייה בתוצאות</a:t>
            </a:r>
            <a:endParaRPr lang="en-US" sz="3600" b="1" dirty="0"/>
          </a:p>
        </p:txBody>
      </p:sp>
      <p:sp>
        <p:nvSpPr>
          <p:cNvPr id="21508" name="Rectangle 3"/>
          <p:cNvSpPr>
            <a:spLocks noGrp="1" noChangeArrowheads="1"/>
          </p:cNvSpPr>
          <p:nvPr>
            <p:ph idx="1"/>
          </p:nvPr>
        </p:nvSpPr>
        <p:spPr>
          <a:xfrm>
            <a:off x="1143000" y="1600200"/>
            <a:ext cx="7315200" cy="5029200"/>
          </a:xfrm>
        </p:spPr>
        <p:txBody>
          <a:bodyPr>
            <a:normAutofit/>
          </a:bodyPr>
          <a:lstStyle/>
          <a:p>
            <a:pPr algn="r" rtl="1"/>
            <a:r>
              <a:rPr lang="he-IL" sz="1800" dirty="0"/>
              <a:t>דוגמה מלאה:</a:t>
            </a:r>
            <a:endParaRPr lang="en-US" sz="1800" dirty="0"/>
          </a:p>
          <a:p>
            <a:pPr>
              <a:buFontTx/>
              <a:buNone/>
            </a:pPr>
            <a:endParaRPr lang="en-US" sz="1800" dirty="0"/>
          </a:p>
          <a:p>
            <a:pPr>
              <a:buFontTx/>
              <a:buNone/>
            </a:pPr>
            <a:endParaRPr lang="en-US" sz="1800" dirty="0"/>
          </a:p>
          <a:p>
            <a:pPr>
              <a:buFontTx/>
              <a:buNone/>
            </a:pPr>
            <a:endParaRPr lang="en-US" sz="1800" dirty="0"/>
          </a:p>
          <a:p>
            <a:pPr>
              <a:buFontTx/>
              <a:buNone/>
            </a:pPr>
            <a:endParaRPr lang="en-US" sz="1800" dirty="0"/>
          </a:p>
          <a:p>
            <a:pPr>
              <a:buFontTx/>
              <a:buNone/>
            </a:pPr>
            <a:endParaRPr lang="en-US" sz="1800" dirty="0"/>
          </a:p>
          <a:p>
            <a:pPr>
              <a:buFontTx/>
              <a:buNone/>
            </a:pPr>
            <a:endParaRPr lang="en-US" sz="1800" dirty="0"/>
          </a:p>
          <a:p>
            <a:pPr>
              <a:buFontTx/>
              <a:buNone/>
            </a:pPr>
            <a:endParaRPr lang="en-US" sz="1800" dirty="0"/>
          </a:p>
          <a:p>
            <a:pPr>
              <a:buFontTx/>
              <a:buNone/>
            </a:pPr>
            <a:endParaRPr lang="en-US" sz="1800" dirty="0"/>
          </a:p>
          <a:p>
            <a:pPr>
              <a:buFontTx/>
              <a:buNone/>
            </a:pPr>
            <a:endParaRPr lang="en-US" sz="1800" dirty="0"/>
          </a:p>
          <a:p>
            <a:pPr>
              <a:buFontTx/>
              <a:buNone/>
            </a:pPr>
            <a:endParaRPr lang="en-US" sz="1800" dirty="0"/>
          </a:p>
          <a:p>
            <a:pPr algn="r" rtl="1">
              <a:buFontTx/>
              <a:buNone/>
            </a:pPr>
            <a:endParaRPr lang="en-US" sz="1800" dirty="0"/>
          </a:p>
          <a:p>
            <a:pPr algn="l" rtl="0">
              <a:buFontTx/>
              <a:buNone/>
            </a:pPr>
            <a:endParaRPr lang="en-US" sz="1600" dirty="0"/>
          </a:p>
          <a:p>
            <a:pPr algn="l" rtl="0">
              <a:buFontTx/>
              <a:buNone/>
            </a:pPr>
            <a:endParaRPr lang="en-US" sz="1800" dirty="0"/>
          </a:p>
          <a:p>
            <a:pPr>
              <a:buFontTx/>
              <a:buNone/>
            </a:pPr>
            <a:r>
              <a:rPr lang="he-IL" sz="1800" dirty="0"/>
              <a:t>		</a:t>
            </a:r>
            <a:endParaRPr lang="en-US" sz="1800" dirty="0"/>
          </a:p>
        </p:txBody>
      </p:sp>
      <p:sp>
        <p:nvSpPr>
          <p:cNvPr id="2150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9pPr>
          </a:lstStyle>
          <a:p>
            <a:pPr eaLnBrk="1" hangingPunct="1"/>
            <a:fld id="{24F36A48-581E-4DCF-9E57-B4E894DE4BBA}" type="slidenum">
              <a:rPr lang="he-IL" sz="1400"/>
              <a:pPr eaLnBrk="1" hangingPunct="1"/>
              <a:t>20</a:t>
            </a:fld>
            <a:endParaRPr lang="en-US" sz="140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3347" y="1828800"/>
            <a:ext cx="3124200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en-US" sz="3600" b="1" dirty="0"/>
              <a:t>PL/SQL</a:t>
            </a:r>
            <a:r>
              <a:rPr lang="he-IL" sz="3600" b="1" dirty="0"/>
              <a:t> - </a:t>
            </a:r>
            <a:r>
              <a:rPr lang="en-US" sz="2400" b="1" i="1" dirty="0"/>
              <a:t>UPDATE, INSERT and DELETE</a:t>
            </a:r>
            <a:endParaRPr lang="en-US" sz="3600" b="1" dirty="0"/>
          </a:p>
        </p:txBody>
      </p:sp>
      <p:sp>
        <p:nvSpPr>
          <p:cNvPr id="22532" name="Rectangle 3"/>
          <p:cNvSpPr>
            <a:spLocks noGrp="1" noChangeArrowheads="1"/>
          </p:cNvSpPr>
          <p:nvPr>
            <p:ph idx="1"/>
          </p:nvPr>
        </p:nvSpPr>
        <p:spPr>
          <a:xfrm>
            <a:off x="1143000" y="1600200"/>
            <a:ext cx="7315200" cy="5029200"/>
          </a:xfrm>
        </p:spPr>
        <p:txBody>
          <a:bodyPr/>
          <a:lstStyle/>
          <a:p>
            <a:pPr algn="r" rtl="1"/>
            <a:r>
              <a:rPr lang="he-IL" sz="2000" dirty="0"/>
              <a:t>ניתן להשתמש בכל אחת מפקודות אלו בתוך </a:t>
            </a:r>
            <a:r>
              <a:rPr lang="en-US" sz="2000" dirty="0"/>
              <a:t>PL/SQL</a:t>
            </a:r>
            <a:r>
              <a:rPr lang="he-IL" sz="2000" dirty="0"/>
              <a:t>.</a:t>
            </a:r>
            <a:endParaRPr lang="en-US" sz="2000" dirty="0"/>
          </a:p>
          <a:p>
            <a:pPr algn="r" rtl="1"/>
            <a:r>
              <a:rPr lang="he-IL" sz="2000" dirty="0"/>
              <a:t>ניתן לקבל מידע על הפעולה כגון כמה שורות השתנו, בעזרת שמות משתנים שמורים.</a:t>
            </a:r>
            <a:endParaRPr lang="en-US" sz="2000" dirty="0"/>
          </a:p>
          <a:p>
            <a:pPr algn="r" rtl="1">
              <a:buFontTx/>
              <a:buNone/>
            </a:pPr>
            <a:r>
              <a:rPr lang="he-IL" sz="1800" dirty="0"/>
              <a:t> 	</a:t>
            </a:r>
            <a:endParaRPr lang="en-US" sz="1800" dirty="0"/>
          </a:p>
          <a:p>
            <a:pPr algn="l" rtl="0">
              <a:buFontTx/>
              <a:buNone/>
            </a:pPr>
            <a:endParaRPr lang="en-US" sz="1600" dirty="0"/>
          </a:p>
          <a:p>
            <a:pPr algn="l" rtl="0">
              <a:buFontTx/>
              <a:buNone/>
            </a:pPr>
            <a:endParaRPr lang="en-US" sz="1800" dirty="0"/>
          </a:p>
          <a:p>
            <a:pPr>
              <a:buFontTx/>
              <a:buNone/>
            </a:pPr>
            <a:r>
              <a:rPr lang="he-IL" sz="1800" dirty="0"/>
              <a:t>		</a:t>
            </a:r>
            <a:endParaRPr lang="en-US" sz="1800" dirty="0"/>
          </a:p>
        </p:txBody>
      </p:sp>
      <p:sp>
        <p:nvSpPr>
          <p:cNvPr id="2253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9pPr>
          </a:lstStyle>
          <a:p>
            <a:pPr eaLnBrk="1" hangingPunct="1"/>
            <a:fld id="{86277FE9-96DC-4FF3-AB91-1CFBE8359422}" type="slidenum">
              <a:rPr lang="he-IL" sz="1400"/>
              <a:pPr eaLnBrk="1" hangingPunct="1"/>
              <a:t>21</a:t>
            </a:fld>
            <a:endParaRPr lang="en-US" sz="1400"/>
          </a:p>
        </p:txBody>
      </p:sp>
      <p:pic>
        <p:nvPicPr>
          <p:cNvPr id="2253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2971800"/>
            <a:ext cx="6854825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en-US" sz="3600" b="1" dirty="0"/>
              <a:t>PL/SQL</a:t>
            </a:r>
            <a:r>
              <a:rPr lang="he-IL" sz="3600" b="1" dirty="0"/>
              <a:t> - </a:t>
            </a:r>
            <a:r>
              <a:rPr lang="en-US" sz="2400" b="1" i="1" dirty="0"/>
              <a:t>UPDATE, INSERT and DELETE</a:t>
            </a:r>
            <a:endParaRPr lang="en-US" sz="3600" b="1" dirty="0"/>
          </a:p>
        </p:txBody>
      </p:sp>
      <p:sp>
        <p:nvSpPr>
          <p:cNvPr id="23556" name="Rectangle 3"/>
          <p:cNvSpPr>
            <a:spLocks noGrp="1" noChangeArrowheads="1"/>
          </p:cNvSpPr>
          <p:nvPr>
            <p:ph idx="1"/>
          </p:nvPr>
        </p:nvSpPr>
        <p:spPr>
          <a:xfrm>
            <a:off x="1143000" y="1600200"/>
            <a:ext cx="7315200" cy="5029200"/>
          </a:xfrm>
        </p:spPr>
        <p:txBody>
          <a:bodyPr/>
          <a:lstStyle/>
          <a:p>
            <a:pPr algn="r" rtl="1"/>
            <a:r>
              <a:rPr lang="he-IL" sz="1800" dirty="0"/>
              <a:t>לדוגמה:</a:t>
            </a:r>
            <a:endParaRPr lang="en-US" sz="1800" dirty="0"/>
          </a:p>
          <a:p>
            <a:pPr algn="l" rtl="0">
              <a:buFontTx/>
              <a:buNone/>
            </a:pPr>
            <a:endParaRPr lang="en-US" sz="1800" dirty="0"/>
          </a:p>
          <a:p>
            <a:pPr algn="l" rtl="0">
              <a:buFontTx/>
              <a:buNone/>
            </a:pPr>
            <a:endParaRPr lang="en-US" sz="1600" dirty="0"/>
          </a:p>
          <a:p>
            <a:pPr algn="l" rtl="0">
              <a:buFontTx/>
              <a:buNone/>
            </a:pPr>
            <a:endParaRPr lang="en-US" sz="1800" dirty="0"/>
          </a:p>
          <a:p>
            <a:pPr>
              <a:buFontTx/>
              <a:buNone/>
            </a:pPr>
            <a:r>
              <a:rPr lang="he-IL" sz="1800" dirty="0"/>
              <a:t>		</a:t>
            </a:r>
            <a:endParaRPr lang="en-US" sz="1800" dirty="0"/>
          </a:p>
        </p:txBody>
      </p:sp>
      <p:sp>
        <p:nvSpPr>
          <p:cNvPr id="2355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9pPr>
          </a:lstStyle>
          <a:p>
            <a:pPr eaLnBrk="1" hangingPunct="1"/>
            <a:fld id="{468E98E7-4E86-4EA9-A5E4-52D3AE50906A}" type="slidenum">
              <a:rPr lang="he-IL" sz="1400"/>
              <a:pPr eaLnBrk="1" hangingPunct="1"/>
              <a:t>22</a:t>
            </a:fld>
            <a:endParaRPr lang="en-US" sz="140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2362200"/>
            <a:ext cx="6251466" cy="160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228600"/>
            <a:ext cx="7772400" cy="1143000"/>
          </a:xfrm>
        </p:spPr>
        <p:txBody>
          <a:bodyPr/>
          <a:lstStyle/>
          <a:p>
            <a:pPr algn="ctr" rtl="1"/>
            <a:r>
              <a:rPr lang="en-US" sz="3600" b="1" dirty="0"/>
              <a:t>PL/SQL</a:t>
            </a:r>
            <a:r>
              <a:rPr lang="he-IL" sz="3600" b="1" dirty="0"/>
              <a:t> - </a:t>
            </a:r>
            <a:r>
              <a:rPr lang="en-US" sz="2800" b="1" i="1" dirty="0"/>
              <a:t>INPUT / OUTPUT</a:t>
            </a:r>
            <a:endParaRPr lang="en-US" sz="3600" b="1" dirty="0"/>
          </a:p>
        </p:txBody>
      </p:sp>
      <p:sp>
        <p:nvSpPr>
          <p:cNvPr id="24580" name="Rectangle 3"/>
          <p:cNvSpPr>
            <a:spLocks noGrp="1" noChangeArrowheads="1"/>
          </p:cNvSpPr>
          <p:nvPr>
            <p:ph idx="1"/>
          </p:nvPr>
        </p:nvSpPr>
        <p:spPr>
          <a:xfrm>
            <a:off x="1143000" y="1219200"/>
            <a:ext cx="7315200" cy="5029200"/>
          </a:xfrm>
        </p:spPr>
        <p:txBody>
          <a:bodyPr>
            <a:normAutofit/>
          </a:bodyPr>
          <a:lstStyle/>
          <a:p>
            <a:pPr algn="l" rtl="0">
              <a:buFontTx/>
              <a:buNone/>
            </a:pPr>
            <a:endParaRPr lang="en-US" sz="1800" dirty="0"/>
          </a:p>
          <a:p>
            <a:pPr>
              <a:buFontTx/>
              <a:buNone/>
            </a:pPr>
            <a:endParaRPr lang="en-US" sz="2000" dirty="0"/>
          </a:p>
          <a:p>
            <a:pPr>
              <a:buFontTx/>
              <a:buNone/>
            </a:pPr>
            <a:endParaRPr lang="en-US" sz="2000" dirty="0"/>
          </a:p>
          <a:p>
            <a:pPr>
              <a:buFontTx/>
              <a:buNone/>
            </a:pPr>
            <a:endParaRPr lang="en-US" sz="2000" dirty="0"/>
          </a:p>
          <a:p>
            <a:pPr>
              <a:buFontTx/>
              <a:buNone/>
            </a:pPr>
            <a:endParaRPr lang="en-US" sz="2000" dirty="0"/>
          </a:p>
          <a:p>
            <a:pPr>
              <a:buFontTx/>
              <a:buNone/>
            </a:pPr>
            <a:endParaRPr lang="en-US" sz="2000" dirty="0"/>
          </a:p>
          <a:p>
            <a:pPr algn="l" rtl="0">
              <a:buFontTx/>
              <a:buNone/>
            </a:pPr>
            <a:endParaRPr lang="en-US" sz="1600" dirty="0"/>
          </a:p>
          <a:p>
            <a:pPr algn="l" rtl="0">
              <a:buFontTx/>
              <a:buNone/>
            </a:pPr>
            <a:endParaRPr lang="en-US" sz="1800" dirty="0"/>
          </a:p>
          <a:p>
            <a:pPr>
              <a:buFontTx/>
              <a:buNone/>
            </a:pPr>
            <a:r>
              <a:rPr lang="he-IL" sz="1800" dirty="0"/>
              <a:t>		</a:t>
            </a:r>
            <a:endParaRPr lang="en-US" sz="1800" dirty="0"/>
          </a:p>
        </p:txBody>
      </p:sp>
      <p:sp>
        <p:nvSpPr>
          <p:cNvPr id="2457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9pPr>
          </a:lstStyle>
          <a:p>
            <a:pPr eaLnBrk="1" hangingPunct="1"/>
            <a:fld id="{53ECAD18-F26C-4574-8DBF-C697DA08C3E0}" type="slidenum">
              <a:rPr lang="he-IL" sz="1400"/>
              <a:pPr eaLnBrk="1" hangingPunct="1"/>
              <a:t>23</a:t>
            </a:fld>
            <a:endParaRPr lang="en-US" sz="1400"/>
          </a:p>
        </p:txBody>
      </p:sp>
      <p:sp>
        <p:nvSpPr>
          <p:cNvPr id="2" name="Rectangle 1"/>
          <p:cNvSpPr/>
          <p:nvPr/>
        </p:nvSpPr>
        <p:spPr>
          <a:xfrm>
            <a:off x="2057400" y="4343400"/>
            <a:ext cx="5715000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he-IL" sz="1800" dirty="0">
                <a:solidFill>
                  <a:srgbClr val="FFFF00"/>
                </a:solidFill>
                <a:cs typeface="+mj-cs"/>
              </a:rPr>
              <a:t>נשים לב כי </a:t>
            </a:r>
            <a:r>
              <a:rPr lang="en-US" sz="1800" dirty="0">
                <a:solidFill>
                  <a:srgbClr val="FFFF00"/>
                </a:solidFill>
                <a:cs typeface="+mj-cs"/>
              </a:rPr>
              <a:t>j</a:t>
            </a:r>
            <a:r>
              <a:rPr lang="he-IL" sz="1800" dirty="0">
                <a:solidFill>
                  <a:srgbClr val="FFFF00"/>
                </a:solidFill>
                <a:cs typeface="+mj-cs"/>
              </a:rPr>
              <a:t> אחרי הסימן &amp;, יופיע למשתמש בהודעה כ – "הכנס ערך עבור משתנה זה".</a:t>
            </a:r>
          </a:p>
          <a:p>
            <a:pPr>
              <a:buFontTx/>
              <a:buNone/>
            </a:pPr>
            <a:endParaRPr lang="en-US" sz="1800" dirty="0">
              <a:solidFill>
                <a:srgbClr val="FFFF00"/>
              </a:solidFill>
              <a:cs typeface="+mj-cs"/>
            </a:endParaRPr>
          </a:p>
          <a:p>
            <a:pPr>
              <a:buFontTx/>
              <a:buNone/>
            </a:pPr>
            <a:r>
              <a:rPr lang="he-IL" sz="1600" dirty="0">
                <a:cs typeface="+mj-cs"/>
              </a:rPr>
              <a:t> 	</a:t>
            </a:r>
            <a:endParaRPr lang="en-US" sz="1600" dirty="0">
              <a:cs typeface="+mj-cs"/>
            </a:endParaRPr>
          </a:p>
        </p:txBody>
      </p:sp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2062" y="1524000"/>
            <a:ext cx="6618288" cy="2009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4789159"/>
            <a:ext cx="2647950" cy="151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en-US" sz="3600" b="1" dirty="0"/>
              <a:t>PL/SQL</a:t>
            </a:r>
            <a:r>
              <a:rPr lang="he-IL" sz="3600" b="1" dirty="0"/>
              <a:t> - התניות</a:t>
            </a:r>
            <a:endParaRPr lang="en-US" sz="3600" b="1" dirty="0"/>
          </a:p>
        </p:txBody>
      </p:sp>
      <p:sp>
        <p:nvSpPr>
          <p:cNvPr id="5124" name="Rectangle 3"/>
          <p:cNvSpPr>
            <a:spLocks noGrp="1" noChangeArrowheads="1"/>
          </p:cNvSpPr>
          <p:nvPr>
            <p:ph idx="1"/>
          </p:nvPr>
        </p:nvSpPr>
        <p:spPr>
          <a:xfrm>
            <a:off x="1143000" y="1676400"/>
            <a:ext cx="7315200" cy="4800600"/>
          </a:xfrm>
        </p:spPr>
        <p:txBody>
          <a:bodyPr/>
          <a:lstStyle/>
          <a:p>
            <a:pPr algn="r" rtl="1">
              <a:defRPr/>
            </a:pPr>
            <a:r>
              <a:rPr lang="he-IL" sz="2000" dirty="0"/>
              <a:t>משפט </a:t>
            </a:r>
            <a:r>
              <a:rPr lang="en-US" sz="2000" dirty="0"/>
              <a:t>IF</a:t>
            </a:r>
            <a:r>
              <a:rPr lang="he-IL" sz="2000" dirty="0"/>
              <a:t> נראה כך :</a:t>
            </a:r>
          </a:p>
          <a:p>
            <a:pPr algn="l" rtl="0">
              <a:buFontTx/>
              <a:buNone/>
              <a:defRPr/>
            </a:pPr>
            <a:r>
              <a:rPr lang="en-US" sz="1400" dirty="0">
                <a:latin typeface="Courier New" pitchFamily="49" charset="0"/>
                <a:cs typeface="Courier New" pitchFamily="49" charset="0"/>
              </a:rPr>
              <a:t>IF &lt;condition&gt; THEN &lt;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statement_list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&gt; ELSE &lt;</a:t>
            </a:r>
            <a:r>
              <a:rPr lang="en-US" sz="1400" dirty="0" err="1">
                <a:latin typeface="Courier New" pitchFamily="49" charset="0"/>
                <a:cs typeface="Courier New" pitchFamily="49" charset="0"/>
              </a:rPr>
              <a:t>statement_list</a:t>
            </a:r>
            <a:r>
              <a:rPr lang="en-US" sz="1400" dirty="0">
                <a:latin typeface="Courier New" pitchFamily="49" charset="0"/>
                <a:cs typeface="Courier New" pitchFamily="49" charset="0"/>
              </a:rPr>
              <a:t>&gt; END IF;</a:t>
            </a:r>
          </a:p>
          <a:p>
            <a:pPr algn="ctr" rtl="1">
              <a:buFontTx/>
              <a:buNone/>
              <a:defRPr/>
            </a:pPr>
            <a:endParaRPr lang="he-IL" sz="1800" dirty="0">
              <a:solidFill>
                <a:srgbClr val="FFFF00"/>
              </a:solidFill>
            </a:endParaRPr>
          </a:p>
          <a:p>
            <a:pPr algn="ctr" rtl="1">
              <a:buFontTx/>
              <a:buNone/>
              <a:defRPr/>
            </a:pPr>
            <a:r>
              <a:rPr lang="he-IL" sz="1800" dirty="0">
                <a:solidFill>
                  <a:srgbClr val="FFFF00"/>
                </a:solidFill>
              </a:rPr>
              <a:t>חלק ה-</a:t>
            </a:r>
            <a:r>
              <a:rPr lang="en-US" sz="1800" dirty="0">
                <a:solidFill>
                  <a:srgbClr val="FFFF00"/>
                </a:solidFill>
              </a:rPr>
              <a:t>ELSE</a:t>
            </a:r>
            <a:r>
              <a:rPr lang="he-IL" sz="1800" dirty="0">
                <a:solidFill>
                  <a:srgbClr val="FFFF00"/>
                </a:solidFill>
              </a:rPr>
              <a:t> אינו הכרחי.</a:t>
            </a:r>
            <a:endParaRPr lang="en-US" sz="1800" dirty="0">
              <a:solidFill>
                <a:srgbClr val="FFFF00"/>
              </a:solidFill>
            </a:endParaRPr>
          </a:p>
          <a:p>
            <a:pPr>
              <a:defRPr/>
            </a:pPr>
            <a:endParaRPr lang="he-IL" sz="800" dirty="0"/>
          </a:p>
          <a:p>
            <a:pPr algn="r" rtl="1">
              <a:defRPr/>
            </a:pPr>
            <a:r>
              <a:rPr lang="he-IL" sz="2000" dirty="0"/>
              <a:t>תנאי מקונן יראה כך :</a:t>
            </a:r>
          </a:p>
          <a:p>
            <a:pPr algn="l" rtl="0">
              <a:buFontTx/>
              <a:buNone/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IF &lt;condition_1&gt; THEN </a:t>
            </a:r>
          </a:p>
          <a:p>
            <a:pPr algn="l" rtl="0">
              <a:buFontTx/>
              <a:buNone/>
              <a:defRPr/>
            </a:pPr>
            <a:r>
              <a:rPr lang="en-US" sz="1800" dirty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	--Action</a:t>
            </a:r>
          </a:p>
          <a:p>
            <a:pPr algn="l" rtl="0">
              <a:buFontTx/>
              <a:buNone/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ELSIF &lt;condition_2&gt; THEN</a:t>
            </a:r>
          </a:p>
          <a:p>
            <a:pPr algn="l" rtl="0">
              <a:buFontTx/>
              <a:buNone/>
              <a:defRPr/>
            </a:pPr>
            <a:r>
              <a:rPr lang="en-US" sz="2000" dirty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	--Action</a:t>
            </a:r>
          </a:p>
          <a:p>
            <a:pPr algn="l" rtl="0">
              <a:buFontTx/>
              <a:buNone/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ELSIF &lt;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condition_n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&gt; THEN</a:t>
            </a:r>
          </a:p>
          <a:p>
            <a:pPr algn="l" rtl="0">
              <a:buFontTx/>
              <a:buNone/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US" sz="2000" dirty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	--Action</a:t>
            </a:r>
          </a:p>
          <a:p>
            <a:pPr algn="l" rtl="0">
              <a:buFontTx/>
              <a:buNone/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ELSE </a:t>
            </a:r>
            <a:endParaRPr lang="he-IL" sz="2000" dirty="0">
              <a:latin typeface="Courier New" pitchFamily="49" charset="0"/>
              <a:cs typeface="Courier New" pitchFamily="49" charset="0"/>
            </a:endParaRPr>
          </a:p>
          <a:p>
            <a:pPr algn="l" rtl="0">
              <a:buFontTx/>
              <a:buNone/>
              <a:defRPr/>
            </a:pPr>
            <a:r>
              <a:rPr lang="en-US" sz="2000" dirty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	--Action</a:t>
            </a:r>
          </a:p>
          <a:p>
            <a:pPr algn="l" rtl="0">
              <a:buFontTx/>
              <a:buNone/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END IF;</a:t>
            </a:r>
          </a:p>
          <a:p>
            <a:pPr algn="l" rtl="0">
              <a:defRPr/>
            </a:pPr>
            <a:endParaRPr lang="en-US" sz="2000" dirty="0"/>
          </a:p>
        </p:txBody>
      </p:sp>
      <p:sp>
        <p:nvSpPr>
          <p:cNvPr id="2560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9pPr>
          </a:lstStyle>
          <a:p>
            <a:pPr eaLnBrk="1" hangingPunct="1"/>
            <a:fld id="{248B33F8-0AA5-4DD5-AD39-EC6A3F740B79}" type="slidenum">
              <a:rPr lang="he-IL" sz="1400"/>
              <a:pPr eaLnBrk="1" hangingPunct="1"/>
              <a:t>24</a:t>
            </a:fld>
            <a:endParaRPr lang="en-US" sz="14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en-US" sz="3600" b="1" dirty="0"/>
              <a:t>PL/SQL</a:t>
            </a:r>
            <a:r>
              <a:rPr lang="he-IL" sz="3600" b="1" dirty="0"/>
              <a:t> - התניות</a:t>
            </a:r>
            <a:endParaRPr lang="en-US" sz="3600" b="1" dirty="0"/>
          </a:p>
        </p:txBody>
      </p:sp>
      <p:sp>
        <p:nvSpPr>
          <p:cNvPr id="26628" name="Rectangle 3"/>
          <p:cNvSpPr>
            <a:spLocks noGrp="1" noChangeArrowheads="1"/>
          </p:cNvSpPr>
          <p:nvPr>
            <p:ph idx="1"/>
          </p:nvPr>
        </p:nvSpPr>
        <p:spPr>
          <a:xfrm>
            <a:off x="1600200" y="1676400"/>
            <a:ext cx="6858000" cy="4800600"/>
          </a:xfrm>
        </p:spPr>
        <p:txBody>
          <a:bodyPr/>
          <a:lstStyle/>
          <a:p>
            <a:pPr algn="r" rtl="1"/>
            <a:r>
              <a:rPr lang="he-IL" sz="2000" dirty="0"/>
              <a:t>לדוגמא :</a:t>
            </a:r>
          </a:p>
          <a:p>
            <a:pPr algn="l" rtl="0"/>
            <a:endParaRPr lang="en-US" sz="2000" dirty="0"/>
          </a:p>
        </p:txBody>
      </p:sp>
      <p:sp>
        <p:nvSpPr>
          <p:cNvPr id="2662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9pPr>
          </a:lstStyle>
          <a:p>
            <a:pPr eaLnBrk="1" hangingPunct="1"/>
            <a:fld id="{A96C0A9E-68DA-4CBD-BD8E-492E58D2504C}" type="slidenum">
              <a:rPr lang="he-IL" sz="1400"/>
              <a:pPr eaLnBrk="1" hangingPunct="1"/>
              <a:t>25</a:t>
            </a:fld>
            <a:endParaRPr lang="en-US" sz="140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1933696"/>
            <a:ext cx="4310063" cy="26430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en-US" sz="3600" b="1" dirty="0"/>
              <a:t>PL/SQL</a:t>
            </a:r>
            <a:r>
              <a:rPr lang="he-IL" sz="3600" b="1" dirty="0"/>
              <a:t> - </a:t>
            </a:r>
            <a:r>
              <a:rPr lang="he-IL" sz="4000" b="1" dirty="0"/>
              <a:t>התניות</a:t>
            </a:r>
            <a:endParaRPr lang="en-US" sz="3600" b="1" dirty="0"/>
          </a:p>
        </p:txBody>
      </p:sp>
      <p:sp>
        <p:nvSpPr>
          <p:cNvPr id="27652" name="Rectangle 3"/>
          <p:cNvSpPr>
            <a:spLocks noGrp="1" noChangeArrowheads="1"/>
          </p:cNvSpPr>
          <p:nvPr>
            <p:ph idx="1"/>
          </p:nvPr>
        </p:nvSpPr>
        <p:spPr>
          <a:xfrm>
            <a:off x="1143000" y="1600200"/>
            <a:ext cx="7315200" cy="5029200"/>
          </a:xfrm>
        </p:spPr>
        <p:txBody>
          <a:bodyPr/>
          <a:lstStyle/>
          <a:p>
            <a:pPr algn="r" rtl="1"/>
            <a:r>
              <a:rPr lang="he-IL" sz="1800" dirty="0"/>
              <a:t>דוגמה נוספת:</a:t>
            </a:r>
            <a:endParaRPr lang="en-US" sz="1800" dirty="0"/>
          </a:p>
          <a:p>
            <a:pPr algn="l" rtl="0">
              <a:buFontTx/>
              <a:buNone/>
            </a:pPr>
            <a:endParaRPr lang="en-US" sz="1800" dirty="0"/>
          </a:p>
          <a:p>
            <a:pPr algn="l" rtl="0">
              <a:buFontTx/>
              <a:buNone/>
            </a:pPr>
            <a:endParaRPr lang="en-US" sz="1600" dirty="0"/>
          </a:p>
          <a:p>
            <a:pPr algn="l" rtl="0">
              <a:buFontTx/>
              <a:buNone/>
            </a:pPr>
            <a:endParaRPr lang="en-US" sz="1800" dirty="0"/>
          </a:p>
          <a:p>
            <a:pPr>
              <a:buFontTx/>
              <a:buNone/>
            </a:pPr>
            <a:r>
              <a:rPr lang="he-IL" sz="1800" dirty="0"/>
              <a:t>		</a:t>
            </a:r>
            <a:endParaRPr lang="en-US" sz="1800" dirty="0"/>
          </a:p>
        </p:txBody>
      </p:sp>
      <p:sp>
        <p:nvSpPr>
          <p:cNvPr id="2765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9pPr>
          </a:lstStyle>
          <a:p>
            <a:pPr eaLnBrk="1" hangingPunct="1"/>
            <a:fld id="{F091B98D-1A5F-4190-B23C-7C0E4D17C0B7}" type="slidenum">
              <a:rPr lang="he-IL" sz="1400"/>
              <a:pPr eaLnBrk="1" hangingPunct="1"/>
              <a:t>26</a:t>
            </a:fld>
            <a:endParaRPr lang="en-US" sz="140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2092" y="2281238"/>
            <a:ext cx="6512708" cy="2519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en-US" sz="3600" b="1" dirty="0"/>
              <a:t>PL/SQL</a:t>
            </a:r>
            <a:r>
              <a:rPr lang="he-IL" sz="3600" b="1" dirty="0"/>
              <a:t> - </a:t>
            </a:r>
            <a:r>
              <a:rPr lang="he-IL" sz="3200" b="1" dirty="0"/>
              <a:t>התניות</a:t>
            </a:r>
            <a:endParaRPr lang="en-US" sz="3600" b="1" dirty="0"/>
          </a:p>
        </p:txBody>
      </p:sp>
      <p:sp>
        <p:nvSpPr>
          <p:cNvPr id="28676" name="Rectangle 3"/>
          <p:cNvSpPr>
            <a:spLocks noGrp="1" noChangeArrowheads="1"/>
          </p:cNvSpPr>
          <p:nvPr>
            <p:ph idx="1"/>
          </p:nvPr>
        </p:nvSpPr>
        <p:spPr>
          <a:xfrm>
            <a:off x="1143000" y="1600200"/>
            <a:ext cx="7315200" cy="5029200"/>
          </a:xfrm>
        </p:spPr>
        <p:txBody>
          <a:bodyPr/>
          <a:lstStyle/>
          <a:p>
            <a:pPr algn="r" rtl="1"/>
            <a:r>
              <a:rPr lang="he-IL" sz="1800" dirty="0"/>
              <a:t>שימוש ב- </a:t>
            </a:r>
            <a:r>
              <a:rPr lang="en-US" sz="1800" dirty="0" err="1"/>
              <a:t>SQL%found</a:t>
            </a:r>
            <a:r>
              <a:rPr lang="he-IL" sz="1800" dirty="0"/>
              <a:t>:</a:t>
            </a:r>
            <a:endParaRPr lang="en-US" sz="1800" dirty="0"/>
          </a:p>
          <a:p>
            <a:pPr algn="l" rtl="0">
              <a:buFontTx/>
              <a:buNone/>
            </a:pPr>
            <a:endParaRPr lang="en-US" sz="1800" dirty="0"/>
          </a:p>
          <a:p>
            <a:pPr algn="l" rtl="0">
              <a:buFontTx/>
              <a:buNone/>
            </a:pPr>
            <a:endParaRPr lang="en-US" sz="1600" dirty="0"/>
          </a:p>
          <a:p>
            <a:pPr algn="l" rtl="0">
              <a:buFontTx/>
              <a:buNone/>
            </a:pPr>
            <a:endParaRPr lang="en-US" sz="1800" dirty="0"/>
          </a:p>
          <a:p>
            <a:pPr>
              <a:buFontTx/>
              <a:buNone/>
            </a:pPr>
            <a:r>
              <a:rPr lang="he-IL" sz="1800" dirty="0"/>
              <a:t>		</a:t>
            </a:r>
            <a:endParaRPr lang="en-US" sz="1800" dirty="0"/>
          </a:p>
        </p:txBody>
      </p:sp>
      <p:sp>
        <p:nvSpPr>
          <p:cNvPr id="2867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9pPr>
          </a:lstStyle>
          <a:p>
            <a:pPr eaLnBrk="1" hangingPunct="1"/>
            <a:fld id="{C61081D6-F578-42CE-B0CE-C33F8246F02F}" type="slidenum">
              <a:rPr lang="he-IL" sz="1400"/>
              <a:pPr eaLnBrk="1" hangingPunct="1"/>
              <a:t>27</a:t>
            </a:fld>
            <a:endParaRPr lang="en-US" sz="140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2384612"/>
            <a:ext cx="6207816" cy="2339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en-US" sz="3600" b="1" dirty="0"/>
              <a:t>PL/SQL</a:t>
            </a:r>
            <a:r>
              <a:rPr lang="he-IL" sz="3600" b="1" dirty="0"/>
              <a:t> - לולאות</a:t>
            </a:r>
            <a:endParaRPr lang="en-US" sz="3600" b="1" dirty="0"/>
          </a:p>
        </p:txBody>
      </p:sp>
      <p:sp>
        <p:nvSpPr>
          <p:cNvPr id="5124" name="Rectangle 3"/>
          <p:cNvSpPr>
            <a:spLocks noGrp="1" noChangeArrowheads="1"/>
          </p:cNvSpPr>
          <p:nvPr>
            <p:ph idx="1"/>
          </p:nvPr>
        </p:nvSpPr>
        <p:spPr>
          <a:xfrm>
            <a:off x="1600200" y="1676400"/>
            <a:ext cx="6858000" cy="4800600"/>
          </a:xfrm>
        </p:spPr>
        <p:txBody>
          <a:bodyPr/>
          <a:lstStyle/>
          <a:p>
            <a:pPr algn="r" rtl="1">
              <a:defRPr/>
            </a:pPr>
            <a:r>
              <a:rPr lang="he-IL" sz="2000" dirty="0"/>
              <a:t>לולאות נכתבות בצורה הבאה:</a:t>
            </a:r>
            <a:endParaRPr lang="en-US" sz="2000" dirty="0"/>
          </a:p>
          <a:p>
            <a:pPr algn="l" rtl="0">
              <a:buFontTx/>
              <a:buNone/>
              <a:defRPr/>
            </a:pPr>
            <a:r>
              <a:rPr lang="en-US" sz="1800" dirty="0">
                <a:latin typeface="Courier New" pitchFamily="49" charset="0"/>
                <a:cs typeface="Courier New" pitchFamily="49" charset="0"/>
              </a:rPr>
              <a:t>LOOP   </a:t>
            </a:r>
          </a:p>
          <a:p>
            <a:pPr algn="l" rtl="0">
              <a:buFontTx/>
              <a:buNone/>
              <a:defRPr/>
            </a:pPr>
            <a:r>
              <a:rPr lang="en-US" sz="1800" dirty="0">
                <a:latin typeface="Courier New" pitchFamily="49" charset="0"/>
                <a:cs typeface="Courier New" pitchFamily="49" charset="0"/>
              </a:rPr>
              <a:t>	 &lt;</a:t>
            </a:r>
            <a:r>
              <a:rPr lang="en-US" sz="1800" dirty="0" err="1">
                <a:latin typeface="Courier New" pitchFamily="49" charset="0"/>
                <a:cs typeface="Courier New" pitchFamily="49" charset="0"/>
              </a:rPr>
              <a:t>loop_body</a:t>
            </a:r>
            <a:r>
              <a:rPr lang="en-US" sz="1800" dirty="0">
                <a:latin typeface="Courier New" pitchFamily="49" charset="0"/>
                <a:cs typeface="Courier New" pitchFamily="49" charset="0"/>
              </a:rPr>
              <a:t>&gt;  /* </a:t>
            </a:r>
            <a:r>
              <a:rPr lang="en-US" sz="1800" dirty="0">
                <a:solidFill>
                  <a:schemeClr val="accent6"/>
                </a:solidFill>
                <a:latin typeface="Courier New" pitchFamily="49" charset="0"/>
                <a:cs typeface="Courier New" pitchFamily="49" charset="0"/>
              </a:rPr>
              <a:t>A list of statements</a:t>
            </a:r>
            <a:r>
              <a:rPr lang="en-US" sz="1800" dirty="0">
                <a:latin typeface="Courier New" pitchFamily="49" charset="0"/>
                <a:cs typeface="Courier New" pitchFamily="49" charset="0"/>
              </a:rPr>
              <a:t>. */</a:t>
            </a:r>
          </a:p>
          <a:p>
            <a:pPr algn="l" rtl="0">
              <a:buFontTx/>
              <a:buNone/>
              <a:defRPr/>
            </a:pPr>
            <a:r>
              <a:rPr lang="en-US" sz="1800" dirty="0">
                <a:latin typeface="Courier New" pitchFamily="49" charset="0"/>
                <a:cs typeface="Courier New" pitchFamily="49" charset="0"/>
              </a:rPr>
              <a:t>END LOOP;</a:t>
            </a:r>
            <a:endParaRPr lang="he-IL" sz="1800" dirty="0">
              <a:latin typeface="Courier New" pitchFamily="49" charset="0"/>
              <a:cs typeface="Courier New" pitchFamily="49" charset="0"/>
            </a:endParaRPr>
          </a:p>
          <a:p>
            <a:pPr algn="l" rtl="0">
              <a:buFontTx/>
              <a:buNone/>
              <a:defRPr/>
            </a:pPr>
            <a:endParaRPr lang="en-US" sz="1800" dirty="0"/>
          </a:p>
          <a:p>
            <a:pPr algn="r" rtl="1">
              <a:defRPr/>
            </a:pPr>
            <a:r>
              <a:rPr lang="he-IL" sz="2000" dirty="0"/>
              <a:t>כאשר לפחות שורה אחת ב- </a:t>
            </a:r>
            <a:r>
              <a:rPr lang="en-US" sz="2000" dirty="0"/>
              <a:t>&lt;</a:t>
            </a:r>
            <a:r>
              <a:rPr lang="en-US" sz="2000" dirty="0" err="1"/>
              <a:t>loop_body</a:t>
            </a:r>
            <a:r>
              <a:rPr lang="en-US" sz="2000" dirty="0"/>
              <a:t>&gt;</a:t>
            </a:r>
            <a:r>
              <a:rPr lang="he-IL" sz="2000" dirty="0"/>
              <a:t> תכלול משפט יציאה </a:t>
            </a:r>
            <a:r>
              <a:rPr lang="en-US" sz="2000" dirty="0"/>
              <a:t>EXIT</a:t>
            </a:r>
            <a:r>
              <a:rPr lang="he-IL" sz="2000" dirty="0"/>
              <a:t> מהצורה:</a:t>
            </a:r>
            <a:endParaRPr lang="en-US" sz="2000" dirty="0"/>
          </a:p>
          <a:p>
            <a:pPr algn="l" rtl="0">
              <a:buFontTx/>
              <a:buNone/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EXIT WHEN &lt;condition&gt;;</a:t>
            </a:r>
          </a:p>
          <a:p>
            <a:pPr algn="l" rtl="0">
              <a:buFontTx/>
              <a:buNone/>
              <a:defRPr/>
            </a:pPr>
            <a:endParaRPr lang="en-US" sz="2000" dirty="0"/>
          </a:p>
          <a:p>
            <a:pPr algn="ctr">
              <a:buFontTx/>
              <a:buNone/>
              <a:defRPr/>
            </a:pPr>
            <a:r>
              <a:rPr lang="he-IL" sz="2000" dirty="0">
                <a:solidFill>
                  <a:srgbClr val="FFFF00"/>
                </a:solidFill>
              </a:rPr>
              <a:t>הלולאה תצא כאשר התנאי מתקיים, </a:t>
            </a:r>
          </a:p>
          <a:p>
            <a:pPr algn="ctr">
              <a:buFontTx/>
              <a:buNone/>
              <a:defRPr/>
            </a:pPr>
            <a:r>
              <a:rPr lang="he-IL" sz="2000" dirty="0">
                <a:solidFill>
                  <a:srgbClr val="FFFF00"/>
                </a:solidFill>
              </a:rPr>
              <a:t>וכמובן במקום שנאמר לה לצאת.</a:t>
            </a:r>
            <a:endParaRPr lang="en-US" sz="2000" dirty="0">
              <a:solidFill>
                <a:srgbClr val="FFFF00"/>
              </a:solidFill>
            </a:endParaRPr>
          </a:p>
        </p:txBody>
      </p:sp>
      <p:sp>
        <p:nvSpPr>
          <p:cNvPr id="296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9pPr>
          </a:lstStyle>
          <a:p>
            <a:pPr eaLnBrk="1" hangingPunct="1"/>
            <a:fld id="{999545CB-506A-4166-A464-BE2B0DA00AF6}" type="slidenum">
              <a:rPr lang="he-IL" sz="1400"/>
              <a:pPr eaLnBrk="1" hangingPunct="1"/>
              <a:t>28</a:t>
            </a:fld>
            <a:endParaRPr lang="en-US" sz="14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lang="en-US" sz="3600" b="1" dirty="0"/>
              <a:t>PL/SQL</a:t>
            </a:r>
            <a:r>
              <a:rPr lang="he-IL" sz="3600" b="1" dirty="0"/>
              <a:t> - לולאות</a:t>
            </a:r>
            <a:endParaRPr lang="en-US" sz="3600" b="1" dirty="0"/>
          </a:p>
        </p:txBody>
      </p:sp>
      <p:sp>
        <p:nvSpPr>
          <p:cNvPr id="5124" name="Rectangle 3"/>
          <p:cNvSpPr>
            <a:spLocks noGrp="1" noChangeArrowheads="1"/>
          </p:cNvSpPr>
          <p:nvPr>
            <p:ph idx="1"/>
          </p:nvPr>
        </p:nvSpPr>
        <p:spPr>
          <a:xfrm>
            <a:off x="1600200" y="1676400"/>
            <a:ext cx="6858000" cy="4800600"/>
          </a:xfrm>
        </p:spPr>
        <p:txBody>
          <a:bodyPr/>
          <a:lstStyle/>
          <a:p>
            <a:pPr algn="r" rtl="1">
              <a:defRPr/>
            </a:pPr>
            <a:r>
              <a:rPr lang="he-IL" sz="2000" dirty="0"/>
              <a:t>לדוגמא:</a:t>
            </a:r>
          </a:p>
          <a:p>
            <a:pPr algn="r" rtl="1">
              <a:defRPr/>
            </a:pPr>
            <a:endParaRPr lang="he-IL" sz="2000" dirty="0"/>
          </a:p>
          <a:p>
            <a:pPr algn="r" rtl="1">
              <a:defRPr/>
            </a:pPr>
            <a:endParaRPr lang="he-IL" sz="2000" dirty="0"/>
          </a:p>
          <a:p>
            <a:pPr algn="r" rtl="1">
              <a:defRPr/>
            </a:pPr>
            <a:endParaRPr lang="he-IL" sz="2000" dirty="0"/>
          </a:p>
          <a:p>
            <a:pPr algn="r" rtl="1">
              <a:defRPr/>
            </a:pPr>
            <a:endParaRPr lang="he-IL" sz="2000" dirty="0"/>
          </a:p>
          <a:p>
            <a:pPr algn="r" rtl="1">
              <a:defRPr/>
            </a:pPr>
            <a:endParaRPr lang="he-IL" sz="2000" dirty="0"/>
          </a:p>
          <a:p>
            <a:pPr algn="r" rtl="1">
              <a:defRPr/>
            </a:pPr>
            <a:endParaRPr lang="he-IL" sz="2000" dirty="0"/>
          </a:p>
          <a:p>
            <a:pPr algn="r" rtl="1">
              <a:defRPr/>
            </a:pPr>
            <a:endParaRPr lang="he-IL" sz="2000" dirty="0"/>
          </a:p>
          <a:p>
            <a:pPr algn="r" rtl="1">
              <a:defRPr/>
            </a:pPr>
            <a:endParaRPr lang="he-IL" sz="2000" dirty="0"/>
          </a:p>
          <a:p>
            <a:pPr algn="r" rtl="1">
              <a:defRPr/>
            </a:pPr>
            <a:endParaRPr lang="en-US" sz="2000" dirty="0"/>
          </a:p>
          <a:p>
            <a:pPr algn="ctr" rtl="1">
              <a:buFontTx/>
              <a:buNone/>
              <a:defRPr/>
            </a:pPr>
            <a:r>
              <a:rPr lang="he-IL" sz="1800" dirty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הלולאה תכניס לטבלה </a:t>
            </a:r>
            <a:r>
              <a:rPr lang="en-US" sz="1800" dirty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T1</a:t>
            </a:r>
            <a:r>
              <a:rPr lang="he-IL" sz="1800" dirty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 את הזוגות (1,1) עד (100,100).</a:t>
            </a:r>
            <a:endParaRPr lang="en-US" sz="1800" dirty="0">
              <a:solidFill>
                <a:srgbClr val="FFFF0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072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9pPr>
          </a:lstStyle>
          <a:p>
            <a:pPr eaLnBrk="1" hangingPunct="1"/>
            <a:fld id="{9665EE33-6D27-446B-8483-C71E78B60632}" type="slidenum">
              <a:rPr lang="he-IL" sz="1400"/>
              <a:pPr eaLnBrk="1" hangingPunct="1"/>
              <a:t>29</a:t>
            </a:fld>
            <a:endParaRPr lang="en-US" sz="140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1752600"/>
            <a:ext cx="3581400" cy="2338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/>
          <a:lstStyle/>
          <a:p>
            <a:pPr algn="ctr" rtl="1"/>
            <a:r>
              <a:rPr lang="en-US" sz="3600" b="1" dirty="0"/>
              <a:t>PL/SQL</a:t>
            </a:r>
            <a:r>
              <a:rPr lang="he-IL" sz="3600" b="1" dirty="0"/>
              <a:t> - לולאות</a:t>
            </a:r>
            <a:endParaRPr lang="en-US" sz="3600" b="1" dirty="0"/>
          </a:p>
        </p:txBody>
      </p:sp>
      <p:sp>
        <p:nvSpPr>
          <p:cNvPr id="31748" name="Rectangle 3"/>
          <p:cNvSpPr>
            <a:spLocks noGrp="1" noChangeArrowheads="1"/>
          </p:cNvSpPr>
          <p:nvPr>
            <p:ph idx="1"/>
          </p:nvPr>
        </p:nvSpPr>
        <p:spPr>
          <a:xfrm>
            <a:off x="1600200" y="1447800"/>
            <a:ext cx="6858000" cy="5105400"/>
          </a:xfrm>
        </p:spPr>
        <p:txBody>
          <a:bodyPr/>
          <a:lstStyle/>
          <a:p>
            <a:pPr algn="r" rtl="1"/>
            <a:r>
              <a:rPr lang="he-IL" sz="2000" dirty="0"/>
              <a:t>לולאת </a:t>
            </a:r>
            <a:r>
              <a:rPr lang="en-US" sz="2000" dirty="0"/>
              <a:t>WHILE</a:t>
            </a:r>
            <a:r>
              <a:rPr lang="he-IL" sz="2000" dirty="0"/>
              <a:t> היא מהצורה:</a:t>
            </a:r>
            <a:endParaRPr lang="en-US" sz="2000" dirty="0"/>
          </a:p>
          <a:p>
            <a:pPr algn="l" rtl="0">
              <a:buFontTx/>
              <a:buNone/>
            </a:pPr>
            <a:r>
              <a:rPr lang="en-US" sz="1800" dirty="0">
                <a:latin typeface="Courier New" pitchFamily="49" charset="0"/>
                <a:cs typeface="Courier New" pitchFamily="49" charset="0"/>
              </a:rPr>
              <a:t>WHILE &lt;condition&gt; LOOP</a:t>
            </a:r>
          </a:p>
          <a:p>
            <a:pPr algn="l" rtl="0">
              <a:buFontTx/>
              <a:buNone/>
            </a:pPr>
            <a:r>
              <a:rPr lang="en-US" sz="1800" dirty="0">
                <a:latin typeface="Courier New" pitchFamily="49" charset="0"/>
                <a:cs typeface="Courier New" pitchFamily="49" charset="0"/>
              </a:rPr>
              <a:t>        &lt;</a:t>
            </a:r>
            <a:r>
              <a:rPr lang="en-US" sz="1800" dirty="0" err="1">
                <a:latin typeface="Courier New" pitchFamily="49" charset="0"/>
                <a:cs typeface="Courier New" pitchFamily="49" charset="0"/>
              </a:rPr>
              <a:t>loop_body</a:t>
            </a:r>
            <a:r>
              <a:rPr lang="en-US" sz="1800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algn="l" rtl="0">
              <a:buFontTx/>
              <a:buNone/>
            </a:pPr>
            <a:r>
              <a:rPr lang="en-US" sz="1800" dirty="0">
                <a:latin typeface="Courier New" pitchFamily="49" charset="0"/>
                <a:cs typeface="Courier New" pitchFamily="49" charset="0"/>
              </a:rPr>
              <a:t>END LOOP;</a:t>
            </a:r>
          </a:p>
          <a:p>
            <a:pPr algn="r" rtl="1"/>
            <a:r>
              <a:rPr lang="he-IL" sz="2000" dirty="0"/>
              <a:t> לדוגמה:</a:t>
            </a:r>
          </a:p>
          <a:p>
            <a:pPr algn="r" rtl="1"/>
            <a:endParaRPr lang="en-US" sz="2000" dirty="0"/>
          </a:p>
        </p:txBody>
      </p:sp>
      <p:sp>
        <p:nvSpPr>
          <p:cNvPr id="3174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9pPr>
          </a:lstStyle>
          <a:p>
            <a:pPr eaLnBrk="1" hangingPunct="1"/>
            <a:fld id="{86C095D7-46F1-454B-968F-5FBC0DFDBDE3}" type="slidenum">
              <a:rPr lang="he-IL" sz="1400"/>
              <a:pPr eaLnBrk="1" hangingPunct="1"/>
              <a:t>30</a:t>
            </a:fld>
            <a:endParaRPr lang="en-US" sz="1400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3124200"/>
            <a:ext cx="3623422" cy="23663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/>
          <a:lstStyle/>
          <a:p>
            <a:pPr algn="ctr" rtl="1"/>
            <a:r>
              <a:rPr lang="en-US" sz="3600" b="1" dirty="0"/>
              <a:t>PL/SQL</a:t>
            </a:r>
            <a:r>
              <a:rPr lang="he-IL" sz="3600" b="1" dirty="0"/>
              <a:t> - לולאות</a:t>
            </a:r>
            <a:endParaRPr lang="en-US" sz="3600" b="1" dirty="0"/>
          </a:p>
        </p:txBody>
      </p:sp>
      <p:sp>
        <p:nvSpPr>
          <p:cNvPr id="5124" name="Rectangle 3"/>
          <p:cNvSpPr>
            <a:spLocks noGrp="1" noChangeArrowheads="1"/>
          </p:cNvSpPr>
          <p:nvPr>
            <p:ph idx="1"/>
          </p:nvPr>
        </p:nvSpPr>
        <p:spPr>
          <a:xfrm>
            <a:off x="1600200" y="1447800"/>
            <a:ext cx="6858000" cy="5105400"/>
          </a:xfrm>
        </p:spPr>
        <p:txBody>
          <a:bodyPr/>
          <a:lstStyle/>
          <a:p>
            <a:pPr algn="r" rtl="1">
              <a:defRPr/>
            </a:pPr>
            <a:r>
              <a:rPr lang="he-IL" sz="2000" dirty="0"/>
              <a:t>לולאת </a:t>
            </a:r>
            <a:r>
              <a:rPr lang="en-US" sz="2000" dirty="0"/>
              <a:t>FOR</a:t>
            </a:r>
            <a:r>
              <a:rPr lang="he-IL" sz="2000" dirty="0"/>
              <a:t> היא מהצורה:</a:t>
            </a:r>
            <a:endParaRPr lang="en-US" sz="2000" dirty="0"/>
          </a:p>
          <a:p>
            <a:pPr algn="l" rtl="0">
              <a:buFontTx/>
              <a:buNone/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FOR &lt;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&gt; IN &lt;start&gt;..&lt;finish&gt; LOOP</a:t>
            </a:r>
          </a:p>
          <a:p>
            <a:pPr algn="l" rtl="0">
              <a:buFontTx/>
              <a:buNone/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        &lt;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loop_body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algn="l" rtl="0">
              <a:buFontTx/>
              <a:buNone/>
              <a:defRPr/>
            </a:pPr>
            <a:r>
              <a:rPr lang="en-US" sz="2000" dirty="0">
                <a:latin typeface="Courier New" pitchFamily="49" charset="0"/>
                <a:cs typeface="Courier New" pitchFamily="49" charset="0"/>
              </a:rPr>
              <a:t>END LOOP;</a:t>
            </a:r>
          </a:p>
          <a:p>
            <a:pPr algn="ctr">
              <a:buFontTx/>
              <a:buNone/>
              <a:defRPr/>
            </a:pPr>
            <a:endParaRPr lang="he-IL" sz="2000" dirty="0">
              <a:solidFill>
                <a:schemeClr val="accent6"/>
              </a:solidFill>
            </a:endParaRPr>
          </a:p>
          <a:p>
            <a:pPr algn="ctr" rtl="1">
              <a:buFontTx/>
              <a:buNone/>
              <a:defRPr/>
            </a:pPr>
            <a:r>
              <a:rPr lang="he-IL" sz="2000" dirty="0">
                <a:solidFill>
                  <a:srgbClr val="FFFF00"/>
                </a:solidFill>
              </a:rPr>
              <a:t>משתנה ה- </a:t>
            </a:r>
            <a:r>
              <a:rPr lang="en-US" sz="2000" dirty="0">
                <a:solidFill>
                  <a:srgbClr val="FFFF00"/>
                </a:solidFill>
              </a:rPr>
              <a:t>&lt;</a:t>
            </a:r>
            <a:r>
              <a:rPr lang="en-US" sz="2000" dirty="0" err="1">
                <a:solidFill>
                  <a:srgbClr val="FFFF00"/>
                </a:solidFill>
              </a:rPr>
              <a:t>var</a:t>
            </a:r>
            <a:r>
              <a:rPr lang="en-US" sz="2000" dirty="0">
                <a:solidFill>
                  <a:srgbClr val="FFFF00"/>
                </a:solidFill>
              </a:rPr>
              <a:t>&gt;</a:t>
            </a:r>
            <a:r>
              <a:rPr lang="he-IL" sz="2000" dirty="0">
                <a:solidFill>
                  <a:srgbClr val="FFFF00"/>
                </a:solidFill>
              </a:rPr>
              <a:t> הוא לוקאלי ללואלה ולא צריך להיות מוגדר.</a:t>
            </a:r>
          </a:p>
          <a:p>
            <a:pPr algn="ctr" rtl="1">
              <a:buFontTx/>
              <a:buNone/>
              <a:defRPr/>
            </a:pPr>
            <a:r>
              <a:rPr lang="he-IL" sz="2000" dirty="0">
                <a:solidFill>
                  <a:srgbClr val="FFFF00"/>
                </a:solidFill>
              </a:rPr>
              <a:t> </a:t>
            </a:r>
            <a:r>
              <a:rPr lang="en-US" sz="2000" dirty="0">
                <a:solidFill>
                  <a:srgbClr val="FFFF00"/>
                </a:solidFill>
              </a:rPr>
              <a:t>&lt;start&gt;</a:t>
            </a:r>
            <a:r>
              <a:rPr lang="he-IL" sz="2000" dirty="0">
                <a:solidFill>
                  <a:srgbClr val="FFFF00"/>
                </a:solidFill>
              </a:rPr>
              <a:t> ו-</a:t>
            </a:r>
            <a:r>
              <a:rPr lang="en-US" sz="2000" dirty="0">
                <a:solidFill>
                  <a:srgbClr val="FFFF00"/>
                </a:solidFill>
              </a:rPr>
              <a:t>&lt;finish&gt;</a:t>
            </a:r>
            <a:r>
              <a:rPr lang="he-IL" sz="2000" dirty="0">
                <a:solidFill>
                  <a:srgbClr val="FFFF00"/>
                </a:solidFill>
              </a:rPr>
              <a:t> הינם קבועים.</a:t>
            </a:r>
            <a:endParaRPr lang="en-US" sz="2000" dirty="0">
              <a:solidFill>
                <a:srgbClr val="FFFF00"/>
              </a:solidFill>
            </a:endParaRPr>
          </a:p>
          <a:p>
            <a:pPr algn="l" rtl="0">
              <a:buFontTx/>
              <a:buNone/>
              <a:defRPr/>
            </a:pPr>
            <a:endParaRPr lang="en-US" sz="800" dirty="0"/>
          </a:p>
          <a:p>
            <a:pPr algn="r" rtl="1">
              <a:defRPr/>
            </a:pPr>
            <a:r>
              <a:rPr lang="he-IL" sz="2000" dirty="0"/>
              <a:t> לדוגמה:</a:t>
            </a:r>
            <a:endParaRPr lang="en-US" sz="2000" dirty="0"/>
          </a:p>
          <a:p>
            <a:pPr algn="l" rtl="0">
              <a:buFontTx/>
              <a:buNone/>
              <a:defRPr/>
            </a:pPr>
            <a:endParaRPr lang="en-US" sz="1800" dirty="0"/>
          </a:p>
        </p:txBody>
      </p:sp>
      <p:sp>
        <p:nvSpPr>
          <p:cNvPr id="3277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9pPr>
          </a:lstStyle>
          <a:p>
            <a:pPr eaLnBrk="1" hangingPunct="1"/>
            <a:fld id="{AEDC7389-C9B0-45B8-948B-B6684706D0B0}" type="slidenum">
              <a:rPr lang="he-IL" sz="1400"/>
              <a:pPr eaLnBrk="1" hangingPunct="1"/>
              <a:t>31</a:t>
            </a:fld>
            <a:endParaRPr lang="en-US" sz="1400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4267200"/>
            <a:ext cx="3529263" cy="152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/>
          <a:lstStyle/>
          <a:p>
            <a:pPr algn="ctr" rtl="1"/>
            <a:r>
              <a:rPr lang="en-US" sz="3600" b="1" dirty="0"/>
              <a:t>PL/SQL</a:t>
            </a:r>
            <a:r>
              <a:rPr lang="he-IL" sz="3600" b="1" dirty="0"/>
              <a:t> - </a:t>
            </a:r>
            <a:r>
              <a:rPr lang="en-US" sz="3600" dirty="0">
                <a:solidFill>
                  <a:schemeClr val="tx1"/>
                </a:solidFill>
              </a:rPr>
              <a:t>Cursor</a:t>
            </a:r>
            <a:r>
              <a:rPr lang="he-IL" sz="3600" dirty="0">
                <a:solidFill>
                  <a:schemeClr val="tx1"/>
                </a:solidFill>
              </a:rPr>
              <a:t> </a:t>
            </a:r>
            <a:endParaRPr lang="en-US" sz="3600" b="1" dirty="0"/>
          </a:p>
        </p:txBody>
      </p:sp>
      <p:sp>
        <p:nvSpPr>
          <p:cNvPr id="33796" name="Rectangle 3"/>
          <p:cNvSpPr>
            <a:spLocks noGrp="1" noChangeArrowheads="1"/>
          </p:cNvSpPr>
          <p:nvPr>
            <p:ph idx="1"/>
          </p:nvPr>
        </p:nvSpPr>
        <p:spPr>
          <a:xfrm>
            <a:off x="1600200" y="1447800"/>
            <a:ext cx="6858000" cy="5105400"/>
          </a:xfrm>
        </p:spPr>
        <p:txBody>
          <a:bodyPr/>
          <a:lstStyle/>
          <a:p>
            <a:pPr algn="r" rtl="1"/>
            <a:r>
              <a:rPr lang="en-US" sz="2000" dirty="0"/>
              <a:t>Cursor</a:t>
            </a:r>
            <a:r>
              <a:rPr lang="he-IL" sz="2000" dirty="0"/>
              <a:t> הוא משתנה שרץ על שורות </a:t>
            </a:r>
            <a:r>
              <a:rPr lang="en-US" sz="2000" dirty="0"/>
              <a:t>(tuples)</a:t>
            </a:r>
            <a:r>
              <a:rPr lang="he-IL" sz="2000" dirty="0"/>
              <a:t> בטבלה (</a:t>
            </a:r>
            <a:r>
              <a:rPr lang="en-US" sz="2000" dirty="0"/>
              <a:t>relation</a:t>
            </a:r>
            <a:r>
              <a:rPr lang="he-IL" sz="2000" dirty="0"/>
              <a:t>). </a:t>
            </a:r>
          </a:p>
          <a:p>
            <a:pPr algn="r" rtl="1"/>
            <a:endParaRPr lang="he-IL" sz="2000" dirty="0"/>
          </a:p>
          <a:p>
            <a:pPr algn="r" rtl="1"/>
            <a:r>
              <a:rPr lang="he-IL" sz="2000" dirty="0"/>
              <a:t>ה- </a:t>
            </a:r>
            <a:r>
              <a:rPr lang="en-US" sz="2000" dirty="0"/>
              <a:t> relation</a:t>
            </a:r>
            <a:r>
              <a:rPr lang="he-IL" sz="2000" dirty="0"/>
              <a:t> יכול להיות טבלה או אפילו פלט של תשאול מבט. </a:t>
            </a:r>
          </a:p>
          <a:p>
            <a:pPr algn="r" rtl="1"/>
            <a:endParaRPr lang="he-IL" sz="2000" dirty="0"/>
          </a:p>
          <a:p>
            <a:pPr algn="r" rtl="1"/>
            <a:r>
              <a:rPr lang="he-IL" sz="2000" dirty="0"/>
              <a:t>אנו מעבירים אל ה- </a:t>
            </a:r>
            <a:r>
              <a:rPr lang="en-US" sz="2000" dirty="0"/>
              <a:t>Cursor</a:t>
            </a:r>
            <a:r>
              <a:rPr lang="he-IL" sz="2000" dirty="0"/>
              <a:t> כל שורה ויכולים לעבד את הערכים בשורה זו. </a:t>
            </a:r>
          </a:p>
          <a:p>
            <a:pPr algn="r" rtl="1"/>
            <a:endParaRPr lang="he-IL" sz="2000" dirty="0"/>
          </a:p>
          <a:p>
            <a:pPr algn="r" rtl="1"/>
            <a:r>
              <a:rPr lang="he-IL" sz="2000" dirty="0"/>
              <a:t>אם ה-</a:t>
            </a:r>
            <a:r>
              <a:rPr lang="en-US" sz="2000" dirty="0"/>
              <a:t>relation</a:t>
            </a:r>
            <a:r>
              <a:rPr lang="he-IL" sz="2000" dirty="0"/>
              <a:t> מאוחסן פיזית, נוכל גם לעדכן או למחוק שורה שעליה עומד ה-</a:t>
            </a:r>
            <a:r>
              <a:rPr lang="en-US" sz="2000" dirty="0"/>
              <a:t>Cursor</a:t>
            </a:r>
            <a:r>
              <a:rPr lang="he-IL" sz="2000" dirty="0"/>
              <a:t>.</a:t>
            </a:r>
          </a:p>
          <a:p>
            <a:pPr algn="r" rtl="1"/>
            <a:endParaRPr lang="he-IL" sz="2000" dirty="0"/>
          </a:p>
          <a:p>
            <a:pPr algn="r" rtl="1"/>
            <a:r>
              <a:rPr lang="en-US" sz="2000" dirty="0"/>
              <a:t>Cursor</a:t>
            </a:r>
            <a:r>
              <a:rPr lang="he-IL" sz="2000" dirty="0"/>
              <a:t> משמשים בדרך כלל כדי לאחסן נתונים משאילתות שהחזירו יותר מאשר ערך יחיד.</a:t>
            </a:r>
            <a:br>
              <a:rPr lang="he-IL" sz="2000" dirty="0"/>
            </a:br>
            <a:endParaRPr lang="en-US" sz="2000" dirty="0"/>
          </a:p>
          <a:p>
            <a:pPr algn="r" rtl="1">
              <a:buFontTx/>
              <a:buNone/>
            </a:pPr>
            <a:endParaRPr lang="en-US" sz="800" dirty="0"/>
          </a:p>
          <a:p>
            <a:pPr algn="r" rtl="1">
              <a:buFontTx/>
              <a:buNone/>
            </a:pPr>
            <a:endParaRPr lang="en-US" sz="1800" dirty="0"/>
          </a:p>
        </p:txBody>
      </p:sp>
      <p:sp>
        <p:nvSpPr>
          <p:cNvPr id="3379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9pPr>
          </a:lstStyle>
          <a:p>
            <a:pPr eaLnBrk="1" hangingPunct="1"/>
            <a:fld id="{FBB61696-F791-4065-902D-032796AEC63E}" type="slidenum">
              <a:rPr lang="he-IL" sz="1400"/>
              <a:pPr eaLnBrk="1" hangingPunct="1"/>
              <a:t>32</a:t>
            </a:fld>
            <a:endParaRPr lang="en-US" sz="14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/>
          <a:lstStyle/>
          <a:p>
            <a:pPr algn="ctr" rtl="1"/>
            <a:r>
              <a:rPr lang="en-US" sz="3600" b="1" dirty="0"/>
              <a:t>PL/SQL</a:t>
            </a:r>
            <a:r>
              <a:rPr lang="he-IL" sz="3600" b="1" dirty="0"/>
              <a:t> - </a:t>
            </a:r>
            <a:r>
              <a:rPr lang="en-US" sz="3600" dirty="0">
                <a:solidFill>
                  <a:schemeClr val="tx1"/>
                </a:solidFill>
              </a:rPr>
              <a:t>Cursor</a:t>
            </a:r>
            <a:r>
              <a:rPr lang="he-IL" sz="3600" dirty="0">
                <a:solidFill>
                  <a:schemeClr val="tx1"/>
                </a:solidFill>
              </a:rPr>
              <a:t> </a:t>
            </a:r>
            <a:endParaRPr lang="en-US" sz="3600" b="1" dirty="0"/>
          </a:p>
        </p:txBody>
      </p:sp>
      <p:sp>
        <p:nvSpPr>
          <p:cNvPr id="5124" name="Rectangle 3"/>
          <p:cNvSpPr>
            <a:spLocks noGrp="1" noChangeArrowheads="1"/>
          </p:cNvSpPr>
          <p:nvPr>
            <p:ph idx="1"/>
          </p:nvPr>
        </p:nvSpPr>
        <p:spPr>
          <a:xfrm>
            <a:off x="1371600" y="1447800"/>
            <a:ext cx="7086600" cy="5105400"/>
          </a:xfrm>
        </p:spPr>
        <p:txBody>
          <a:bodyPr/>
          <a:lstStyle/>
          <a:p>
            <a:pPr algn="r" rtl="1">
              <a:defRPr/>
            </a:pPr>
            <a:r>
              <a:rPr lang="he-IL" sz="2000" b="1" dirty="0"/>
              <a:t>מאפייני הסמן:</a:t>
            </a:r>
          </a:p>
          <a:p>
            <a:pPr lvl="1" algn="r" rtl="1">
              <a:defRPr/>
            </a:pPr>
            <a:r>
              <a:rPr lang="en-US" sz="1800" b="1" dirty="0">
                <a:ea typeface="+mn-ea"/>
                <a:cs typeface="+mn-cs"/>
              </a:rPr>
              <a:t>%ISOPEN</a:t>
            </a:r>
            <a:r>
              <a:rPr lang="en-US" sz="1800" dirty="0">
                <a:ea typeface="+mn-ea"/>
                <a:cs typeface="+mn-cs"/>
              </a:rPr>
              <a:t> </a:t>
            </a:r>
            <a:r>
              <a:rPr lang="he-IL" sz="1800" dirty="0">
                <a:ea typeface="+mn-ea"/>
                <a:cs typeface="+mn-cs"/>
              </a:rPr>
              <a:t> </a:t>
            </a:r>
            <a:r>
              <a:rPr lang="he-IL" sz="1800" b="1" dirty="0">
                <a:ea typeface="+mn-ea"/>
                <a:cs typeface="+mn-cs"/>
              </a:rPr>
              <a:t>-</a:t>
            </a:r>
            <a:r>
              <a:rPr lang="he-IL" sz="1800" dirty="0">
                <a:ea typeface="+mn-ea"/>
                <a:cs typeface="+mn-cs"/>
              </a:rPr>
              <a:t> מחזיר </a:t>
            </a:r>
            <a:r>
              <a:rPr lang="en-US" sz="1800" dirty="0">
                <a:ea typeface="+mn-ea"/>
                <a:cs typeface="+mn-cs"/>
              </a:rPr>
              <a:t>true </a:t>
            </a:r>
            <a:r>
              <a:rPr lang="he-IL" sz="1800" dirty="0">
                <a:ea typeface="+mn-ea"/>
                <a:cs typeface="+mn-cs"/>
              </a:rPr>
              <a:t> אם הסמן פתוח, אחרת, מחזיר </a:t>
            </a:r>
            <a:r>
              <a:rPr lang="en-US" sz="1800" dirty="0">
                <a:ea typeface="+mn-ea"/>
                <a:cs typeface="+mn-cs"/>
              </a:rPr>
              <a:t>false</a:t>
            </a:r>
            <a:r>
              <a:rPr lang="he-IL" sz="1800" dirty="0">
                <a:ea typeface="+mn-ea"/>
                <a:cs typeface="+mn-cs"/>
              </a:rPr>
              <a:t>.</a:t>
            </a:r>
            <a:endParaRPr lang="en-US" sz="1800" dirty="0">
              <a:ea typeface="+mn-ea"/>
              <a:cs typeface="+mn-cs"/>
            </a:endParaRPr>
          </a:p>
          <a:p>
            <a:pPr lvl="1" algn="r" rtl="1">
              <a:defRPr/>
            </a:pPr>
            <a:r>
              <a:rPr lang="en-US" sz="1800" b="1" dirty="0">
                <a:ea typeface="+mn-ea"/>
                <a:cs typeface="+mn-cs"/>
              </a:rPr>
              <a:t>%FOUND</a:t>
            </a:r>
            <a:r>
              <a:rPr lang="he-IL" sz="1800" b="1" dirty="0">
                <a:ea typeface="+mn-ea"/>
                <a:cs typeface="+mn-cs"/>
              </a:rPr>
              <a:t> - </a:t>
            </a:r>
            <a:r>
              <a:rPr lang="he-IL" sz="1800" dirty="0">
                <a:ea typeface="+mn-ea"/>
                <a:cs typeface="+mn-cs"/>
              </a:rPr>
              <a:t>מחזיר </a:t>
            </a:r>
            <a:r>
              <a:rPr lang="en-US" sz="1800" dirty="0">
                <a:ea typeface="+mn-ea"/>
                <a:cs typeface="+mn-cs"/>
              </a:rPr>
              <a:t>true </a:t>
            </a:r>
            <a:r>
              <a:rPr lang="he-IL" sz="1800" dirty="0">
                <a:ea typeface="+mn-ea"/>
                <a:cs typeface="+mn-cs"/>
              </a:rPr>
              <a:t> אם הרשומה הובאה בהצלחה, </a:t>
            </a:r>
            <a:r>
              <a:rPr lang="en-US" sz="1800" dirty="0">
                <a:ea typeface="+mn-ea"/>
                <a:cs typeface="+mn-cs"/>
              </a:rPr>
              <a:t>false </a:t>
            </a:r>
            <a:r>
              <a:rPr lang="he-IL" sz="1800" dirty="0">
                <a:ea typeface="+mn-ea"/>
                <a:cs typeface="+mn-cs"/>
              </a:rPr>
              <a:t> אם לא.</a:t>
            </a:r>
          </a:p>
          <a:p>
            <a:pPr lvl="1" algn="r" rtl="1">
              <a:defRPr/>
            </a:pPr>
            <a:r>
              <a:rPr lang="en-US" sz="1800" b="1" dirty="0">
                <a:ea typeface="+mn-ea"/>
                <a:cs typeface="+mn-cs"/>
              </a:rPr>
              <a:t>%NOTFOUND</a:t>
            </a:r>
            <a:r>
              <a:rPr lang="en-US" sz="1800" dirty="0">
                <a:ea typeface="+mn-ea"/>
                <a:cs typeface="+mn-cs"/>
              </a:rPr>
              <a:t> </a:t>
            </a:r>
            <a:r>
              <a:rPr lang="he-IL" sz="1800" dirty="0">
                <a:ea typeface="+mn-ea"/>
                <a:cs typeface="+mn-cs"/>
              </a:rPr>
              <a:t> </a:t>
            </a:r>
            <a:r>
              <a:rPr lang="he-IL" sz="1800" b="1" dirty="0">
                <a:ea typeface="+mn-ea"/>
                <a:cs typeface="+mn-cs"/>
              </a:rPr>
              <a:t>-</a:t>
            </a:r>
            <a:r>
              <a:rPr lang="he-IL" sz="1800" dirty="0">
                <a:ea typeface="+mn-ea"/>
                <a:cs typeface="+mn-cs"/>
              </a:rPr>
              <a:t> מחזיר </a:t>
            </a:r>
            <a:r>
              <a:rPr lang="en-US" sz="1800" dirty="0">
                <a:ea typeface="+mn-ea"/>
                <a:cs typeface="+mn-cs"/>
              </a:rPr>
              <a:t>true </a:t>
            </a:r>
            <a:r>
              <a:rPr lang="he-IL" sz="1800" dirty="0">
                <a:ea typeface="+mn-ea"/>
                <a:cs typeface="+mn-cs"/>
              </a:rPr>
              <a:t> אם הרשומה לא הובאה בהצלחה, </a:t>
            </a:r>
            <a:r>
              <a:rPr lang="en-US" sz="1800" dirty="0">
                <a:ea typeface="+mn-ea"/>
                <a:cs typeface="+mn-cs"/>
              </a:rPr>
              <a:t>false </a:t>
            </a:r>
            <a:r>
              <a:rPr lang="he-IL" sz="1800" dirty="0">
                <a:ea typeface="+mn-ea"/>
                <a:cs typeface="+mn-cs"/>
              </a:rPr>
              <a:t>אם כן.</a:t>
            </a:r>
          </a:p>
          <a:p>
            <a:pPr lvl="1" algn="r" rtl="1">
              <a:defRPr/>
            </a:pPr>
            <a:r>
              <a:rPr lang="en-US" sz="1800" b="1" dirty="0">
                <a:ea typeface="+mn-ea"/>
                <a:cs typeface="+mn-cs"/>
              </a:rPr>
              <a:t> %ROWCOUNT</a:t>
            </a:r>
            <a:r>
              <a:rPr lang="en-US" sz="1800" dirty="0">
                <a:ea typeface="+mn-ea"/>
                <a:cs typeface="+mn-cs"/>
              </a:rPr>
              <a:t> </a:t>
            </a:r>
            <a:r>
              <a:rPr lang="he-IL" sz="1800" b="1" dirty="0">
                <a:ea typeface="+mn-ea"/>
                <a:cs typeface="+mn-cs"/>
              </a:rPr>
              <a:t>-</a:t>
            </a:r>
            <a:r>
              <a:rPr lang="he-IL" sz="1800" dirty="0">
                <a:ea typeface="+mn-ea"/>
                <a:cs typeface="+mn-cs"/>
              </a:rPr>
              <a:t> מחזיר את מספר הרשומות הנכללות בסמן.</a:t>
            </a:r>
          </a:p>
          <a:p>
            <a:pPr lvl="1">
              <a:buFontTx/>
              <a:buNone/>
              <a:defRPr/>
            </a:pPr>
            <a:endParaRPr lang="he-IL" sz="1800" dirty="0">
              <a:ea typeface="+mn-ea"/>
              <a:cs typeface="+mn-cs"/>
            </a:endParaRPr>
          </a:p>
          <a:p>
            <a:pPr algn="l" rtl="0">
              <a:buFontTx/>
              <a:buNone/>
              <a:defRPr/>
            </a:pPr>
            <a:endParaRPr lang="en-US" sz="2000" dirty="0"/>
          </a:p>
          <a:p>
            <a:pPr algn="l" rtl="0">
              <a:buFontTx/>
              <a:buNone/>
              <a:defRPr/>
            </a:pPr>
            <a:endParaRPr lang="en-US" sz="800" dirty="0"/>
          </a:p>
          <a:p>
            <a:pPr algn="l" rtl="0">
              <a:buFontTx/>
              <a:buNone/>
              <a:defRPr/>
            </a:pPr>
            <a:endParaRPr lang="en-US" sz="1800" dirty="0"/>
          </a:p>
        </p:txBody>
      </p:sp>
      <p:sp>
        <p:nvSpPr>
          <p:cNvPr id="3481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9pPr>
          </a:lstStyle>
          <a:p>
            <a:pPr eaLnBrk="1" hangingPunct="1"/>
            <a:fld id="{1AA6F8B7-479F-4D60-A98D-F71801099621}" type="slidenum">
              <a:rPr lang="he-IL" sz="1400"/>
              <a:pPr eaLnBrk="1" hangingPunct="1"/>
              <a:t>33</a:t>
            </a:fld>
            <a:endParaRPr lang="en-US" sz="14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/>
          <a:lstStyle/>
          <a:p>
            <a:pPr algn="ctr" rtl="1"/>
            <a:r>
              <a:rPr lang="en-US" sz="3600" b="1" dirty="0"/>
              <a:t>PL/SQL</a:t>
            </a:r>
            <a:r>
              <a:rPr lang="he-IL" sz="3600" b="1" dirty="0"/>
              <a:t> - </a:t>
            </a:r>
            <a:r>
              <a:rPr lang="en-US" sz="3600" dirty="0">
                <a:solidFill>
                  <a:schemeClr val="tx1"/>
                </a:solidFill>
              </a:rPr>
              <a:t>Cursor</a:t>
            </a:r>
            <a:r>
              <a:rPr lang="he-IL" sz="3600" dirty="0">
                <a:solidFill>
                  <a:schemeClr val="tx1"/>
                </a:solidFill>
              </a:rPr>
              <a:t> </a:t>
            </a:r>
            <a:endParaRPr lang="en-US" sz="3600" b="1" dirty="0"/>
          </a:p>
        </p:txBody>
      </p:sp>
      <p:sp>
        <p:nvSpPr>
          <p:cNvPr id="5124" name="Rectangle 3"/>
          <p:cNvSpPr>
            <a:spLocks noGrp="1" noChangeArrowheads="1"/>
          </p:cNvSpPr>
          <p:nvPr>
            <p:ph idx="1"/>
          </p:nvPr>
        </p:nvSpPr>
        <p:spPr>
          <a:xfrm>
            <a:off x="1600200" y="1447800"/>
            <a:ext cx="6858000" cy="5105400"/>
          </a:xfrm>
        </p:spPr>
        <p:txBody>
          <a:bodyPr/>
          <a:lstStyle/>
          <a:p>
            <a:pPr algn="r" rtl="1">
              <a:defRPr/>
            </a:pPr>
            <a:r>
              <a:rPr lang="he-IL" sz="2000" b="1" dirty="0"/>
              <a:t>תפעול הסמן</a:t>
            </a:r>
          </a:p>
          <a:p>
            <a:pPr lvl="1" algn="r" rtl="1">
              <a:buFontTx/>
              <a:buNone/>
              <a:defRPr/>
            </a:pPr>
            <a:r>
              <a:rPr lang="he-IL" sz="1800" dirty="0">
                <a:ea typeface="+mn-ea"/>
                <a:cs typeface="+mn-cs"/>
              </a:rPr>
              <a:t>תפעול הסמן נעשה ע"י שלוש פקודות פשוטות:</a:t>
            </a:r>
            <a:endParaRPr lang="he-IL" sz="1800" b="1" dirty="0">
              <a:ea typeface="+mn-ea"/>
              <a:cs typeface="+mn-cs"/>
            </a:endParaRPr>
          </a:p>
          <a:p>
            <a:pPr lvl="1" algn="r" rtl="1">
              <a:defRPr/>
            </a:pPr>
            <a:r>
              <a:rPr lang="en-US" sz="1800" b="1" dirty="0">
                <a:ea typeface="+mn-ea"/>
                <a:cs typeface="+mn-cs"/>
              </a:rPr>
              <a:t> - Open</a:t>
            </a:r>
            <a:r>
              <a:rPr lang="he-IL" sz="1800" dirty="0">
                <a:ea typeface="+mn-ea"/>
                <a:cs typeface="+mn-cs"/>
              </a:rPr>
              <a:t>פותחת את הסמן ע"י שאילתה מסויימת.</a:t>
            </a:r>
          </a:p>
          <a:p>
            <a:pPr lvl="1" algn="r" rtl="1">
              <a:defRPr/>
            </a:pPr>
            <a:r>
              <a:rPr lang="en-US" sz="1800" b="1" dirty="0">
                <a:ea typeface="+mn-ea"/>
                <a:cs typeface="+mn-cs"/>
              </a:rPr>
              <a:t> - Close</a:t>
            </a:r>
            <a:r>
              <a:rPr lang="he-IL" sz="1800" dirty="0">
                <a:ea typeface="+mn-ea"/>
                <a:cs typeface="+mn-cs"/>
              </a:rPr>
              <a:t>סוגרת את הסמן.</a:t>
            </a:r>
          </a:p>
          <a:p>
            <a:pPr lvl="1" algn="r" rtl="1">
              <a:defRPr/>
            </a:pPr>
            <a:r>
              <a:rPr lang="en-US" sz="1800" b="1" dirty="0">
                <a:ea typeface="+mn-ea"/>
                <a:cs typeface="+mn-cs"/>
              </a:rPr>
              <a:t> Fetch</a:t>
            </a:r>
            <a:r>
              <a:rPr lang="he-IL" sz="1800" dirty="0">
                <a:ea typeface="+mn-ea"/>
                <a:cs typeface="+mn-cs"/>
              </a:rPr>
              <a:t>- מיבא את ערכי הרשומה הנוכחית לתוך משתנים.</a:t>
            </a:r>
          </a:p>
          <a:p>
            <a:pPr lvl="1">
              <a:buFontTx/>
              <a:buNone/>
              <a:defRPr/>
            </a:pPr>
            <a:endParaRPr lang="he-IL" sz="1800" dirty="0">
              <a:ea typeface="+mn-ea"/>
              <a:cs typeface="+mn-cs"/>
            </a:endParaRPr>
          </a:p>
          <a:p>
            <a:pPr algn="l" rtl="0">
              <a:buFontTx/>
              <a:buNone/>
              <a:defRPr/>
            </a:pPr>
            <a:endParaRPr lang="en-US" sz="2000" dirty="0"/>
          </a:p>
          <a:p>
            <a:pPr algn="l" rtl="0">
              <a:buFontTx/>
              <a:buNone/>
              <a:defRPr/>
            </a:pPr>
            <a:endParaRPr lang="en-US" sz="800" dirty="0"/>
          </a:p>
          <a:p>
            <a:pPr algn="l" rtl="0">
              <a:buFontTx/>
              <a:buNone/>
              <a:defRPr/>
            </a:pPr>
            <a:endParaRPr lang="en-US" sz="1800" dirty="0"/>
          </a:p>
        </p:txBody>
      </p:sp>
      <p:sp>
        <p:nvSpPr>
          <p:cNvPr id="3584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9pPr>
          </a:lstStyle>
          <a:p>
            <a:pPr eaLnBrk="1" hangingPunct="1"/>
            <a:fld id="{9371E2F8-0627-4DA9-A24B-3C27B91DE015}" type="slidenum">
              <a:rPr lang="he-IL" sz="1400"/>
              <a:pPr eaLnBrk="1" hangingPunct="1"/>
              <a:t>34</a:t>
            </a:fld>
            <a:endParaRPr lang="en-US" sz="14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/>
          <a:lstStyle/>
          <a:p>
            <a:pPr algn="ctr" rtl="1"/>
            <a:r>
              <a:rPr lang="en-US" sz="3600" b="1" dirty="0"/>
              <a:t>PL/SQL</a:t>
            </a:r>
            <a:r>
              <a:rPr lang="he-IL" sz="3600" b="1" dirty="0"/>
              <a:t> - </a:t>
            </a:r>
            <a:r>
              <a:rPr lang="en-US" sz="3600" dirty="0">
                <a:solidFill>
                  <a:schemeClr val="tx1"/>
                </a:solidFill>
              </a:rPr>
              <a:t>Cursor</a:t>
            </a:r>
            <a:r>
              <a:rPr lang="he-IL" sz="3600" dirty="0">
                <a:solidFill>
                  <a:schemeClr val="tx1"/>
                </a:solidFill>
              </a:rPr>
              <a:t> </a:t>
            </a:r>
            <a:endParaRPr lang="en-US" sz="3600" b="1" dirty="0"/>
          </a:p>
        </p:txBody>
      </p:sp>
      <p:sp>
        <p:nvSpPr>
          <p:cNvPr id="5124" name="Rectangle 3"/>
          <p:cNvSpPr>
            <a:spLocks noGrp="1" noChangeArrowheads="1"/>
          </p:cNvSpPr>
          <p:nvPr>
            <p:ph idx="1"/>
          </p:nvPr>
        </p:nvSpPr>
        <p:spPr>
          <a:xfrm>
            <a:off x="1600200" y="1447800"/>
            <a:ext cx="6858000" cy="5105400"/>
          </a:xfrm>
        </p:spPr>
        <p:txBody>
          <a:bodyPr/>
          <a:lstStyle/>
          <a:p>
            <a:pPr algn="r" rtl="1">
              <a:defRPr/>
            </a:pPr>
            <a:r>
              <a:rPr lang="he-IL" sz="2000" dirty="0"/>
              <a:t>מבנה ה- </a:t>
            </a:r>
            <a:r>
              <a:rPr lang="en-US" sz="2000" dirty="0"/>
              <a:t>Cursor</a:t>
            </a:r>
            <a:r>
              <a:rPr lang="he-IL" sz="2000" dirty="0"/>
              <a:t>:</a:t>
            </a:r>
          </a:p>
          <a:p>
            <a:pPr algn="l" rtl="0">
              <a:buFontTx/>
              <a:buNone/>
              <a:defRPr/>
            </a:pPr>
            <a:endParaRPr lang="en-US" sz="2000" dirty="0"/>
          </a:p>
          <a:p>
            <a:pPr algn="l" rtl="0">
              <a:buFontTx/>
              <a:buNone/>
              <a:defRPr/>
            </a:pPr>
            <a:endParaRPr lang="en-US" sz="800" dirty="0"/>
          </a:p>
          <a:p>
            <a:pPr algn="l" rtl="0">
              <a:buFontTx/>
              <a:buNone/>
              <a:defRPr/>
            </a:pPr>
            <a:endParaRPr lang="en-US" sz="1800" dirty="0"/>
          </a:p>
        </p:txBody>
      </p:sp>
      <p:sp>
        <p:nvSpPr>
          <p:cNvPr id="3686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9pPr>
          </a:lstStyle>
          <a:p>
            <a:pPr eaLnBrk="1" hangingPunct="1"/>
            <a:fld id="{9D60AAEA-DEA8-43C5-936E-8DF353FC9EDE}" type="slidenum">
              <a:rPr lang="he-IL" sz="1400"/>
              <a:pPr eaLnBrk="1" hangingPunct="1"/>
              <a:t>35</a:t>
            </a:fld>
            <a:endParaRPr lang="en-US" sz="1400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2286000"/>
            <a:ext cx="4572000" cy="23918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/>
          <a:lstStyle/>
          <a:p>
            <a:pPr algn="ctr" rtl="1"/>
            <a:r>
              <a:rPr lang="en-US" sz="3600" b="1" dirty="0"/>
              <a:t>PL/SQL</a:t>
            </a:r>
            <a:r>
              <a:rPr lang="he-IL" sz="3600" b="1" dirty="0"/>
              <a:t> - </a:t>
            </a:r>
            <a:r>
              <a:rPr lang="en-US" sz="3600" dirty="0">
                <a:solidFill>
                  <a:schemeClr val="tx1"/>
                </a:solidFill>
              </a:rPr>
              <a:t>Cursor</a:t>
            </a:r>
            <a:r>
              <a:rPr lang="he-IL" sz="3600" dirty="0">
                <a:solidFill>
                  <a:schemeClr val="tx1"/>
                </a:solidFill>
              </a:rPr>
              <a:t> </a:t>
            </a:r>
            <a:endParaRPr lang="en-US" sz="3600" b="1" dirty="0"/>
          </a:p>
        </p:txBody>
      </p:sp>
      <p:sp>
        <p:nvSpPr>
          <p:cNvPr id="37892" name="Rectangle 3"/>
          <p:cNvSpPr>
            <a:spLocks noGrp="1" noChangeArrowheads="1"/>
          </p:cNvSpPr>
          <p:nvPr>
            <p:ph idx="1"/>
          </p:nvPr>
        </p:nvSpPr>
        <p:spPr>
          <a:xfrm>
            <a:off x="1219200" y="1447800"/>
            <a:ext cx="7239000" cy="5410200"/>
          </a:xfrm>
        </p:spPr>
        <p:txBody>
          <a:bodyPr/>
          <a:lstStyle/>
          <a:p>
            <a:pPr algn="r" rtl="1"/>
            <a:r>
              <a:rPr lang="he-IL" sz="2000" dirty="0"/>
              <a:t>דוגמא: </a:t>
            </a:r>
          </a:p>
          <a:p>
            <a:pPr lvl="1" algn="r" rtl="1"/>
            <a:r>
              <a:rPr lang="he-IL" sz="1600" dirty="0">
                <a:cs typeface="Arial" charset="0"/>
              </a:rPr>
              <a:t>תוכנית המדפיסה את כל פרטי העובדים (מספר עובד, שם, משכורת).</a:t>
            </a:r>
          </a:p>
          <a:p>
            <a:pPr algn="l" rtl="0">
              <a:buFontTx/>
              <a:buNone/>
            </a:pPr>
            <a:endParaRPr lang="en-US" sz="2000" dirty="0"/>
          </a:p>
          <a:p>
            <a:pPr algn="l" rtl="0">
              <a:buFontTx/>
              <a:buNone/>
            </a:pPr>
            <a:endParaRPr lang="en-US" sz="800" dirty="0"/>
          </a:p>
          <a:p>
            <a:pPr algn="l" rtl="0">
              <a:buFontTx/>
              <a:buNone/>
            </a:pPr>
            <a:endParaRPr lang="en-US" sz="1800" dirty="0"/>
          </a:p>
        </p:txBody>
      </p:sp>
      <p:sp>
        <p:nvSpPr>
          <p:cNvPr id="3789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9pPr>
          </a:lstStyle>
          <a:p>
            <a:pPr eaLnBrk="1" hangingPunct="1"/>
            <a:fld id="{7A254566-5BAC-42BF-A6AD-F1BF8FB185DE}" type="slidenum">
              <a:rPr lang="he-IL" sz="1400"/>
              <a:pPr eaLnBrk="1" hangingPunct="1"/>
              <a:t>36</a:t>
            </a:fld>
            <a:endParaRPr lang="en-US" sz="1400"/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2514600"/>
            <a:ext cx="5624703" cy="2714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/>
          <a:lstStyle/>
          <a:p>
            <a:pPr algn="ctr" rtl="1"/>
            <a:r>
              <a:rPr lang="en-US" sz="3600" b="1" dirty="0"/>
              <a:t>PL/SQL</a:t>
            </a:r>
            <a:r>
              <a:rPr lang="he-IL" sz="3600" b="1" dirty="0"/>
              <a:t> - </a:t>
            </a:r>
            <a:r>
              <a:rPr lang="en-US" sz="3600" dirty="0">
                <a:solidFill>
                  <a:schemeClr val="tx1"/>
                </a:solidFill>
              </a:rPr>
              <a:t>Cursor</a:t>
            </a:r>
            <a:r>
              <a:rPr lang="he-IL" sz="3600" dirty="0">
                <a:solidFill>
                  <a:schemeClr val="tx1"/>
                </a:solidFill>
              </a:rPr>
              <a:t> </a:t>
            </a:r>
            <a:endParaRPr lang="en-US" sz="3600" b="1" dirty="0"/>
          </a:p>
        </p:txBody>
      </p:sp>
      <p:sp>
        <p:nvSpPr>
          <p:cNvPr id="38916" name="Rectangle 3"/>
          <p:cNvSpPr>
            <a:spLocks noGrp="1" noChangeArrowheads="1"/>
          </p:cNvSpPr>
          <p:nvPr>
            <p:ph idx="1"/>
          </p:nvPr>
        </p:nvSpPr>
        <p:spPr>
          <a:xfrm>
            <a:off x="1219200" y="1447800"/>
            <a:ext cx="7239000" cy="5410200"/>
          </a:xfrm>
        </p:spPr>
        <p:txBody>
          <a:bodyPr/>
          <a:lstStyle/>
          <a:p>
            <a:pPr algn="r" rtl="1"/>
            <a:r>
              <a:rPr lang="he-IL" sz="2000" dirty="0"/>
              <a:t>דוגמא: </a:t>
            </a:r>
          </a:p>
          <a:p>
            <a:pPr lvl="1"/>
            <a:r>
              <a:rPr lang="he-IL" sz="1600" dirty="0">
                <a:cs typeface="Arial" charset="0"/>
              </a:rPr>
              <a:t>תוכנית המדפיסה את פרטי  10 העובדים הראשונים (מספר עובד, שם, משכורת).</a:t>
            </a:r>
          </a:p>
          <a:p>
            <a:pPr algn="l" rtl="0">
              <a:buFontTx/>
              <a:buNone/>
            </a:pPr>
            <a:endParaRPr lang="en-US" sz="2000" dirty="0"/>
          </a:p>
          <a:p>
            <a:pPr algn="l" rtl="0">
              <a:buFontTx/>
              <a:buNone/>
            </a:pPr>
            <a:endParaRPr lang="en-US" sz="800" dirty="0"/>
          </a:p>
          <a:p>
            <a:pPr algn="l" rtl="0">
              <a:buFontTx/>
              <a:buNone/>
            </a:pPr>
            <a:endParaRPr lang="en-US" sz="1800" dirty="0"/>
          </a:p>
        </p:txBody>
      </p:sp>
      <p:sp>
        <p:nvSpPr>
          <p:cNvPr id="3891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9pPr>
          </a:lstStyle>
          <a:p>
            <a:pPr eaLnBrk="1" hangingPunct="1"/>
            <a:fld id="{8D4A9547-2F32-4A0F-BC04-6440B9B588CF}" type="slidenum">
              <a:rPr lang="he-IL" sz="1400"/>
              <a:pPr eaLnBrk="1" hangingPunct="1"/>
              <a:t>37</a:t>
            </a:fld>
            <a:endParaRPr lang="en-US" sz="1400"/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9788" y="2743200"/>
            <a:ext cx="4924425" cy="2419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/>
          <a:lstStyle/>
          <a:p>
            <a:pPr algn="ctr" rtl="1"/>
            <a:r>
              <a:rPr lang="en-US" sz="3600" b="1" dirty="0"/>
              <a:t>PL/SQL</a:t>
            </a:r>
            <a:r>
              <a:rPr lang="he-IL" sz="3600" b="1" dirty="0"/>
              <a:t> - </a:t>
            </a:r>
            <a:r>
              <a:rPr lang="en-US" sz="3600" dirty="0">
                <a:solidFill>
                  <a:schemeClr val="tx1"/>
                </a:solidFill>
              </a:rPr>
              <a:t>Cursor</a:t>
            </a:r>
            <a:r>
              <a:rPr lang="he-IL" sz="3600" dirty="0">
                <a:solidFill>
                  <a:schemeClr val="tx1"/>
                </a:solidFill>
              </a:rPr>
              <a:t> </a:t>
            </a:r>
            <a:endParaRPr lang="en-US" sz="3600" b="1" dirty="0"/>
          </a:p>
        </p:txBody>
      </p:sp>
      <p:sp>
        <p:nvSpPr>
          <p:cNvPr id="38916" name="Rectangle 3"/>
          <p:cNvSpPr>
            <a:spLocks noGrp="1" noChangeArrowheads="1"/>
          </p:cNvSpPr>
          <p:nvPr>
            <p:ph idx="1"/>
          </p:nvPr>
        </p:nvSpPr>
        <p:spPr>
          <a:xfrm>
            <a:off x="1219200" y="1447800"/>
            <a:ext cx="7239000" cy="5410200"/>
          </a:xfrm>
        </p:spPr>
        <p:txBody>
          <a:bodyPr/>
          <a:lstStyle/>
          <a:p>
            <a:pPr algn="r" rtl="1"/>
            <a:r>
              <a:rPr lang="he-IL" sz="2000" dirty="0"/>
              <a:t>דוגמא נוספת עם קלט:</a:t>
            </a:r>
            <a:endParaRPr lang="en-US" sz="2000" b="1" i="1" dirty="0"/>
          </a:p>
          <a:p>
            <a:pPr algn="r" rtl="1">
              <a:buFontTx/>
              <a:buNone/>
            </a:pPr>
            <a:endParaRPr lang="en-US" sz="2000" dirty="0"/>
          </a:p>
          <a:p>
            <a:pPr algn="l" rtl="0">
              <a:buFontTx/>
              <a:buNone/>
            </a:pPr>
            <a:endParaRPr lang="en-US" sz="800" dirty="0"/>
          </a:p>
          <a:p>
            <a:pPr algn="l" rtl="0">
              <a:buFontTx/>
              <a:buNone/>
            </a:pPr>
            <a:endParaRPr lang="en-US" sz="1800" dirty="0"/>
          </a:p>
        </p:txBody>
      </p:sp>
      <p:sp>
        <p:nvSpPr>
          <p:cNvPr id="3891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9pPr>
          </a:lstStyle>
          <a:p>
            <a:pPr eaLnBrk="1" hangingPunct="1"/>
            <a:fld id="{8D4A9547-2F32-4A0F-BC04-6440B9B588CF}" type="slidenum">
              <a:rPr lang="he-IL" sz="1400"/>
              <a:pPr eaLnBrk="1" hangingPunct="1"/>
              <a:t>38</a:t>
            </a:fld>
            <a:endParaRPr lang="en-US" sz="140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00" y="2133600"/>
            <a:ext cx="6934200" cy="371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51603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/>
          <a:lstStyle/>
          <a:p>
            <a:pPr algn="ctr" rtl="1"/>
            <a:r>
              <a:rPr lang="en-US" sz="3600" b="1" dirty="0"/>
              <a:t>PL/SQL</a:t>
            </a:r>
            <a:r>
              <a:rPr lang="he-IL" sz="3600" b="1" dirty="0"/>
              <a:t> - </a:t>
            </a:r>
            <a:r>
              <a:rPr lang="en-US" sz="3600" dirty="0"/>
              <a:t>Cursors For Loop</a:t>
            </a:r>
            <a:r>
              <a:rPr lang="he-IL" sz="3600" dirty="0">
                <a:solidFill>
                  <a:schemeClr val="tx1"/>
                </a:solidFill>
              </a:rPr>
              <a:t> </a:t>
            </a:r>
            <a:endParaRPr lang="en-US" sz="3600" b="1" dirty="0"/>
          </a:p>
        </p:txBody>
      </p:sp>
      <p:sp>
        <p:nvSpPr>
          <p:cNvPr id="37892" name="Rectangle 3"/>
          <p:cNvSpPr>
            <a:spLocks noGrp="1" noChangeArrowheads="1"/>
          </p:cNvSpPr>
          <p:nvPr>
            <p:ph idx="1"/>
          </p:nvPr>
        </p:nvSpPr>
        <p:spPr>
          <a:xfrm>
            <a:off x="1219200" y="1676400"/>
            <a:ext cx="7239000" cy="5410200"/>
          </a:xfrm>
        </p:spPr>
        <p:txBody>
          <a:bodyPr/>
          <a:lstStyle/>
          <a:p>
            <a:pPr algn="r" rtl="1">
              <a:defRPr/>
            </a:pPr>
            <a:r>
              <a:rPr lang="he-IL" sz="2000" dirty="0"/>
              <a:t>מבנה ה- </a:t>
            </a:r>
            <a:r>
              <a:rPr lang="en-US" sz="2000" dirty="0"/>
              <a:t>Cursors For Loop</a:t>
            </a:r>
            <a:r>
              <a:rPr lang="he-IL" sz="2000" dirty="0"/>
              <a:t>:</a:t>
            </a:r>
          </a:p>
          <a:p>
            <a:pPr algn="l" rtl="0">
              <a:buFontTx/>
              <a:buNone/>
            </a:pPr>
            <a:endParaRPr lang="en-US" sz="2000" dirty="0"/>
          </a:p>
          <a:p>
            <a:pPr algn="l" rtl="0">
              <a:buFontTx/>
              <a:buNone/>
            </a:pPr>
            <a:endParaRPr lang="en-US" sz="2000" dirty="0"/>
          </a:p>
          <a:p>
            <a:pPr algn="l" rtl="0">
              <a:buFontTx/>
              <a:buNone/>
            </a:pPr>
            <a:endParaRPr lang="en-US" sz="2000" dirty="0"/>
          </a:p>
          <a:p>
            <a:pPr algn="l" rtl="0">
              <a:buFontTx/>
              <a:buNone/>
            </a:pPr>
            <a:endParaRPr lang="en-US" sz="800" dirty="0"/>
          </a:p>
          <a:p>
            <a:pPr algn="l" rtl="0">
              <a:buFontTx/>
              <a:buNone/>
            </a:pPr>
            <a:endParaRPr lang="en-US" sz="1800" dirty="0"/>
          </a:p>
        </p:txBody>
      </p:sp>
      <p:sp>
        <p:nvSpPr>
          <p:cNvPr id="3789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9pPr>
          </a:lstStyle>
          <a:p>
            <a:pPr eaLnBrk="1" hangingPunct="1"/>
            <a:fld id="{7A254566-5BAC-42BF-A6AD-F1BF8FB185DE}" type="slidenum">
              <a:rPr lang="he-IL" sz="1400"/>
              <a:pPr eaLnBrk="1" hangingPunct="1"/>
              <a:t>39</a:t>
            </a:fld>
            <a:endParaRPr lang="en-US" sz="140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2209800" y="2568354"/>
            <a:ext cx="4735240" cy="1418317"/>
          </a:xfrm>
          <a:prstGeom prst="rect">
            <a:avLst/>
          </a:prstGeom>
          <a:solidFill>
            <a:srgbClr val="F5F2F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47610" tIns="63480" rIns="4761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e-IL" altLang="he-IL" sz="1100" b="0" i="0" u="none" strike="noStrike" cap="none" normalizeH="0" baseline="0" dirty="0">
                <a:ln>
                  <a:noFill/>
                </a:ln>
                <a:solidFill>
                  <a:srgbClr val="0000CC"/>
                </a:solidFill>
                <a:effectLst/>
                <a:latin typeface="Consolas" panose="020B0609020204030204" pitchFamily="49" charset="0"/>
              </a:rPr>
              <a:t>DECLARE</a:t>
            </a:r>
            <a:r>
              <a:rPr kumimoji="0" lang="he-IL" altLang="he-IL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lvl="0" algn="l" rtl="0" eaLnBrk="0" hangingPunct="0"/>
            <a:r>
              <a:rPr lang="he-IL" altLang="he-IL" sz="11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kumimoji="0" lang="he-IL" altLang="he-IL" sz="1100" b="0" i="0" u="none" strike="noStrike" cap="none" normalizeH="0" baseline="0" dirty="0" err="1">
                <a:ln>
                  <a:noFill/>
                </a:ln>
                <a:solidFill>
                  <a:srgbClr val="0000CC"/>
                </a:solidFill>
                <a:effectLst/>
                <a:latin typeface="Consolas" panose="020B0609020204030204" pitchFamily="49" charset="0"/>
              </a:rPr>
              <a:t>cursor</a:t>
            </a:r>
            <a:r>
              <a:rPr kumimoji="0" lang="he-IL" altLang="he-IL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altLang="he-IL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kumimoji="0" lang="en-US" altLang="he-IL" sz="11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cursor_name</a:t>
            </a:r>
            <a:r>
              <a:rPr kumimoji="0" lang="en-US" altLang="he-IL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kumimoji="0" lang="he-IL" altLang="he-IL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he-IL" altLang="he-IL" sz="1100" dirty="0" err="1">
                <a:solidFill>
                  <a:srgbClr val="0000CC"/>
                </a:solidFill>
                <a:latin typeface="Consolas" panose="020B0609020204030204" pitchFamily="49" charset="0"/>
              </a:rPr>
              <a:t>is</a:t>
            </a:r>
            <a:r>
              <a:rPr kumimoji="0" lang="he-IL" altLang="he-IL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he-IL" sz="1100" dirty="0">
                <a:solidFill>
                  <a:schemeClr val="bg1"/>
                </a:solidFill>
                <a:latin typeface="Consolas" panose="020B0609020204030204" pitchFamily="49" charset="0"/>
              </a:rPr>
              <a:t>&lt;</a:t>
            </a:r>
            <a:r>
              <a:rPr lang="en-US" altLang="he-IL" sz="1100" dirty="0" err="1">
                <a:solidFill>
                  <a:schemeClr val="bg1"/>
                </a:solidFill>
                <a:latin typeface="Consolas" panose="020B0609020204030204" pitchFamily="49" charset="0"/>
              </a:rPr>
              <a:t>SQL_Statment</a:t>
            </a:r>
            <a:r>
              <a:rPr lang="en-US" altLang="he-IL" sz="1100" dirty="0">
                <a:solidFill>
                  <a:schemeClr val="bg1"/>
                </a:solidFill>
                <a:latin typeface="Consolas" panose="020B0609020204030204" pitchFamily="49" charset="0"/>
              </a:rPr>
              <a:t>&gt;</a:t>
            </a:r>
            <a:r>
              <a:rPr lang="he-IL" altLang="he-IL" sz="11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kumimoji="0" lang="he-IL" altLang="he-IL" sz="11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kumimoji="0" lang="he-IL" altLang="he-IL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he-IL" altLang="he-IL" sz="11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altLang="he-IL" sz="1100" dirty="0">
                <a:solidFill>
                  <a:srgbClr val="00B050"/>
                </a:solidFill>
                <a:latin typeface="Consolas" panose="020B0609020204030204" pitchFamily="49" charset="0"/>
              </a:rPr>
              <a:t>-- variables declaration</a:t>
            </a:r>
            <a:r>
              <a:rPr kumimoji="0" lang="he-IL" altLang="he-IL" sz="11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e-IL" altLang="he-IL" sz="1100" b="0" i="0" u="none" strike="noStrike" cap="none" normalizeH="0" baseline="0" dirty="0">
                <a:ln>
                  <a:noFill/>
                </a:ln>
                <a:solidFill>
                  <a:srgbClr val="0000CC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kumimoji="0" lang="he-IL" altLang="he-IL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lvl="0" algn="l" rtl="0" eaLnBrk="0" hangingPunct="0"/>
            <a:r>
              <a:rPr lang="he-IL" altLang="he-IL" sz="11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kumimoji="0" lang="he-IL" altLang="he-IL" sz="1100" b="0" i="0" u="none" strike="noStrike" cap="none" normalizeH="0" baseline="0" dirty="0">
                <a:ln>
                  <a:noFill/>
                </a:ln>
                <a:solidFill>
                  <a:srgbClr val="0000CC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kumimoji="0" lang="he-IL" altLang="he-IL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he-IL" sz="1100" dirty="0">
                <a:solidFill>
                  <a:schemeClr val="bg1"/>
                </a:solidFill>
                <a:latin typeface="Consolas" panose="020B0609020204030204" pitchFamily="49" charset="0"/>
              </a:rPr>
              <a:t>&lt;var1&gt;, &lt;var2&gt;, &lt;var3&gt;….</a:t>
            </a:r>
            <a:r>
              <a:rPr kumimoji="0" lang="he-IL" altLang="he-IL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he-IL" altLang="he-IL" sz="1100" b="0" i="0" u="none" strike="noStrike" cap="none" normalizeH="0" baseline="0" dirty="0">
                <a:ln>
                  <a:noFill/>
                </a:ln>
                <a:solidFill>
                  <a:srgbClr val="A67F59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kumimoji="0" lang="he-IL" altLang="he-IL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he-IL" sz="1100" dirty="0">
                <a:solidFill>
                  <a:schemeClr val="bg1"/>
                </a:solidFill>
                <a:latin typeface="Consolas" panose="020B0609020204030204" pitchFamily="49" charset="0"/>
              </a:rPr>
              <a:t>&lt;</a:t>
            </a:r>
            <a:r>
              <a:rPr lang="en-US" altLang="he-IL" sz="1100" dirty="0" err="1">
                <a:solidFill>
                  <a:schemeClr val="bg1"/>
                </a:solidFill>
                <a:latin typeface="Consolas" panose="020B0609020204030204" pitchFamily="49" charset="0"/>
              </a:rPr>
              <a:t>cursor_name</a:t>
            </a:r>
            <a:r>
              <a:rPr lang="en-US" altLang="he-IL" sz="1100" dirty="0">
                <a:solidFill>
                  <a:schemeClr val="bg1"/>
                </a:solidFill>
                <a:latin typeface="Consolas" panose="020B0609020204030204" pitchFamily="49" charset="0"/>
              </a:rPr>
              <a:t>&gt;</a:t>
            </a:r>
            <a:r>
              <a:rPr kumimoji="0" lang="he-IL" altLang="he-IL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he-IL" altLang="he-IL" sz="1100" b="0" i="0" u="none" strike="noStrike" cap="none" normalizeH="0" baseline="0" dirty="0">
                <a:ln>
                  <a:noFill/>
                </a:ln>
                <a:solidFill>
                  <a:srgbClr val="0000CC"/>
                </a:solidFill>
                <a:effectLst/>
                <a:latin typeface="Consolas" panose="020B0609020204030204" pitchFamily="49" charset="0"/>
              </a:rPr>
              <a:t>LOOP</a:t>
            </a:r>
            <a:r>
              <a:rPr kumimoji="0" lang="he-IL" altLang="he-IL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lvl="0" algn="l" rtl="0" eaLnBrk="0" hangingPunct="0"/>
            <a:endParaRPr kumimoji="0" lang="he-IL" altLang="he-IL" sz="11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he-IL" altLang="he-IL" sz="11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kumimoji="0" lang="he-IL" altLang="he-IL" sz="1100" b="0" i="0" u="none" strike="noStrike" cap="none" normalizeH="0" baseline="0" dirty="0">
                <a:ln>
                  <a:noFill/>
                </a:ln>
                <a:solidFill>
                  <a:srgbClr val="0000CC"/>
                </a:solidFill>
                <a:effectLst/>
                <a:latin typeface="Consolas" panose="020B0609020204030204" pitchFamily="49" charset="0"/>
              </a:rPr>
              <a:t>END </a:t>
            </a:r>
            <a:r>
              <a:rPr kumimoji="0" lang="he-IL" altLang="he-IL" sz="1100" b="0" i="0" u="none" strike="noStrike" cap="none" normalizeH="0" baseline="0" dirty="0" err="1">
                <a:ln>
                  <a:noFill/>
                </a:ln>
                <a:solidFill>
                  <a:srgbClr val="0000CC"/>
                </a:solidFill>
                <a:effectLst/>
                <a:latin typeface="Consolas" panose="020B0609020204030204" pitchFamily="49" charset="0"/>
              </a:rPr>
              <a:t>Loop</a:t>
            </a:r>
            <a:r>
              <a:rPr kumimoji="0" lang="he-IL" altLang="he-IL" sz="11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kumimoji="0" lang="he-IL" altLang="he-IL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e-IL" altLang="he-IL" sz="1100" b="0" i="0" u="none" strike="noStrike" cap="none" normalizeH="0" baseline="0" dirty="0">
                <a:ln>
                  <a:noFill/>
                </a:ln>
                <a:solidFill>
                  <a:srgbClr val="0000CC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kumimoji="0" lang="he-IL" altLang="he-IL" sz="11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kumimoji="0" lang="he-IL" altLang="he-IL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he-IL" altLang="he-I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796355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/>
          <a:lstStyle/>
          <a:p>
            <a:pPr algn="ctr" rtl="1"/>
            <a:r>
              <a:rPr lang="en-US" sz="3600" b="1" dirty="0"/>
              <a:t>PL/SQL</a:t>
            </a:r>
            <a:r>
              <a:rPr lang="he-IL" sz="3600" b="1" dirty="0"/>
              <a:t> - </a:t>
            </a:r>
            <a:r>
              <a:rPr lang="en-US" sz="3600" dirty="0"/>
              <a:t>Cursors For Loop</a:t>
            </a:r>
            <a:r>
              <a:rPr lang="he-IL" sz="3600" dirty="0">
                <a:solidFill>
                  <a:schemeClr val="tx1"/>
                </a:solidFill>
              </a:rPr>
              <a:t> </a:t>
            </a:r>
            <a:endParaRPr lang="en-US" sz="3600" b="1" dirty="0"/>
          </a:p>
        </p:txBody>
      </p:sp>
      <p:sp>
        <p:nvSpPr>
          <p:cNvPr id="37892" name="Rectangle 3"/>
          <p:cNvSpPr>
            <a:spLocks noGrp="1" noChangeArrowheads="1"/>
          </p:cNvSpPr>
          <p:nvPr>
            <p:ph idx="1"/>
          </p:nvPr>
        </p:nvSpPr>
        <p:spPr>
          <a:xfrm>
            <a:off x="1219200" y="1447800"/>
            <a:ext cx="7239000" cy="5410200"/>
          </a:xfrm>
        </p:spPr>
        <p:txBody>
          <a:bodyPr/>
          <a:lstStyle/>
          <a:p>
            <a:pPr algn="r" rtl="1"/>
            <a:r>
              <a:rPr lang="he-IL" sz="2000" dirty="0"/>
              <a:t>דוגמא: </a:t>
            </a:r>
          </a:p>
          <a:p>
            <a:pPr lvl="1" algn="r" rtl="1"/>
            <a:r>
              <a:rPr lang="he-IL" sz="1600" dirty="0">
                <a:cs typeface="Arial" charset="0"/>
              </a:rPr>
              <a:t>תוכנית המדפיסה את כל פרטי העובדים (מספר עובד, שם, משכורת).</a:t>
            </a:r>
          </a:p>
          <a:p>
            <a:pPr algn="l" rtl="0">
              <a:buFontTx/>
              <a:buNone/>
            </a:pPr>
            <a:endParaRPr lang="en-US" sz="2000" dirty="0"/>
          </a:p>
          <a:p>
            <a:pPr algn="l" rtl="0">
              <a:buFontTx/>
              <a:buNone/>
            </a:pPr>
            <a:endParaRPr lang="en-US" sz="2000" dirty="0"/>
          </a:p>
          <a:p>
            <a:pPr algn="l" rtl="0">
              <a:buFontTx/>
              <a:buNone/>
            </a:pPr>
            <a:endParaRPr lang="en-US" sz="2000" dirty="0"/>
          </a:p>
          <a:p>
            <a:pPr algn="l" rtl="0">
              <a:buFontTx/>
              <a:buNone/>
            </a:pPr>
            <a:endParaRPr lang="en-US" sz="800" dirty="0"/>
          </a:p>
          <a:p>
            <a:pPr algn="l" rtl="0">
              <a:buFontTx/>
              <a:buNone/>
            </a:pPr>
            <a:endParaRPr lang="en-US" sz="1800" dirty="0"/>
          </a:p>
        </p:txBody>
      </p:sp>
      <p:sp>
        <p:nvSpPr>
          <p:cNvPr id="3789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9pPr>
          </a:lstStyle>
          <a:p>
            <a:pPr eaLnBrk="1" hangingPunct="1"/>
            <a:fld id="{7A254566-5BAC-42BF-A6AD-F1BF8FB185DE}" type="slidenum">
              <a:rPr lang="he-IL" sz="1400"/>
              <a:pPr eaLnBrk="1" hangingPunct="1"/>
              <a:t>40</a:t>
            </a:fld>
            <a:endParaRPr lang="en-US" sz="140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1981200" y="3274463"/>
            <a:ext cx="5097519" cy="1756871"/>
          </a:xfrm>
          <a:prstGeom prst="rect">
            <a:avLst/>
          </a:prstGeom>
          <a:solidFill>
            <a:srgbClr val="F5F2F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47610" tIns="63480" rIns="4761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e-IL" altLang="he-IL" sz="1100" b="0" i="0" u="none" strike="noStrike" cap="none" normalizeH="0" baseline="0" dirty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DECLARE</a:t>
            </a:r>
            <a:r>
              <a:rPr kumimoji="0" lang="he-IL" altLang="he-IL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he-IL" altLang="he-IL" sz="11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kumimoji="0" lang="he-IL" altLang="he-IL" sz="1100" b="0" i="0" u="none" strike="noStrike" cap="none" normalizeH="0" baseline="0" dirty="0" err="1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cursor</a:t>
            </a:r>
            <a:r>
              <a:rPr kumimoji="0" lang="he-IL" altLang="he-IL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he-IL" altLang="he-IL" sz="1100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kumimoji="0" lang="he-IL" altLang="he-IL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he-IL" altLang="he-IL" sz="1100" b="0" i="0" u="none" strike="noStrike" cap="none" normalizeH="0" baseline="0" dirty="0" err="1">
                <a:ln>
                  <a:noFill/>
                </a:ln>
                <a:solidFill>
                  <a:srgbClr val="A67F59"/>
                </a:solidFill>
                <a:effectLst/>
                <a:latin typeface="Consolas" panose="020B0609020204030204" pitchFamily="49" charset="0"/>
              </a:rPr>
              <a:t>is</a:t>
            </a:r>
            <a:r>
              <a:rPr kumimoji="0" lang="he-IL" altLang="he-IL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he-IL" altLang="he-IL" sz="1100" b="0" i="0" u="none" strike="noStrike" cap="none" normalizeH="0" baseline="0" dirty="0" err="1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kumimoji="0" lang="he-IL" altLang="he-IL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he-IL" altLang="he-IL" sz="1100" b="0" i="0" u="none" strike="noStrike" cap="none" normalizeH="0" baseline="0" dirty="0">
                <a:ln>
                  <a:noFill/>
                </a:ln>
                <a:solidFill>
                  <a:srgbClr val="A67F59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kumimoji="0" lang="he-IL" altLang="he-IL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he-IL" altLang="he-IL" sz="1100" b="0" i="0" u="none" strike="noStrike" cap="none" normalizeH="0" baseline="0" dirty="0" err="1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kumimoji="0" lang="he-IL" altLang="he-IL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he-IL" altLang="he-IL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emp</a:t>
            </a:r>
            <a:r>
              <a:rPr kumimoji="0" lang="he-IL" altLang="he-IL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he-IL" altLang="he-IL" sz="11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kumimoji="0" lang="he-IL" altLang="he-IL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he-IL" altLang="he-IL" sz="11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kumimoji="0" lang="he-IL" altLang="he-IL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tmp</a:t>
            </a:r>
            <a:r>
              <a:rPr kumimoji="0" lang="he-IL" altLang="he-IL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emp%rowtype</a:t>
            </a:r>
            <a:r>
              <a:rPr kumimoji="0" lang="he-IL" altLang="he-IL" sz="11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kumimoji="0" lang="he-IL" altLang="he-IL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e-IL" altLang="he-IL" sz="1100" b="0" i="0" u="none" strike="noStrike" cap="none" normalizeH="0" baseline="0" dirty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BEGIN</a:t>
            </a:r>
            <a:r>
              <a:rPr kumimoji="0" lang="he-IL" altLang="he-IL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he-IL" altLang="he-IL" sz="11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kumimoji="0" lang="he-IL" altLang="he-IL" sz="1100" b="0" i="0" u="none" strike="noStrike" cap="none" normalizeH="0" baseline="0" dirty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kumimoji="0" lang="he-IL" altLang="he-IL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he-IL" altLang="he-IL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tmp</a:t>
            </a:r>
            <a:r>
              <a:rPr kumimoji="0" lang="he-IL" altLang="he-IL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he-IL" altLang="he-IL" sz="1100" b="0" i="0" u="none" strike="noStrike" cap="none" normalizeH="0" baseline="0" dirty="0">
                <a:ln>
                  <a:noFill/>
                </a:ln>
                <a:solidFill>
                  <a:srgbClr val="A67F59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kumimoji="0" lang="he-IL" altLang="he-IL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he-IL" altLang="he-IL" sz="1100" b="0" i="0" u="none" strike="noStrike" cap="none" normalizeH="0" baseline="0" dirty="0">
                <a:ln>
                  <a:noFill/>
                </a:ln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kumimoji="0" lang="he-IL" altLang="he-IL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he-IL" altLang="he-IL" sz="1100" b="0" i="0" u="none" strike="noStrike" cap="none" normalizeH="0" baseline="0" dirty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LOOP</a:t>
            </a:r>
            <a:r>
              <a:rPr kumimoji="0" lang="he-IL" altLang="he-IL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he-IL" altLang="he-IL" sz="1100" dirty="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kumimoji="0" lang="he-IL" altLang="he-IL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dbms_output</a:t>
            </a:r>
            <a:r>
              <a:rPr kumimoji="0" lang="he-IL" altLang="he-IL" sz="1100" b="0" i="0" u="none" strike="noStrike" cap="none" normalizeH="0" baseline="0" dirty="0" err="1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he-IL" altLang="he-IL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put_line</a:t>
            </a:r>
            <a:r>
              <a:rPr kumimoji="0" lang="he-IL" altLang="he-IL" sz="11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he-IL" altLang="he-IL" sz="11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he-IL" altLang="he-IL" sz="1100" b="0" i="0" u="none" strike="noStrike" cap="none" normalizeH="0" baseline="0" dirty="0" err="1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EMP_No</a:t>
            </a:r>
            <a:r>
              <a:rPr kumimoji="0" lang="he-IL" altLang="he-IL" sz="11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: '</a:t>
            </a:r>
            <a:r>
              <a:rPr kumimoji="0" lang="he-IL" altLang="he-IL" sz="1100" b="0" i="0" u="none" strike="noStrike" cap="none" normalizeH="0" baseline="0" dirty="0">
                <a:ln>
                  <a:noFill/>
                </a:ln>
                <a:solidFill>
                  <a:srgbClr val="A67F59"/>
                </a:solidFill>
                <a:effectLst/>
                <a:latin typeface="Consolas" panose="020B0609020204030204" pitchFamily="49" charset="0"/>
              </a:rPr>
              <a:t>||</a:t>
            </a:r>
            <a:r>
              <a:rPr kumimoji="0" lang="he-IL" altLang="he-IL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tmp</a:t>
            </a:r>
            <a:r>
              <a:rPr kumimoji="0" lang="he-IL" altLang="he-IL" sz="1100" b="0" i="0" u="none" strike="noStrike" cap="none" normalizeH="0" baseline="0" dirty="0" err="1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he-IL" altLang="he-IL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empno</a:t>
            </a:r>
            <a:r>
              <a:rPr kumimoji="0" lang="he-IL" altLang="he-IL" sz="11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en-US" altLang="he-IL" sz="11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endParaRPr kumimoji="0" lang="he-IL" altLang="he-IL" sz="11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he-IL" altLang="he-IL" sz="1100" dirty="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kumimoji="0" lang="he-IL" altLang="he-IL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dbms_output</a:t>
            </a:r>
            <a:r>
              <a:rPr kumimoji="0" lang="he-IL" altLang="he-IL" sz="1100" b="0" i="0" u="none" strike="noStrike" cap="none" normalizeH="0" baseline="0" dirty="0" err="1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he-IL" altLang="he-IL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put_line</a:t>
            </a:r>
            <a:r>
              <a:rPr kumimoji="0" lang="he-IL" altLang="he-IL" sz="11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he-IL" altLang="he-IL" sz="11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he-IL" altLang="he-IL" sz="1100" b="0" i="0" u="none" strike="noStrike" cap="none" normalizeH="0" baseline="0" dirty="0" err="1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EMP_Name</a:t>
            </a:r>
            <a:r>
              <a:rPr kumimoji="0" lang="he-IL" altLang="he-IL" sz="11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: '</a:t>
            </a:r>
            <a:r>
              <a:rPr kumimoji="0" lang="he-IL" altLang="he-IL" sz="1100" b="0" i="0" u="none" strike="noStrike" cap="none" normalizeH="0" baseline="0" dirty="0">
                <a:ln>
                  <a:noFill/>
                </a:ln>
                <a:solidFill>
                  <a:srgbClr val="A67F59"/>
                </a:solidFill>
                <a:effectLst/>
                <a:latin typeface="Consolas" panose="020B0609020204030204" pitchFamily="49" charset="0"/>
              </a:rPr>
              <a:t>||</a:t>
            </a:r>
            <a:r>
              <a:rPr kumimoji="0" lang="he-IL" altLang="he-IL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tmp</a:t>
            </a:r>
            <a:r>
              <a:rPr kumimoji="0" lang="he-IL" altLang="he-IL" sz="1100" b="0" i="0" u="none" strike="noStrike" cap="none" normalizeH="0" baseline="0" dirty="0" err="1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he-IL" altLang="he-IL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enam</a:t>
            </a:r>
            <a:r>
              <a:rPr kumimoji="0" lang="en-US" altLang="he-IL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altLang="he-IL" sz="1100" dirty="0">
                <a:solidFill>
                  <a:srgbClr val="999999"/>
                </a:solidFill>
                <a:latin typeface="Consolas" panose="020B0609020204030204" pitchFamily="49" charset="0"/>
              </a:rPr>
              <a:t>)</a:t>
            </a:r>
            <a:r>
              <a:rPr kumimoji="0" lang="he-IL" altLang="he-IL" sz="11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kumimoji="0" lang="he-IL" altLang="he-IL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he-IL" altLang="he-IL" sz="1100" dirty="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kumimoji="0" lang="he-IL" altLang="he-IL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dbms_output</a:t>
            </a:r>
            <a:r>
              <a:rPr kumimoji="0" lang="he-IL" altLang="he-IL" sz="1100" b="0" i="0" u="none" strike="noStrike" cap="none" normalizeH="0" baseline="0" dirty="0" err="1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he-IL" altLang="he-IL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put_line</a:t>
            </a:r>
            <a:r>
              <a:rPr kumimoji="0" lang="he-IL" altLang="he-IL" sz="11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he-IL" altLang="he-IL" sz="11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kumimoji="0" lang="he-IL" altLang="he-IL" sz="1100" b="0" i="0" u="none" strike="noStrike" cap="none" normalizeH="0" baseline="0" dirty="0" err="1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EMP_Salary</a:t>
            </a:r>
            <a:r>
              <a:rPr kumimoji="0" lang="he-IL" altLang="he-IL" sz="1100" b="0" i="0" u="none" strike="noStrike" cap="none" normalizeH="0" baseline="0" dirty="0">
                <a:ln>
                  <a:noFill/>
                </a:ln>
                <a:solidFill>
                  <a:srgbClr val="669900"/>
                </a:solidFill>
                <a:effectLst/>
                <a:latin typeface="Consolas" panose="020B0609020204030204" pitchFamily="49" charset="0"/>
              </a:rPr>
              <a:t>:'</a:t>
            </a:r>
            <a:r>
              <a:rPr kumimoji="0" lang="he-IL" altLang="he-IL" sz="1100" b="0" i="0" u="none" strike="noStrike" cap="none" normalizeH="0" baseline="0" dirty="0">
                <a:ln>
                  <a:noFill/>
                </a:ln>
                <a:solidFill>
                  <a:srgbClr val="A67F59"/>
                </a:solidFill>
                <a:effectLst/>
                <a:latin typeface="Consolas" panose="020B0609020204030204" pitchFamily="49" charset="0"/>
              </a:rPr>
              <a:t>||</a:t>
            </a:r>
            <a:r>
              <a:rPr kumimoji="0" lang="he-IL" altLang="he-IL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tmp</a:t>
            </a:r>
            <a:r>
              <a:rPr kumimoji="0" lang="he-IL" altLang="he-IL" sz="1100" b="0" i="0" u="none" strike="noStrike" cap="none" normalizeH="0" baseline="0" dirty="0" err="1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he-IL" altLang="he-IL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sal</a:t>
            </a:r>
            <a:r>
              <a:rPr kumimoji="0" lang="he-IL" altLang="he-IL" sz="11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);</a:t>
            </a:r>
            <a:r>
              <a:rPr kumimoji="0" lang="he-IL" altLang="he-IL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he-IL" altLang="he-IL" sz="11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kumimoji="0" lang="he-IL" altLang="he-IL" sz="1100" b="0" i="0" u="none" strike="noStrike" cap="none" normalizeH="0" baseline="0" dirty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kumimoji="0" lang="he-IL" altLang="he-IL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he-IL" altLang="he-IL" sz="1100" b="0" i="0" u="none" strike="noStrike" cap="none" normalizeH="0" baseline="0" dirty="0" err="1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Loop</a:t>
            </a:r>
            <a:r>
              <a:rPr kumimoji="0" lang="he-IL" altLang="he-IL" sz="11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kumimoji="0" lang="he-IL" altLang="he-IL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he-IL" altLang="he-IL" sz="1100" b="0" i="0" u="none" strike="noStrike" cap="none" normalizeH="0" baseline="0" dirty="0">
                <a:ln>
                  <a:noFill/>
                </a:ln>
                <a:solidFill>
                  <a:srgbClr val="0077AA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kumimoji="0" lang="he-IL" altLang="he-IL" sz="1100" b="0" i="0" u="none" strike="noStrike" cap="none" normalizeH="0" baseline="0" dirty="0">
                <a:ln>
                  <a:noFill/>
                </a:ln>
                <a:solidFill>
                  <a:srgbClr val="999999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kumimoji="0" lang="he-IL" altLang="he-IL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he-IL" altLang="he-I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089812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/>
          <a:lstStyle/>
          <a:p>
            <a:pPr algn="ctr" rtl="1"/>
            <a:r>
              <a:rPr lang="en-US" sz="3600" b="1" dirty="0"/>
              <a:t>PL/SQL</a:t>
            </a:r>
            <a:r>
              <a:rPr lang="he-IL" sz="3600" b="1" dirty="0"/>
              <a:t> - </a:t>
            </a:r>
            <a:r>
              <a:rPr lang="en-US" sz="3600" dirty="0"/>
              <a:t>Cursors For update</a:t>
            </a:r>
            <a:r>
              <a:rPr lang="he-IL" sz="3600" dirty="0">
                <a:solidFill>
                  <a:schemeClr val="tx1"/>
                </a:solidFill>
              </a:rPr>
              <a:t> </a:t>
            </a:r>
            <a:endParaRPr lang="en-US" sz="3600" b="1" dirty="0"/>
          </a:p>
        </p:txBody>
      </p:sp>
      <p:sp>
        <p:nvSpPr>
          <p:cNvPr id="37892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447800"/>
            <a:ext cx="7924800" cy="5410200"/>
          </a:xfrm>
        </p:spPr>
        <p:txBody>
          <a:bodyPr/>
          <a:lstStyle/>
          <a:p>
            <a:pPr algn="r" rtl="1"/>
            <a:r>
              <a:rPr lang="he-IL" sz="2000" dirty="0"/>
              <a:t>במידה ואנחנו פותחים סמן על טבלה מסוימת, לא ניתן לעדכון את הטבלה.</a:t>
            </a:r>
          </a:p>
          <a:p>
            <a:pPr algn="r" rtl="1"/>
            <a:r>
              <a:rPr lang="he-IL" sz="2000" dirty="0">
                <a:cs typeface="Arial" charset="0"/>
              </a:rPr>
              <a:t>במידה ואנחנו רוצה לערוך את ערכי הטבלה שכרגע אנחנו עובדים עליה, </a:t>
            </a:r>
          </a:p>
          <a:p>
            <a:pPr marL="0" indent="0" algn="r" rtl="1">
              <a:buNone/>
            </a:pPr>
            <a:r>
              <a:rPr lang="he-IL" sz="2000" dirty="0">
                <a:cs typeface="Arial" charset="0"/>
              </a:rPr>
              <a:t>    צריך להוסיף "</a:t>
            </a:r>
            <a:r>
              <a:rPr lang="en-US" sz="2000" dirty="0">
                <a:cs typeface="Arial" charset="0"/>
              </a:rPr>
              <a:t>For update</a:t>
            </a:r>
            <a:r>
              <a:rPr lang="he-IL" sz="2000" dirty="0">
                <a:cs typeface="Arial" charset="0"/>
              </a:rPr>
              <a:t>" לסמן ואת המשפט </a:t>
            </a:r>
            <a:r>
              <a:rPr lang="en-US" sz="2000" dirty="0">
                <a:cs typeface="Arial" charset="0"/>
              </a:rPr>
              <a:t>where current of</a:t>
            </a:r>
            <a:r>
              <a:rPr lang="he-IL" sz="2000" dirty="0">
                <a:cs typeface="Arial" charset="0"/>
              </a:rPr>
              <a:t>    </a:t>
            </a:r>
          </a:p>
          <a:p>
            <a:pPr marL="0" indent="0" algn="r" rtl="1">
              <a:buNone/>
            </a:pPr>
            <a:r>
              <a:rPr lang="he-IL" sz="2000" dirty="0">
                <a:cs typeface="Arial" charset="0"/>
              </a:rPr>
              <a:t>    + שם הסמן לשאילתת העדכון.</a:t>
            </a:r>
            <a:endParaRPr lang="he-IL" sz="1600" dirty="0">
              <a:cs typeface="Arial" charset="0"/>
            </a:endParaRPr>
          </a:p>
          <a:p>
            <a:pPr algn="l" rtl="0">
              <a:buFontTx/>
              <a:buNone/>
            </a:pPr>
            <a:endParaRPr lang="en-US" sz="2000" dirty="0"/>
          </a:p>
          <a:p>
            <a:pPr algn="l" rtl="0">
              <a:buFontTx/>
              <a:buNone/>
            </a:pPr>
            <a:endParaRPr lang="en-US" sz="2000" dirty="0"/>
          </a:p>
          <a:p>
            <a:pPr algn="l" rtl="0">
              <a:buFontTx/>
              <a:buNone/>
            </a:pPr>
            <a:endParaRPr lang="en-US" sz="2000" dirty="0"/>
          </a:p>
          <a:p>
            <a:pPr algn="l" rtl="0">
              <a:buFontTx/>
              <a:buNone/>
            </a:pPr>
            <a:endParaRPr lang="en-US" sz="800" dirty="0"/>
          </a:p>
          <a:p>
            <a:pPr algn="l" rtl="0">
              <a:buFontTx/>
              <a:buNone/>
            </a:pPr>
            <a:endParaRPr lang="en-US" sz="1800" dirty="0"/>
          </a:p>
        </p:txBody>
      </p:sp>
      <p:sp>
        <p:nvSpPr>
          <p:cNvPr id="3789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5pPr>
            <a:lvl6pPr marL="25146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6pPr>
            <a:lvl7pPr marL="29718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7pPr>
            <a:lvl8pPr marL="34290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8pPr>
            <a:lvl9pPr marL="3886200" indent="-228600" algn="r" rtl="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Times New Roman (Hebrew)" charset="0"/>
                <a:cs typeface="Times New Roman (Hebrew)" charset="0"/>
              </a:defRPr>
            </a:lvl9pPr>
          </a:lstStyle>
          <a:p>
            <a:pPr eaLnBrk="1" hangingPunct="1"/>
            <a:fld id="{7A254566-5BAC-42BF-A6AD-F1BF8FB185DE}" type="slidenum">
              <a:rPr lang="he-IL" sz="1400"/>
              <a:pPr eaLnBrk="1" hangingPunct="1"/>
              <a:t>41</a:t>
            </a:fld>
            <a:endParaRPr lang="en-US" sz="140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3048000"/>
            <a:ext cx="8544320" cy="2993075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52400" y="5987873"/>
            <a:ext cx="84681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 sz="1800" dirty="0">
                <a:solidFill>
                  <a:srgbClr val="C00000"/>
                </a:solidFill>
              </a:rPr>
              <a:t>*התוכנית תדפיס לכל עובד את המשכורת הנוכחית שלו</a:t>
            </a:r>
          </a:p>
          <a:p>
            <a:r>
              <a:rPr lang="he-IL" sz="1800" dirty="0">
                <a:solidFill>
                  <a:srgbClr val="C00000"/>
                </a:solidFill>
              </a:rPr>
              <a:t>ולאחר מכן היא תעדכן את המשכורת שלו (על ידי משפט </a:t>
            </a:r>
            <a:r>
              <a:rPr lang="en-US" sz="1800" dirty="0">
                <a:solidFill>
                  <a:srgbClr val="C00000"/>
                </a:solidFill>
              </a:rPr>
              <a:t>update</a:t>
            </a:r>
            <a:r>
              <a:rPr lang="he-IL" sz="1800" dirty="0">
                <a:solidFill>
                  <a:srgbClr val="C00000"/>
                </a:solidFill>
              </a:rPr>
              <a:t> שמצביע על השורה הנוכחית בסמן)</a:t>
            </a:r>
            <a:endParaRPr lang="en-US" sz="18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772311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oundry">
  <a:themeElements>
    <a:clrScheme name="Foundry">
      <a:dk1>
        <a:sysClr val="windowText" lastClr="000000"/>
      </a:dk1>
      <a:lt1>
        <a:sysClr val="window" lastClr="FFFFFF"/>
      </a:lt1>
      <a:dk2>
        <a:srgbClr val="676A55"/>
      </a:dk2>
      <a:lt2>
        <a:srgbClr val="EAEBDE"/>
      </a:lt2>
      <a:accent1>
        <a:srgbClr val="72A376"/>
      </a:accent1>
      <a:accent2>
        <a:srgbClr val="B0CCB0"/>
      </a:accent2>
      <a:accent3>
        <a:srgbClr val="A8CDD7"/>
      </a:accent3>
      <a:accent4>
        <a:srgbClr val="C0BEAF"/>
      </a:accent4>
      <a:accent5>
        <a:srgbClr val="CEC597"/>
      </a:accent5>
      <a:accent6>
        <a:srgbClr val="E8B7B7"/>
      </a:accent6>
      <a:hlink>
        <a:srgbClr val="DB5353"/>
      </a:hlink>
      <a:folHlink>
        <a:srgbClr val="90363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oundry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80000"/>
              </a:schemeClr>
            </a:gs>
            <a:gs pos="62000">
              <a:schemeClr val="phClr">
                <a:tint val="30000"/>
                <a:satMod val="180000"/>
              </a:schemeClr>
            </a:gs>
            <a:gs pos="100000">
              <a:schemeClr val="phClr">
                <a:tint val="22000"/>
                <a:satMod val="18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8000"/>
                <a:satMod val="150000"/>
              </a:schemeClr>
            </a:gs>
            <a:gs pos="72000">
              <a:schemeClr val="phClr">
                <a:tint val="90000"/>
                <a:satMod val="135000"/>
              </a:schemeClr>
            </a:gs>
            <a:gs pos="100000">
              <a:schemeClr val="phClr">
                <a:tint val="8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80000"/>
            </a:schemeClr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000000"/>
            </a:lightRig>
          </a:scene3d>
          <a:sp3d prstMaterial="matte">
            <a:bevelT w="63500" h="635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5000"/>
                <a:satMod val="400000"/>
              </a:schemeClr>
            </a:gs>
            <a:gs pos="20000">
              <a:schemeClr val="phClr">
                <a:tint val="80000"/>
                <a:satMod val="355000"/>
              </a:schemeClr>
            </a:gs>
            <a:gs pos="100000">
              <a:schemeClr val="phClr">
                <a:tint val="95000"/>
                <a:shade val="55000"/>
                <a:satMod val="355000"/>
              </a:schemeClr>
            </a:gs>
          </a:gsLst>
          <a:path path="circle">
            <a:fillToRect l="67500" t="35000" r="32500" b="65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0"/>
                <a:satMod val="120000"/>
              </a:schemeClr>
              <a:schemeClr val="phClr">
                <a:tint val="70000"/>
                <a:satMod val="250000"/>
              </a:schemeClr>
            </a:duotone>
          </a:blip>
          <a:tile tx="0" ty="0" sx="50000" sy="50000" flip="none" algn="t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Foundry">
  <a:themeElements>
    <a:clrScheme name="Foundry">
      <a:dk1>
        <a:sysClr val="windowText" lastClr="000000"/>
      </a:dk1>
      <a:lt1>
        <a:sysClr val="window" lastClr="FFFFFF"/>
      </a:lt1>
      <a:dk2>
        <a:srgbClr val="676A55"/>
      </a:dk2>
      <a:lt2>
        <a:srgbClr val="EAEBDE"/>
      </a:lt2>
      <a:accent1>
        <a:srgbClr val="72A376"/>
      </a:accent1>
      <a:accent2>
        <a:srgbClr val="B0CCB0"/>
      </a:accent2>
      <a:accent3>
        <a:srgbClr val="A8CDD7"/>
      </a:accent3>
      <a:accent4>
        <a:srgbClr val="C0BEAF"/>
      </a:accent4>
      <a:accent5>
        <a:srgbClr val="CEC597"/>
      </a:accent5>
      <a:accent6>
        <a:srgbClr val="E8B7B7"/>
      </a:accent6>
      <a:hlink>
        <a:srgbClr val="DB5353"/>
      </a:hlink>
      <a:folHlink>
        <a:srgbClr val="90363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oundry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80000"/>
              </a:schemeClr>
            </a:gs>
            <a:gs pos="62000">
              <a:schemeClr val="phClr">
                <a:tint val="30000"/>
                <a:satMod val="180000"/>
              </a:schemeClr>
            </a:gs>
            <a:gs pos="100000">
              <a:schemeClr val="phClr">
                <a:tint val="22000"/>
                <a:satMod val="18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8000"/>
                <a:satMod val="150000"/>
              </a:schemeClr>
            </a:gs>
            <a:gs pos="72000">
              <a:schemeClr val="phClr">
                <a:tint val="90000"/>
                <a:satMod val="135000"/>
              </a:schemeClr>
            </a:gs>
            <a:gs pos="100000">
              <a:schemeClr val="phClr">
                <a:tint val="8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80000"/>
            </a:schemeClr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000000"/>
            </a:lightRig>
          </a:scene3d>
          <a:sp3d prstMaterial="matte">
            <a:bevelT w="63500" h="635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5000"/>
                <a:satMod val="400000"/>
              </a:schemeClr>
            </a:gs>
            <a:gs pos="20000">
              <a:schemeClr val="phClr">
                <a:tint val="80000"/>
                <a:satMod val="355000"/>
              </a:schemeClr>
            </a:gs>
            <a:gs pos="100000">
              <a:schemeClr val="phClr">
                <a:tint val="95000"/>
                <a:shade val="55000"/>
                <a:satMod val="355000"/>
              </a:schemeClr>
            </a:gs>
          </a:gsLst>
          <a:path path="circle">
            <a:fillToRect l="67500" t="35000" r="32500" b="65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0"/>
                <a:satMod val="120000"/>
              </a:schemeClr>
              <a:schemeClr val="phClr">
                <a:tint val="70000"/>
                <a:satMod val="250000"/>
              </a:schemeClr>
            </a:duotone>
          </a:blip>
          <a:tile tx="0" ty="0" sx="50000" sy="50000" flip="none" algn="t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9802</TotalTime>
  <Words>1793</Words>
  <Application>Microsoft Macintosh PowerPoint</Application>
  <PresentationFormat>On-screen Show (4:3)</PresentationFormat>
  <Paragraphs>415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41</vt:i4>
      </vt:variant>
    </vt:vector>
  </HeadingPairs>
  <TitlesOfParts>
    <vt:vector size="48" baseType="lpstr">
      <vt:lpstr>Arial</vt:lpstr>
      <vt:lpstr>Consolas</vt:lpstr>
      <vt:lpstr>Courier New</vt:lpstr>
      <vt:lpstr>Times New Roman</vt:lpstr>
      <vt:lpstr>Wingdings 2</vt:lpstr>
      <vt:lpstr>Foundry</vt:lpstr>
      <vt:lpstr>1_Foundry</vt:lpstr>
      <vt:lpstr>בסיסי נתונים - מעבדה</vt:lpstr>
      <vt:lpstr>PL/SQL</vt:lpstr>
      <vt:lpstr>PL/SQL - הקדמה</vt:lpstr>
      <vt:lpstr>PL/SQL - הקדמה</vt:lpstr>
      <vt:lpstr>PL/SQL - הקדמה</vt:lpstr>
      <vt:lpstr>PL/SQL - טיפוסי נתונים</vt:lpstr>
      <vt:lpstr>PL/SQL - טיפוסי נתונים</vt:lpstr>
      <vt:lpstr>PL/SQL - טיפוסי נתונים</vt:lpstr>
      <vt:lpstr>PL/SQL - טיפוסי נתונים</vt:lpstr>
      <vt:lpstr>PL/SQL - טיפוסי נתונים</vt:lpstr>
      <vt:lpstr>PL/SQL - Select Into</vt:lpstr>
      <vt:lpstr>PL/SQL - Select Into</vt:lpstr>
      <vt:lpstr>PL/SQL – צפייה בתוצאות</vt:lpstr>
      <vt:lpstr>PL/SQL – צפייה בתוצאות</vt:lpstr>
      <vt:lpstr>PL/SQL – צפייה בתוצאות</vt:lpstr>
      <vt:lpstr>PL/SQL – צפייה בתוצאות</vt:lpstr>
      <vt:lpstr>PL/SQL – צפייה בתוצאות</vt:lpstr>
      <vt:lpstr>PL/SQL – צפייה בתוצאות</vt:lpstr>
      <vt:lpstr>PL/SQL – צפייה בתוצאות</vt:lpstr>
      <vt:lpstr>PL/SQL – צפייה בתוצאות</vt:lpstr>
      <vt:lpstr>PL/SQL - UPDATE, INSERT and DELETE</vt:lpstr>
      <vt:lpstr>PL/SQL - UPDATE, INSERT and DELETE</vt:lpstr>
      <vt:lpstr>PL/SQL - INPUT / OUTPUT</vt:lpstr>
      <vt:lpstr>PL/SQL - התניות</vt:lpstr>
      <vt:lpstr>PL/SQL - התניות</vt:lpstr>
      <vt:lpstr>PL/SQL - התניות</vt:lpstr>
      <vt:lpstr>PL/SQL - התניות</vt:lpstr>
      <vt:lpstr>PL/SQL - לולאות</vt:lpstr>
      <vt:lpstr>PL/SQL - לולאות</vt:lpstr>
      <vt:lpstr>PL/SQL - לולאות</vt:lpstr>
      <vt:lpstr>PL/SQL - לולאות</vt:lpstr>
      <vt:lpstr>PL/SQL - Cursor </vt:lpstr>
      <vt:lpstr>PL/SQL - Cursor </vt:lpstr>
      <vt:lpstr>PL/SQL - Cursor </vt:lpstr>
      <vt:lpstr>PL/SQL - Cursor </vt:lpstr>
      <vt:lpstr>PL/SQL - Cursor </vt:lpstr>
      <vt:lpstr>PL/SQL - Cursor </vt:lpstr>
      <vt:lpstr>PL/SQL - Cursor </vt:lpstr>
      <vt:lpstr>PL/SQL - Cursors For Loop </vt:lpstr>
      <vt:lpstr>PL/SQL - Cursors For Loop </vt:lpstr>
      <vt:lpstr>PL/SQL - Cursors For update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</dc:title>
  <dc:creator>אולז'ן</dc:creator>
  <cp:lastModifiedBy>Gennady Kogan</cp:lastModifiedBy>
  <cp:revision>597</cp:revision>
  <dcterms:created xsi:type="dcterms:W3CDTF">2004-02-02T22:13:25Z</dcterms:created>
  <dcterms:modified xsi:type="dcterms:W3CDTF">2026-08-24T10:05:56Z</dcterms:modified>
</cp:coreProperties>
</file>