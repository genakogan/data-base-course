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56" r:id="rId2"/>
    <p:sldId id="540" r:id="rId3"/>
    <p:sldId id="586" r:id="rId4"/>
    <p:sldId id="589" r:id="rId5"/>
    <p:sldId id="590" r:id="rId6"/>
    <p:sldId id="364" r:id="rId7"/>
    <p:sldId id="568" r:id="rId8"/>
    <p:sldId id="582" r:id="rId9"/>
    <p:sldId id="569" r:id="rId10"/>
    <p:sldId id="583" r:id="rId11"/>
    <p:sldId id="570" r:id="rId12"/>
    <p:sldId id="571" r:id="rId13"/>
    <p:sldId id="584" r:id="rId14"/>
    <p:sldId id="591" r:id="rId15"/>
    <p:sldId id="573" r:id="rId16"/>
    <p:sldId id="575" r:id="rId17"/>
    <p:sldId id="592" r:id="rId18"/>
    <p:sldId id="585" r:id="rId19"/>
    <p:sldId id="577" r:id="rId20"/>
    <p:sldId id="581" r:id="rId21"/>
    <p:sldId id="580" r:id="rId22"/>
    <p:sldId id="593" r:id="rId23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00"/>
    <a:srgbClr val="0000CC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961" autoAdjust="0"/>
    <p:restoredTop sz="90929"/>
  </p:normalViewPr>
  <p:slideViewPr>
    <p:cSldViewPr>
      <p:cViewPr varScale="1">
        <p:scale>
          <a:sx n="105" d="100"/>
          <a:sy n="105" d="100"/>
        </p:scale>
        <p:origin x="141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fld id="{0FD4C886-5096-4708-A9A0-375EF52E3AA4}" type="datetimeFigureOut">
              <a:rPr lang="he-IL"/>
              <a:pPr>
                <a:defRPr/>
              </a:pPr>
              <a:t>ט'/חשון/תשע"ח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fld id="{4214A19C-7DD6-4DBF-8DB3-8D93C0FA438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7735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Times New Roman (Hebrew)" charset="0"/>
                <a:cs typeface="Times New Roman (Hebrew)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Times New Roman (Hebrew)" charset="0"/>
                <a:cs typeface="Times New Roman (Hebrew)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 smtClean="0"/>
              <a:t>לחץ כדי לערוך סגנונות טקסט של תבנית בסיס</a:t>
            </a:r>
          </a:p>
          <a:p>
            <a:pPr lvl="1"/>
            <a:r>
              <a:rPr lang="he-IL" noProof="0" smtClean="0"/>
              <a:t>רמה שנייה</a:t>
            </a:r>
          </a:p>
          <a:p>
            <a:pPr lvl="2"/>
            <a:r>
              <a:rPr lang="he-IL" noProof="0" smtClean="0"/>
              <a:t>רמה שלישית</a:t>
            </a:r>
          </a:p>
          <a:p>
            <a:pPr lvl="3"/>
            <a:r>
              <a:rPr lang="he-IL" noProof="0" smtClean="0"/>
              <a:t>רמה רביעית</a:t>
            </a:r>
          </a:p>
          <a:p>
            <a:pPr lvl="4"/>
            <a:r>
              <a:rPr lang="he-IL" noProof="0" smtClean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Times New Roman (Hebrew)" charset="0"/>
                <a:cs typeface="Times New Roman (Hebrew)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fld id="{8286893B-FB15-4C72-ADA6-6B3EC653170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65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8E6324E5-A55D-451B-851E-DA43F33BDE05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6FD5E20C-5F88-4013-B1F4-C4BCAEE487A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83ECD4-8FE1-4F4C-B71E-1BB36B0336EE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C6208-BF84-448F-B5EC-A90AC442D337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C8EBA511-4F8C-4E60-B79D-B773C59B2104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58473DE4-6F4D-4739-BE35-B7DB8A92ABF7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5BDBA8-E3F5-46E1-9E49-982ACA426EF2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8034BAB0-CE32-4050-92DF-2D5C5FCED89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26C76A-5B30-4ABF-BE80-7DB96A7A25EA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72B88F42-2036-4B1F-94D8-F56D05037C94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C62D10-69D8-4CD9-A96C-1C1048A4FE45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FA283F-F314-4D78-B4C0-9C6C7BCB4083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C4C104-5C23-444E-A783-A977179A2367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4ACFB7-CD23-4F8D-83BB-6602216E452F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0169D62B-B98E-4BAB-9508-AB65E84E6594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A309E7BD-99A5-4FD2-841D-0F96BE41A1E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EEC62845-BB72-47AF-BF58-EDCA5FB618E3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7735DD5E-B7C9-4A72-9915-E5F75F24D6D3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51D563-6DA0-4951-93B7-F4929FD4D723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14539-A5A1-45B0-A832-2756A1255B4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BC1B1-B95E-4D87-85A4-D6ABEF6CB18D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0C7601-9A9E-4CBE-9A6D-7DC1B7929672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fld id="{EFD0F4C2-84E7-4AB6-ADAF-2AE476C9D728}" type="datetime8">
              <a:rPr lang="he-IL" smtClean="0"/>
              <a:pPr>
                <a:defRPr/>
              </a:pPr>
              <a:t>29 אוקטובר 17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40681B72-3628-4395-A31F-94049BBFEC4E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honthenet.com/oracle/functions/to_date.php" TargetMode="External"/><Relationship Id="rId2" Type="http://schemas.openxmlformats.org/officeDocument/2006/relationships/hyperlink" Target="http://www.techonthenet.com/oracle/functions/to_char.ph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 smtClean="0"/>
          </a:p>
        </p:txBody>
      </p:sp>
      <p:grpSp>
        <p:nvGrpSpPr>
          <p:cNvPr id="2051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 smtClean="0"/>
                <a:t> </a:t>
              </a:r>
              <a:r>
                <a:rPr lang="he-IL" sz="8800" dirty="0" smtClean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715000" y="53340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 smtClean="0"/>
              <a:t>גיא שילון</a:t>
            </a:r>
            <a:endParaRPr lang="en-US" dirty="0" smtClean="0"/>
          </a:p>
          <a:p>
            <a:endParaRPr lang="he-IL" dirty="0" smtClean="0"/>
          </a:p>
          <a:p>
            <a:r>
              <a:rPr lang="en-US" smtClean="0"/>
              <a:t>guysh@ac.sce.ac.il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dirty="0" smtClean="0"/>
              <a:t>מעבדה מס' 1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eaLnBrk="1" hangingPunct="1"/>
            <a:r>
              <a:rPr lang="he-IL" dirty="0" smtClean="0"/>
              <a:t>מבוא</a:t>
            </a:r>
            <a:r>
              <a:rPr lang="en-US" dirty="0" smtClean="0"/>
              <a:t/>
            </a:r>
            <a:br>
              <a:rPr lang="en-US" dirty="0" smtClean="0"/>
            </a:br>
            <a:endParaRPr lang="he-IL" dirty="0" smtClean="0"/>
          </a:p>
          <a:p>
            <a:pPr algn="r" rtl="1" eaLnBrk="1" hangingPunct="1"/>
            <a:r>
              <a:rPr lang="he-IL" dirty="0" smtClean="0"/>
              <a:t>מבוא ל - </a:t>
            </a:r>
            <a:r>
              <a:rPr lang="en-US" dirty="0" smtClean="0"/>
              <a:t>SQL</a:t>
            </a:r>
            <a:r>
              <a:rPr lang="he-IL" dirty="0" smtClean="0"/>
              <a:t> </a:t>
            </a:r>
          </a:p>
          <a:p>
            <a:pPr algn="r" rtl="1" eaLnBrk="1" hangingPunct="1"/>
            <a:endParaRPr lang="he-IL" dirty="0" smtClean="0"/>
          </a:p>
          <a:p>
            <a:pPr algn="r" rtl="1" eaLnBrk="1" hangingPunct="1"/>
            <a:r>
              <a:rPr lang="he-IL" dirty="0" smtClean="0"/>
              <a:t>מבוא ל - </a:t>
            </a:r>
            <a:r>
              <a:rPr lang="en-US" dirty="0" smtClean="0"/>
              <a:t>Oracle</a:t>
            </a:r>
            <a:endParaRPr lang="he-IL" dirty="0" smtClean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FF90F-306C-4A24-B7E3-A09170950844}" type="slidenum">
              <a:rPr lang="he-IL" smtClean="0"/>
              <a:pPr>
                <a:defRPr/>
              </a:pPr>
              <a:t>2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– Structured Query Language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 smtClean="0">
                <a:cs typeface="+mj-cs"/>
              </a:rPr>
              <a:t>שפת מחשב הצהרתית לטיפול ועיבוד מידע בבסיסי נתונים יחסיים.</a:t>
            </a:r>
          </a:p>
          <a:p>
            <a:pPr algn="r" rtl="1"/>
            <a:endParaRPr lang="he-IL" sz="2800" dirty="0" smtClean="0">
              <a:cs typeface="+mj-cs"/>
            </a:endParaRPr>
          </a:p>
          <a:p>
            <a:pPr algn="r" rtl="1"/>
            <a:r>
              <a:rPr lang="he-IL" sz="2800" dirty="0" smtClean="0">
                <a:cs typeface="+mj-cs"/>
              </a:rPr>
              <a:t>השפה מתבססת על </a:t>
            </a:r>
            <a:r>
              <a:rPr lang="en-US" sz="2800" dirty="0" smtClean="0">
                <a:cs typeface="+mj-cs"/>
              </a:rPr>
              <a:t>Relational Algebra</a:t>
            </a:r>
            <a:r>
              <a:rPr lang="he-IL" sz="2800" dirty="0" smtClean="0">
                <a:cs typeface="+mj-cs"/>
              </a:rPr>
              <a:t>.</a:t>
            </a:r>
          </a:p>
          <a:p>
            <a:pPr algn="r" rtl="1"/>
            <a:endParaRPr lang="en-US" sz="2800" dirty="0" smtClean="0">
              <a:cs typeface="+mj-cs"/>
            </a:endParaRPr>
          </a:p>
          <a:p>
            <a:pPr algn="r" rtl="1"/>
            <a:r>
              <a:rPr lang="he-IL" sz="2800" dirty="0" smtClean="0">
                <a:cs typeface="+mj-cs"/>
              </a:rPr>
              <a:t>השפה מאפשרת:</a:t>
            </a:r>
          </a:p>
          <a:p>
            <a:pPr lvl="1" algn="r" rtl="1"/>
            <a:r>
              <a:rPr lang="he-IL" sz="2800" dirty="0" smtClean="0">
                <a:cs typeface="+mj-cs"/>
              </a:rPr>
              <a:t> תשאול נתונים ועדכונם </a:t>
            </a:r>
          </a:p>
          <a:p>
            <a:pPr lvl="1" algn="r" rtl="1"/>
            <a:r>
              <a:rPr lang="he-IL" sz="2800" dirty="0" smtClean="0">
                <a:cs typeface="+mj-cs"/>
              </a:rPr>
              <a:t>יצירת סכימה </a:t>
            </a:r>
          </a:p>
          <a:p>
            <a:pPr lvl="1" algn="r" rtl="1"/>
            <a:r>
              <a:rPr lang="he-IL" sz="2800" dirty="0" smtClean="0">
                <a:cs typeface="+mj-cs"/>
              </a:rPr>
              <a:t>ביצוע שינויים בתוך הסכימה.</a:t>
            </a:r>
            <a:endParaRPr lang="en-US" sz="2800"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– Structured Query Language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he-IL" sz="2800" dirty="0" smtClean="0">
              <a:cs typeface="+mj-cs"/>
            </a:endParaRPr>
          </a:p>
          <a:p>
            <a:pPr algn="r" rtl="1"/>
            <a:r>
              <a:rPr lang="he-IL" sz="2800" dirty="0" smtClean="0">
                <a:cs typeface="+mj-cs"/>
              </a:rPr>
              <a:t>הוראות שפת </a:t>
            </a:r>
            <a:r>
              <a:rPr lang="en-US" sz="2800" dirty="0" smtClean="0">
                <a:cs typeface="+mj-cs"/>
              </a:rPr>
              <a:t>SQL</a:t>
            </a:r>
            <a:r>
              <a:rPr lang="he-IL" sz="2800" dirty="0" smtClean="0">
                <a:cs typeface="+mj-cs"/>
              </a:rPr>
              <a:t> מתחלקים לשני תחומים עיקריים:</a:t>
            </a:r>
          </a:p>
          <a:p>
            <a:pPr algn="r" rtl="1"/>
            <a:r>
              <a:rPr lang="en-US" sz="2800" dirty="0" smtClean="0">
                <a:cs typeface="+mj-cs"/>
              </a:rPr>
              <a:t>DML</a:t>
            </a:r>
            <a:r>
              <a:rPr lang="he-IL" sz="2800" dirty="0" smtClean="0">
                <a:cs typeface="+mj-cs"/>
              </a:rPr>
              <a:t> – שפת טיפול בנתונים.</a:t>
            </a:r>
          </a:p>
          <a:p>
            <a:pPr algn="r" rtl="1"/>
            <a:r>
              <a:rPr lang="en-US" sz="2800" dirty="0" smtClean="0">
                <a:cs typeface="+mj-cs"/>
              </a:rPr>
              <a:t>DDL</a:t>
            </a:r>
            <a:r>
              <a:rPr lang="he-IL" sz="2800" dirty="0" smtClean="0">
                <a:cs typeface="+mj-cs"/>
              </a:rPr>
              <a:t> – שפת הגדרת נתונים.</a:t>
            </a:r>
          </a:p>
          <a:p>
            <a:pPr algn="r" rtl="1"/>
            <a:r>
              <a:rPr lang="en-US" sz="2800" dirty="0" smtClean="0">
                <a:cs typeface="+mj-cs"/>
              </a:rPr>
              <a:t>DCL</a:t>
            </a:r>
            <a:r>
              <a:rPr lang="he-IL" sz="2800" dirty="0" smtClean="0">
                <a:cs typeface="+mj-cs"/>
              </a:rPr>
              <a:t> – שפת בקרת הנתונים.</a:t>
            </a:r>
          </a:p>
          <a:p>
            <a:pPr algn="r" rtl="1"/>
            <a:endParaRPr lang="en-US" sz="2800"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SQL: SELECT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C6208-BF84-448F-B5EC-A90AC442D337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SQL - Selecting Data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514350" indent="-514350" algn="r" rtl="1">
              <a:defRPr/>
            </a:pPr>
            <a:r>
              <a:rPr lang="he-IL" sz="2800" dirty="0" smtClean="0">
                <a:cs typeface="+mj-cs"/>
              </a:rPr>
              <a:t>החלק העיקרי ב-</a:t>
            </a:r>
            <a:r>
              <a:rPr lang="en-US" sz="2800" dirty="0" smtClean="0">
                <a:cs typeface="+mj-cs"/>
              </a:rPr>
              <a:t>SQL </a:t>
            </a:r>
            <a:r>
              <a:rPr lang="he-IL" sz="2800" dirty="0" smtClean="0">
                <a:cs typeface="+mj-cs"/>
              </a:rPr>
              <a:t> הוא שליפת מידע</a:t>
            </a:r>
            <a:r>
              <a:rPr lang="en-US" sz="2800" dirty="0" smtClean="0">
                <a:cs typeface="+mj-cs"/>
              </a:rPr>
              <a:t>- </a:t>
            </a:r>
            <a:r>
              <a:rPr lang="he-IL" sz="2800" dirty="0" smtClean="0">
                <a:cs typeface="+mj-cs"/>
              </a:rPr>
              <a:t> דבר זה נעשה באמצעות משפטי </a:t>
            </a:r>
            <a:r>
              <a:rPr lang="en-US" sz="2800" dirty="0" smtClean="0">
                <a:cs typeface="+mj-cs"/>
              </a:rPr>
              <a:t>SELECT</a:t>
            </a:r>
            <a:r>
              <a:rPr lang="he-IL" sz="2800" dirty="0" smtClean="0">
                <a:cs typeface="+mj-cs"/>
              </a:rPr>
              <a:t> .</a:t>
            </a:r>
            <a:endParaRPr lang="en-US" sz="2800" dirty="0" smtClean="0">
              <a:cs typeface="+mj-cs"/>
            </a:endParaRPr>
          </a:p>
          <a:p>
            <a:pPr marL="514350" indent="-514350" algn="r" rtl="1" eaLnBrk="1" hangingPunct="1">
              <a:buFontTx/>
              <a:buAutoNum type="arabicPeriod"/>
              <a:defRPr/>
            </a:pPr>
            <a:endParaRPr lang="en-US" sz="2800" dirty="0" smtClean="0">
              <a:cs typeface="+mj-cs"/>
            </a:endParaRPr>
          </a:p>
          <a:p>
            <a:pPr marL="514350" indent="-514350" algn="r" rtl="1">
              <a:defRPr/>
            </a:pPr>
            <a:r>
              <a:rPr lang="he-IL" sz="2800" dirty="0" smtClean="0">
                <a:cs typeface="+mj-cs"/>
              </a:rPr>
              <a:t>על מנת לבחור מידע כלשהו, עלינו לציין:</a:t>
            </a:r>
          </a:p>
          <a:p>
            <a:pPr marL="914400" lvl="1" indent="-514350" algn="r" rtl="1">
              <a:buFontTx/>
              <a:buNone/>
              <a:defRPr/>
            </a:pPr>
            <a:r>
              <a:rPr lang="he-IL" sz="2400" dirty="0" smtClean="0">
                <a:cs typeface="+mj-cs"/>
              </a:rPr>
              <a:t>- 	איזה מידע אנו רוצים </a:t>
            </a:r>
            <a:r>
              <a:rPr lang="en-US" sz="2400" dirty="0" smtClean="0">
                <a:cs typeface="+mj-cs"/>
              </a:rPr>
              <a:t>)</a:t>
            </a:r>
            <a:r>
              <a:rPr lang="he-IL" sz="2400" dirty="0" smtClean="0">
                <a:cs typeface="+mj-cs"/>
              </a:rPr>
              <a:t>מה אנחנו רוצים לקבל).</a:t>
            </a:r>
          </a:p>
          <a:p>
            <a:pPr marL="914400" lvl="1" indent="-514350" algn="r" rtl="1" eaLnBrk="1" hangingPunct="1">
              <a:buFontTx/>
              <a:buChar char="-"/>
              <a:defRPr/>
            </a:pPr>
            <a:r>
              <a:rPr lang="he-IL" sz="2400" dirty="0" smtClean="0">
                <a:cs typeface="+mj-cs"/>
              </a:rPr>
              <a:t>מאיפה (איזו טבלה) אנו רוצים לשלוף את המידע.</a:t>
            </a:r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7E347-7B7E-4133-93B9-54D6D4DA7964}" type="slidenum">
              <a:rPr lang="he-IL" smtClean="0">
                <a:cs typeface="Times New Roman" pitchFamily="18" charset="0"/>
              </a:rPr>
              <a:pPr>
                <a:defRPr/>
              </a:pPr>
              <a:t>6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514350" indent="-514350" algn="r" rtl="1" eaLnBrk="1" hangingPunct="1">
              <a:buFontTx/>
              <a:buNone/>
              <a:defRPr/>
            </a:pPr>
            <a:r>
              <a:rPr lang="he-IL" sz="2800" dirty="0" smtClean="0">
                <a:cs typeface="+mj-cs"/>
              </a:rPr>
              <a:t>המבנה הבסיסי של הפקודה </a:t>
            </a:r>
            <a:r>
              <a:rPr lang="en-US" sz="2800" dirty="0" smtClean="0">
                <a:cs typeface="+mj-cs"/>
              </a:rPr>
              <a:t>SELECT</a:t>
            </a:r>
            <a:r>
              <a:rPr lang="he-IL" sz="2800" dirty="0" smtClean="0">
                <a:cs typeface="+mj-cs"/>
              </a:rPr>
              <a:t> הוא:</a:t>
            </a:r>
            <a:endParaRPr lang="en-US" sz="2800" dirty="0" smtClean="0">
              <a:cs typeface="+mj-cs"/>
            </a:endParaRPr>
          </a:p>
          <a:p>
            <a:pPr marL="514350" indent="-514350" algn="r" rtl="1" eaLnBrk="1" hangingPunct="1">
              <a:buFontTx/>
              <a:buNone/>
              <a:defRPr/>
            </a:pPr>
            <a:endParaRPr lang="en-US" dirty="0" smtClean="0"/>
          </a:p>
          <a:p>
            <a:pPr algn="l">
              <a:buFontTx/>
              <a:buNone/>
              <a:defRPr/>
            </a:pPr>
            <a:r>
              <a:rPr lang="en-US" sz="1600" b="1" dirty="0" smtClean="0"/>
              <a:t>SELECT</a:t>
            </a:r>
            <a:r>
              <a:rPr lang="en-US" sz="1600" dirty="0" smtClean="0"/>
              <a:t> &lt;filed(s) name&gt;</a:t>
            </a:r>
          </a:p>
          <a:p>
            <a:pPr algn="l">
              <a:buFontTx/>
              <a:buNone/>
              <a:defRPr/>
            </a:pPr>
            <a:r>
              <a:rPr lang="en-US" sz="1600" b="1" dirty="0" smtClean="0"/>
              <a:t>FROM</a:t>
            </a:r>
            <a:r>
              <a:rPr lang="en-US" sz="1600" dirty="0" smtClean="0"/>
              <a:t> &lt;table name&gt;;</a:t>
            </a:r>
            <a:endParaRPr lang="he-IL" sz="1600" dirty="0" smtClean="0"/>
          </a:p>
          <a:p>
            <a:pPr algn="r" rtl="1">
              <a:buFontTx/>
              <a:buNone/>
              <a:defRPr/>
            </a:pPr>
            <a:endParaRPr lang="he-IL" sz="1600" dirty="0" smtClean="0"/>
          </a:p>
          <a:p>
            <a:pPr algn="r" rtl="1">
              <a:buFontTx/>
              <a:buNone/>
              <a:defRPr/>
            </a:pPr>
            <a:r>
              <a:rPr lang="he-IL" sz="1800" dirty="0" smtClean="0"/>
              <a:t>למבנה זה ניתן להוסיף התניות:</a:t>
            </a:r>
            <a:endParaRPr lang="en-US" sz="1800" dirty="0" smtClean="0"/>
          </a:p>
          <a:p>
            <a:pPr algn="l">
              <a:buFontTx/>
              <a:buNone/>
              <a:defRPr/>
            </a:pPr>
            <a:r>
              <a:rPr lang="en-US" sz="1600" b="1" dirty="0" smtClean="0"/>
              <a:t>WHERE</a:t>
            </a:r>
            <a:r>
              <a:rPr lang="en-US" sz="1600" dirty="0" smtClean="0"/>
              <a:t> &lt;condition&gt;</a:t>
            </a:r>
            <a:endParaRPr lang="he-IL" sz="1600" dirty="0" smtClean="0"/>
          </a:p>
          <a:p>
            <a:pPr algn="r" rtl="1">
              <a:buFontTx/>
              <a:buNone/>
              <a:defRPr/>
            </a:pPr>
            <a:endParaRPr lang="en-US" sz="1800" dirty="0" smtClean="0"/>
          </a:p>
          <a:p>
            <a:pPr algn="r" rtl="1">
              <a:buNone/>
              <a:defRPr/>
            </a:pPr>
            <a:endParaRPr lang="he-IL" sz="1800" dirty="0" smtClean="0"/>
          </a:p>
          <a:p>
            <a:pPr algn="r" rtl="1">
              <a:defRPr/>
            </a:pPr>
            <a:r>
              <a:rPr lang="en-US" sz="1800" dirty="0" smtClean="0"/>
              <a:t>filed(s) name</a:t>
            </a:r>
            <a:r>
              <a:rPr lang="he-IL" sz="1800" dirty="0" smtClean="0"/>
              <a:t> - העמודות אותן אנו רוצים להציג.</a:t>
            </a:r>
          </a:p>
          <a:p>
            <a:pPr algn="r" rtl="1">
              <a:defRPr/>
            </a:pPr>
            <a:r>
              <a:rPr lang="en-US" sz="1800" dirty="0" smtClean="0"/>
              <a:t>table name</a:t>
            </a:r>
            <a:r>
              <a:rPr lang="he-IL" sz="1800" dirty="0" smtClean="0"/>
              <a:t> - שם הטבלה ממנה אנו רוצים לשלוף מידע.</a:t>
            </a:r>
            <a:endParaRPr lang="en-US" sz="1800" dirty="0" smtClean="0"/>
          </a:p>
          <a:p>
            <a:pPr algn="r" rtl="1" eaLnBrk="1" hangingPunct="1">
              <a:buFontTx/>
              <a:buNone/>
              <a:defRPr/>
            </a:pPr>
            <a:endParaRPr lang="he-IL" b="1" dirty="0" smtClean="0"/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E5F4E-5430-4400-B9FC-2CD66AB85759}" type="slidenum">
              <a:rPr lang="he-IL" smtClean="0">
                <a:cs typeface="Times New Roman" pitchFamily="18" charset="0"/>
              </a:rPr>
              <a:pPr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בעזרת שאילתות </a:t>
            </a:r>
            <a:r>
              <a:rPr lang="en-US" sz="2800" dirty="0" smtClean="0">
                <a:cs typeface="+mj-cs"/>
              </a:rPr>
              <a:t>SELECT</a:t>
            </a:r>
            <a:r>
              <a:rPr lang="he-IL" sz="2800" dirty="0" smtClean="0">
                <a:cs typeface="+mj-cs"/>
              </a:rPr>
              <a:t> ניתן לבצע את </a:t>
            </a:r>
          </a:p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הדברים הבאים:</a:t>
            </a:r>
            <a:endParaRPr lang="en-US" sz="2800" dirty="0" smtClean="0">
              <a:cs typeface="+mj-cs"/>
            </a:endParaRPr>
          </a:p>
          <a:p>
            <a:pPr algn="r" rtl="1"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he-IL" sz="1800" dirty="0" smtClean="0"/>
              <a:t>בחירת כל הנתונים להצגה:</a:t>
            </a:r>
            <a:endParaRPr lang="en-US" sz="1400" dirty="0" smtClean="0"/>
          </a:p>
          <a:p>
            <a:pPr algn="r" rtl="1" eaLnBrk="1" hangingPunct="1">
              <a:buFontTx/>
              <a:buNone/>
              <a:defRPr/>
            </a:pPr>
            <a:endParaRPr lang="he-IL" b="1" dirty="0" smtClean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A094E4-DCE4-4370-9D34-F7344C911A85}" type="slidenum">
              <a:rPr lang="he-IL" smtClean="0">
                <a:cs typeface="Times New Roman" pitchFamily="18" charset="0"/>
              </a:rPr>
              <a:pPr>
                <a:defRPr/>
              </a:pPr>
              <a:t>8</a:t>
            </a:fld>
            <a:endParaRPr lang="en-US" smtClean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352800"/>
            <a:ext cx="4657725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257800" y="3124200"/>
            <a:ext cx="3603174" cy="461665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he-IL" sz="1400" dirty="0" smtClean="0"/>
              <a:t>   </a:t>
            </a:r>
            <a:endParaRPr lang="en-US" sz="1400" dirty="0" smtClean="0"/>
          </a:p>
          <a:p>
            <a:pPr algn="r" rtl="1"/>
            <a:r>
              <a:rPr lang="he-IL" sz="1800" dirty="0" smtClean="0"/>
              <a:t>בחירת עמודות מסוימות להצגה:</a:t>
            </a:r>
            <a:endParaRPr lang="en-US" sz="1800" dirty="0" smtClean="0"/>
          </a:p>
          <a:p>
            <a:pPr algn="r" rtl="1"/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/>
            <a:r>
              <a:rPr lang="he-IL" sz="1800" dirty="0" smtClean="0"/>
              <a:t>הצגת עמודות בשינוי הסדר:</a:t>
            </a:r>
            <a:endParaRPr lang="en-US" sz="1800" dirty="0" smtClean="0"/>
          </a:p>
          <a:p>
            <a:pPr algn="r" rtl="1" eaLnBrk="1" hangingPunct="1">
              <a:buFontTx/>
              <a:buNone/>
            </a:pPr>
            <a:endParaRPr lang="he-IL" b="1" dirty="0" smtClean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0CBA61-90E0-4C61-ADAE-CFEA16C775A6}" type="slidenum">
              <a:rPr lang="he-IL" smtClean="0">
                <a:cs typeface="Times New Roman" pitchFamily="18" charset="0"/>
              </a:rPr>
              <a:pPr>
                <a:defRPr/>
              </a:pPr>
              <a:t>9</a:t>
            </a:fld>
            <a:endParaRPr lang="en-US" smtClean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828800"/>
            <a:ext cx="2819400" cy="196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267200"/>
            <a:ext cx="2819400" cy="2013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105400" y="2362201"/>
            <a:ext cx="3657600" cy="1200329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empno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ename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05400" y="4419600"/>
            <a:ext cx="3657600" cy="1200329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ename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empno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876800"/>
          </a:xfrm>
        </p:spPr>
        <p:txBody>
          <a:bodyPr/>
          <a:lstStyle/>
          <a:p>
            <a:pPr algn="r" rtl="1">
              <a:defRPr/>
            </a:pPr>
            <a:r>
              <a:rPr lang="he-IL" sz="1800" dirty="0" smtClean="0"/>
              <a:t>ניתן להציג </a:t>
            </a:r>
            <a:r>
              <a:rPr lang="he-IL" sz="1800" b="1" dirty="0" smtClean="0"/>
              <a:t>תוצאות של חישוב</a:t>
            </a:r>
            <a:r>
              <a:rPr lang="he-IL" sz="1800" dirty="0" smtClean="0"/>
              <a:t> ע"י שימוש באופרטורים חשבוניים כמו: %, *, +, -, /</a:t>
            </a:r>
            <a:endParaRPr lang="en-US" sz="1800" dirty="0" smtClean="0"/>
          </a:p>
          <a:p>
            <a:pPr lvl="1" algn="r" rtl="1">
              <a:buFontTx/>
              <a:buNone/>
              <a:defRPr/>
            </a:pPr>
            <a:r>
              <a:rPr lang="he-IL" sz="1800" dirty="0" smtClean="0">
                <a:ea typeface="+mn-ea"/>
                <a:cs typeface="+mn-cs"/>
              </a:rPr>
              <a:t>- 	</a:t>
            </a:r>
            <a:r>
              <a:rPr lang="he-IL" sz="1600" dirty="0" smtClean="0">
                <a:ea typeface="+mn-ea"/>
                <a:cs typeface="+mn-cs"/>
              </a:rPr>
              <a:t>לדוגמא:</a:t>
            </a:r>
            <a:r>
              <a:rPr lang="en-US" sz="1600" dirty="0" smtClean="0">
                <a:ea typeface="+mn-ea"/>
                <a:cs typeface="+mn-cs"/>
              </a:rPr>
              <a:t>	</a:t>
            </a:r>
            <a:endParaRPr lang="he-IL" sz="1600" dirty="0" smtClean="0">
              <a:ea typeface="+mn-ea"/>
              <a:cs typeface="+mn-cs"/>
            </a:endParaRPr>
          </a:p>
          <a:p>
            <a:pPr lvl="1" algn="r" rtl="1">
              <a:buFontTx/>
              <a:buNone/>
              <a:defRPr/>
            </a:pPr>
            <a:r>
              <a:rPr lang="he-IL" sz="1600" dirty="0" smtClean="0">
                <a:ea typeface="+mn-ea"/>
                <a:cs typeface="+mn-cs"/>
              </a:rPr>
              <a:t>	השאילתה הבאה תציג את המשכורות פלוס 500.</a:t>
            </a:r>
            <a:endParaRPr lang="en-US" sz="1600" dirty="0" smtClean="0">
              <a:ea typeface="+mn-ea"/>
              <a:cs typeface="+mn-cs"/>
            </a:endParaRPr>
          </a:p>
          <a:p>
            <a:pPr algn="r" rtl="1">
              <a:defRPr/>
            </a:pPr>
            <a:endParaRPr lang="he-IL" sz="800" dirty="0" smtClean="0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591C86-A675-4333-8F7E-69234F456A83}" type="slidenum">
              <a:rPr lang="he-IL" smtClean="0">
                <a:cs typeface="Times New Roman" pitchFamily="18" charset="0"/>
              </a:rPr>
              <a:pPr>
                <a:defRPr/>
              </a:pPr>
              <a:t>10</a:t>
            </a:fld>
            <a:endParaRPr lang="en-US" smtClean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86200"/>
            <a:ext cx="35337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978916" y="2895600"/>
            <a:ext cx="3860284" cy="1200329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empno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sal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500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b="1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876800"/>
          </a:xfrm>
        </p:spPr>
        <p:txBody>
          <a:bodyPr/>
          <a:lstStyle/>
          <a:p>
            <a:pPr algn="r" rtl="1"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he-IL" sz="1800" dirty="0" smtClean="0"/>
              <a:t>ניתן להציג </a:t>
            </a:r>
            <a:r>
              <a:rPr lang="he-IL" sz="1800" b="1" dirty="0" smtClean="0"/>
              <a:t>עמודה יחודית (ללא חזרות) </a:t>
            </a:r>
            <a:r>
              <a:rPr lang="he-IL" sz="1800" dirty="0" smtClean="0"/>
              <a:t>ע"י שימוש בפקודה</a:t>
            </a:r>
            <a:r>
              <a:rPr lang="en-US" sz="1800" dirty="0" smtClean="0"/>
              <a:t>DISTINCT </a:t>
            </a:r>
          </a:p>
          <a:p>
            <a:pPr lvl="1" algn="r" rtl="1">
              <a:buFontTx/>
              <a:buNone/>
              <a:defRPr/>
            </a:pPr>
            <a:r>
              <a:rPr lang="he-IL" sz="1600" dirty="0" smtClean="0">
                <a:cs typeface="+mn-cs"/>
              </a:rPr>
              <a:t>-  	לדוגמא:</a:t>
            </a:r>
            <a:r>
              <a:rPr lang="en-US" sz="1600" dirty="0" smtClean="0">
                <a:cs typeface="+mn-cs"/>
              </a:rPr>
              <a:t>	</a:t>
            </a:r>
            <a:endParaRPr lang="he-IL" sz="1600" dirty="0" smtClean="0">
              <a:cs typeface="+mn-cs"/>
            </a:endParaRPr>
          </a:p>
          <a:p>
            <a:pPr lvl="1" algn="r" rtl="1">
              <a:buFontTx/>
              <a:buNone/>
              <a:defRPr/>
            </a:pPr>
            <a:r>
              <a:rPr lang="he-IL" sz="1600" dirty="0" smtClean="0">
                <a:cs typeface="+mn-cs"/>
              </a:rPr>
              <a:t>	השאילתה הבאה תציג את המשרות שיש ללא חזרה על אותה עבודה.</a:t>
            </a:r>
            <a:endParaRPr lang="en-US" sz="1600" dirty="0" smtClean="0">
              <a:cs typeface="+mn-cs"/>
            </a:endParaRPr>
          </a:p>
          <a:p>
            <a:pPr algn="r" rtl="1" eaLnBrk="1" hangingPunct="1">
              <a:buFontTx/>
              <a:buNone/>
              <a:defRPr/>
            </a:pPr>
            <a:endParaRPr lang="en-US" sz="1800" b="1" dirty="0" smtClean="0"/>
          </a:p>
          <a:p>
            <a:pPr algn="r" rtl="1" eaLnBrk="1" hangingPunct="1">
              <a:buFontTx/>
              <a:buNone/>
              <a:defRPr/>
            </a:pPr>
            <a:endParaRPr lang="en-US" sz="1800" b="1" dirty="0" smtClean="0"/>
          </a:p>
          <a:p>
            <a:pPr algn="r" rtl="1" eaLnBrk="1" hangingPunct="1">
              <a:buFontTx/>
              <a:buNone/>
              <a:defRPr/>
            </a:pPr>
            <a:endParaRPr lang="en-US" sz="1800" b="1" dirty="0" smtClean="0"/>
          </a:p>
          <a:p>
            <a:pPr algn="r" rtl="1" eaLnBrk="1" hangingPunct="1">
              <a:buFontTx/>
              <a:buNone/>
              <a:defRPr/>
            </a:pPr>
            <a:r>
              <a:rPr lang="he-IL" sz="1800" b="1" dirty="0" smtClean="0"/>
              <a:t>	      </a:t>
            </a:r>
            <a:r>
              <a:rPr lang="he-IL" sz="1600" b="1" dirty="0" smtClean="0"/>
              <a:t>*  </a:t>
            </a:r>
            <a:r>
              <a:rPr lang="he-IL" sz="1600" dirty="0" smtClean="0">
                <a:ea typeface="Times New Roman (Hebrew)" charset="0"/>
              </a:rPr>
              <a:t>במידה וישנם מקצועות החוזרים על עצמם הם יופיעו רק פעם אחת בטבלת 	התוצאות.</a:t>
            </a:r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B21705-B076-456A-B425-917B7391B9CC}" type="slidenum">
              <a:rPr lang="he-IL" smtClean="0">
                <a:cs typeface="Times New Roman" pitchFamily="18" charset="0"/>
              </a:rPr>
              <a:pPr>
                <a:defRPr/>
              </a:pPr>
              <a:t>11</a:t>
            </a:fld>
            <a:endParaRPr lang="en-US" smtClean="0"/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4572000"/>
            <a:ext cx="74295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0537" y="3962400"/>
            <a:ext cx="3852863" cy="261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37084" y="2826603"/>
            <a:ext cx="2696251" cy="646331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DISTINCT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job </a:t>
            </a:r>
          </a:p>
          <a:p>
            <a:r>
              <a:rPr lang="en-US" sz="18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/>
            <a:r>
              <a:rPr lang="he-IL" sz="1800" dirty="0" smtClean="0"/>
              <a:t>ניתן לתת כינוי חדש לעמודה:</a:t>
            </a:r>
          </a:p>
          <a:p>
            <a:pPr algn="r" rtl="1"/>
            <a:endParaRPr lang="he-IL" sz="1800" dirty="0"/>
          </a:p>
          <a:p>
            <a:pPr algn="r" rtl="1"/>
            <a:endParaRPr lang="he-IL" sz="1800" dirty="0" smtClean="0"/>
          </a:p>
          <a:p>
            <a:pPr algn="r" rtl="1"/>
            <a:endParaRPr lang="he-IL" sz="1800" dirty="0"/>
          </a:p>
          <a:p>
            <a:pPr algn="r" rtl="1"/>
            <a:endParaRPr lang="he-IL" sz="1800" dirty="0" smtClean="0"/>
          </a:p>
          <a:p>
            <a:pPr algn="r" rtl="1"/>
            <a:r>
              <a:rPr lang="he-IL" sz="1800" dirty="0" smtClean="0"/>
              <a:t>או בצורה הבאה: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6C506C-0614-4025-B7C4-96B4F4CB14DD}" type="slidenum">
              <a:rPr lang="he-IL" smtClean="0">
                <a:cs typeface="Times New Roman" pitchFamily="18" charset="0"/>
              </a:rPr>
              <a:pPr>
                <a:defRPr/>
              </a:pPr>
              <a:t>12</a:t>
            </a:fld>
            <a:endParaRPr lang="en-US" smtClean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886200"/>
            <a:ext cx="35433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848994" y="2133600"/>
            <a:ext cx="3761606" cy="646331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empno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sal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500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newPrice</a:t>
            </a:r>
            <a:endParaRPr lang="en-US" sz="18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	FROM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662300" y="3504406"/>
            <a:ext cx="4024500" cy="646331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empno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sal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500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as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newPrice</a:t>
            </a:r>
            <a:endParaRPr lang="en-US" sz="18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	FROM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Selecting Data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defRPr/>
            </a:pPr>
            <a:r>
              <a:rPr lang="he-IL" sz="1800" dirty="0" smtClean="0"/>
              <a:t>ניתן להשתמש בפונקציות צבירה: (</a:t>
            </a:r>
            <a:r>
              <a:rPr lang="en-US" sz="1800" dirty="0" smtClean="0"/>
              <a:t>count, sum, </a:t>
            </a:r>
            <a:r>
              <a:rPr lang="en-US" sz="1800" dirty="0" err="1" smtClean="0"/>
              <a:t>avg</a:t>
            </a:r>
            <a:r>
              <a:rPr lang="en-US" sz="1800" dirty="0" smtClean="0"/>
              <a:t>, max, min</a:t>
            </a:r>
            <a:r>
              <a:rPr lang="he-IL" sz="1800" dirty="0" smtClean="0"/>
              <a:t>)</a:t>
            </a:r>
          </a:p>
          <a:p>
            <a:pPr lvl="1" algn="r" rtl="1">
              <a:buFontTx/>
              <a:buNone/>
              <a:defRPr/>
            </a:pPr>
            <a:r>
              <a:rPr lang="he-IL" sz="1600" dirty="0" smtClean="0">
                <a:ea typeface="+mn-ea"/>
                <a:cs typeface="+mn-cs"/>
              </a:rPr>
              <a:t>-	לדוגמא:</a:t>
            </a:r>
            <a:r>
              <a:rPr lang="en-US" sz="1600" dirty="0" smtClean="0">
                <a:ea typeface="+mn-ea"/>
                <a:cs typeface="+mn-cs"/>
              </a:rPr>
              <a:t>	</a:t>
            </a:r>
            <a:endParaRPr lang="he-IL" sz="1600" dirty="0" smtClean="0">
              <a:ea typeface="+mn-ea"/>
              <a:cs typeface="+mn-cs"/>
            </a:endParaRPr>
          </a:p>
          <a:p>
            <a:pPr lvl="1" algn="r" rtl="1">
              <a:buFontTx/>
              <a:buNone/>
              <a:defRPr/>
            </a:pPr>
            <a:r>
              <a:rPr lang="he-IL" sz="1600" dirty="0" smtClean="0">
                <a:ea typeface="+mn-ea"/>
                <a:cs typeface="+mn-cs"/>
              </a:rPr>
              <a:t>	השאילתה הבאה תציג את מספר השמות שמופיעים בטבלה </a:t>
            </a:r>
            <a:r>
              <a:rPr lang="en-US" sz="1600" dirty="0" err="1" smtClean="0">
                <a:ea typeface="+mn-ea"/>
                <a:cs typeface="+mn-cs"/>
              </a:rPr>
              <a:t>emp</a:t>
            </a:r>
            <a:r>
              <a:rPr lang="he-IL" sz="1600" dirty="0" smtClean="0">
                <a:ea typeface="+mn-ea"/>
                <a:cs typeface="+mn-cs"/>
              </a:rPr>
              <a:t>.</a:t>
            </a:r>
            <a:endParaRPr lang="en-US" sz="1600" dirty="0" smtClean="0">
              <a:ea typeface="+mn-ea"/>
              <a:cs typeface="+mn-cs"/>
            </a:endParaRPr>
          </a:p>
          <a:p>
            <a:pPr algn="r" rtl="1" eaLnBrk="1" hangingPunct="1">
              <a:buFontTx/>
              <a:buNone/>
              <a:defRPr/>
            </a:pPr>
            <a:endParaRPr lang="en-US" sz="1600" dirty="0" smtClean="0"/>
          </a:p>
          <a:p>
            <a:pPr algn="r" rtl="1" eaLnBrk="1" hangingPunct="1">
              <a:buFontTx/>
              <a:buNone/>
              <a:defRPr/>
            </a:pPr>
            <a:endParaRPr lang="en-US" sz="1600" dirty="0" smtClean="0"/>
          </a:p>
          <a:p>
            <a:pPr algn="r" rtl="1" eaLnBrk="1" hangingPunct="1">
              <a:buFontTx/>
              <a:buNone/>
              <a:defRPr/>
            </a:pPr>
            <a:endParaRPr lang="en-US" sz="1600" dirty="0" smtClean="0"/>
          </a:p>
          <a:p>
            <a:pPr algn="r" rtl="1" eaLnBrk="1" hangingPunct="1">
              <a:buFontTx/>
              <a:buNone/>
              <a:defRPr/>
            </a:pPr>
            <a:r>
              <a:rPr lang="he-IL" sz="1600" dirty="0" smtClean="0"/>
              <a:t>	       </a:t>
            </a:r>
            <a:endParaRPr lang="en-US" sz="1600" dirty="0" smtClean="0"/>
          </a:p>
          <a:p>
            <a:pPr algn="r" rtl="1" eaLnBrk="1" hangingPunct="1">
              <a:buFontTx/>
              <a:buNone/>
              <a:defRPr/>
            </a:pPr>
            <a:r>
              <a:rPr lang="he-IL" sz="1600" dirty="0" smtClean="0"/>
              <a:t> *  בטבלת התוצאות יופיע רק נתון אחד (מספר השמות ).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60D7DF-A2B7-4B7C-BC9B-701A50BB3210}" type="slidenum">
              <a:rPr lang="he-IL" smtClean="0">
                <a:cs typeface="Times New Roman" pitchFamily="18" charset="0"/>
              </a:rPr>
              <a:pPr>
                <a:defRPr/>
              </a:pPr>
              <a:t>13</a:t>
            </a:fld>
            <a:endParaRPr lang="en-US" smtClean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4495800"/>
            <a:ext cx="11144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125" y="3962400"/>
            <a:ext cx="392747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699329" y="2667000"/>
            <a:ext cx="2835071" cy="646331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COUNT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ename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pPr algn="l" rtl="0"/>
            <a:r>
              <a:rPr lang="en-US" sz="18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SQL: WHERE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C6208-BF84-448F-B5EC-A90AC442D337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 smtClean="0"/>
              <a:t>התניות - </a:t>
            </a:r>
            <a:r>
              <a:rPr lang="en-US" b="1" dirty="0" smtClean="0"/>
              <a:t>WHERE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>
            <a:normAutofit/>
          </a:bodyPr>
          <a:lstStyle/>
          <a:p>
            <a:pPr algn="r" rtl="1">
              <a:defRPr/>
            </a:pPr>
            <a:r>
              <a:rPr lang="he-IL" sz="2800" dirty="0" smtClean="0">
                <a:cs typeface="+mj-cs"/>
              </a:rPr>
              <a:t>על מנת לסנן את התוצאות לפי דרישה מסויימת אנו נשתמש בפקודת התניה </a:t>
            </a:r>
            <a:r>
              <a:rPr lang="en-US" sz="2800" dirty="0" smtClean="0">
                <a:cs typeface="+mj-cs"/>
              </a:rPr>
              <a:t>WHERE</a:t>
            </a:r>
            <a:r>
              <a:rPr lang="he-IL" sz="2800" dirty="0" smtClean="0">
                <a:cs typeface="+mj-cs"/>
              </a:rPr>
              <a:t>.</a:t>
            </a:r>
          </a:p>
          <a:p>
            <a:pPr algn="r" rtl="1">
              <a:defRPr/>
            </a:pPr>
            <a:r>
              <a:rPr lang="he-IL" sz="2800" dirty="0" smtClean="0">
                <a:cs typeface="+mj-cs"/>
              </a:rPr>
              <a:t>ישנם כמה דרכים להשתמש בהתניות על ידי שימוש באופרטורים שונים:</a:t>
            </a:r>
          </a:p>
          <a:p>
            <a:pPr algn="r" rtl="1">
              <a:defRPr/>
            </a:pPr>
            <a:endParaRPr lang="he-IL" sz="1800" dirty="0" smtClean="0"/>
          </a:p>
          <a:p>
            <a:pPr marL="452120" indent="-342900" algn="r" rtl="1">
              <a:defRPr/>
            </a:pPr>
            <a:r>
              <a:rPr lang="he-IL" sz="2800" dirty="0" smtClean="0">
                <a:ea typeface="+mn-ea"/>
                <a:cs typeface="+mn-cs"/>
              </a:rPr>
              <a:t>אופרטור השוואה:</a:t>
            </a:r>
          </a:p>
          <a:p>
            <a:pPr marL="669290" indent="-342900" algn="r" rtl="1">
              <a:buNone/>
              <a:defRPr/>
            </a:pPr>
            <a:endParaRPr lang="en-US" sz="2800" dirty="0" smtClean="0">
              <a:ea typeface="+mn-ea"/>
              <a:cs typeface="+mn-cs"/>
            </a:endParaRPr>
          </a:p>
          <a:p>
            <a:pPr algn="r" rtl="1">
              <a:defRPr/>
            </a:pPr>
            <a:endParaRPr lang="en-US" sz="2800" dirty="0" smtClean="0"/>
          </a:p>
          <a:p>
            <a:pPr algn="r" rtl="1">
              <a:defRPr/>
            </a:pPr>
            <a:endParaRPr lang="en-US" sz="2800" dirty="0" smtClean="0"/>
          </a:p>
          <a:p>
            <a:pPr algn="r" rtl="1">
              <a:defRPr/>
            </a:pPr>
            <a:endParaRPr lang="he-IL" sz="400" dirty="0" smtClean="0"/>
          </a:p>
          <a:p>
            <a:pPr algn="r" rtl="1">
              <a:defRPr/>
            </a:pPr>
            <a:endParaRPr lang="he-IL" sz="1800" dirty="0" smtClean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775AE-E040-4F82-94E4-B336E6488EAB}" type="slidenum">
              <a:rPr lang="he-IL" smtClean="0">
                <a:cs typeface="Times New Roman" pitchFamily="18" charset="0"/>
              </a:rPr>
              <a:pPr>
                <a:defRPr/>
              </a:pPr>
              <a:t>15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990600" y="4343400"/>
            <a:ext cx="5034392" cy="923330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'KING'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OR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sal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1500</a:t>
            </a:r>
            <a:endParaRPr lang="en-US" sz="18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sal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1500</a:t>
            </a:r>
            <a:endParaRPr lang="en-US" sz="18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OrderData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'01-FEB-87’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 smtClean="0"/>
              <a:t>התניות - </a:t>
            </a:r>
            <a:r>
              <a:rPr lang="en-US" b="1" dirty="0" smtClean="0"/>
              <a:t>WHERE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724400"/>
          </a:xfrm>
        </p:spPr>
        <p:txBody>
          <a:bodyPr>
            <a:noAutofit/>
          </a:bodyPr>
          <a:lstStyle/>
          <a:p>
            <a:pPr marL="452120" indent="-342900" algn="r" rtl="1">
              <a:defRPr/>
            </a:pPr>
            <a:r>
              <a:rPr lang="he-IL" sz="2800" dirty="0" smtClean="0">
                <a:ea typeface="+mn-ea"/>
                <a:cs typeface="+mn-cs"/>
              </a:rPr>
              <a:t>אופרטור תווי (</a:t>
            </a:r>
            <a:r>
              <a:rPr lang="en-US" sz="2800" dirty="0" smtClean="0">
                <a:ea typeface="+mn-ea"/>
                <a:cs typeface="+mn-cs"/>
              </a:rPr>
              <a:t>LIKE</a:t>
            </a:r>
            <a:r>
              <a:rPr lang="he-IL" sz="2800" dirty="0" smtClean="0">
                <a:ea typeface="+mn-ea"/>
                <a:cs typeface="+mn-cs"/>
              </a:rPr>
              <a:t>):</a:t>
            </a:r>
            <a:endParaRPr lang="he-IL" sz="700" dirty="0" smtClean="0">
              <a:ea typeface="+mn-ea"/>
              <a:cs typeface="+mn-cs"/>
            </a:endParaRPr>
          </a:p>
          <a:p>
            <a:pPr lvl="2" algn="r" rtl="1">
              <a:defRPr/>
            </a:pPr>
            <a:endParaRPr lang="he-IL" sz="2000" dirty="0" smtClean="0">
              <a:ea typeface="+mn-ea"/>
              <a:cs typeface="+mn-cs"/>
            </a:endParaRPr>
          </a:p>
          <a:p>
            <a:pPr lvl="2" algn="r" rtl="1">
              <a:defRPr/>
            </a:pPr>
            <a:r>
              <a:rPr lang="he-IL" sz="2000" dirty="0" smtClean="0">
                <a:ea typeface="+mn-ea"/>
                <a:cs typeface="+mn-cs"/>
              </a:rPr>
              <a:t>יכול לתת תחליף לש</a:t>
            </a:r>
            <a:r>
              <a:rPr lang="he-IL" sz="2000" dirty="0" smtClean="0"/>
              <a:t>ו</a:t>
            </a:r>
            <a:r>
              <a:rPr lang="he-IL" sz="2000" dirty="0" smtClean="0">
                <a:ea typeface="+mn-ea"/>
                <a:cs typeface="+mn-cs"/>
              </a:rPr>
              <a:t>ויון</a:t>
            </a:r>
          </a:p>
          <a:p>
            <a:pPr lvl="2" algn="r" rtl="1">
              <a:defRPr/>
            </a:pPr>
            <a:endParaRPr lang="he-IL" sz="900" dirty="0" smtClean="0">
              <a:ea typeface="+mn-ea"/>
              <a:cs typeface="+mn-cs"/>
            </a:endParaRPr>
          </a:p>
          <a:p>
            <a:pPr lvl="2" algn="r" rtl="1">
              <a:defRPr/>
            </a:pPr>
            <a:endParaRPr lang="he-IL" sz="900" dirty="0" smtClean="0">
              <a:ea typeface="+mn-ea"/>
              <a:cs typeface="+mn-cs"/>
            </a:endParaRPr>
          </a:p>
          <a:p>
            <a:pPr lvl="2" algn="r" rtl="1">
              <a:defRPr/>
            </a:pPr>
            <a:endParaRPr lang="he-IL" sz="2000" dirty="0" smtClean="0"/>
          </a:p>
          <a:p>
            <a:pPr lvl="2" algn="r" rtl="1">
              <a:defRPr/>
            </a:pPr>
            <a:r>
              <a:rPr lang="he-IL" sz="2000" dirty="0" smtClean="0"/>
              <a:t>בצירוף % (לאחר צירוף תווים), נותן השוואה חלקית. </a:t>
            </a:r>
            <a:endParaRPr lang="en-US" sz="2000" dirty="0" smtClean="0"/>
          </a:p>
          <a:p>
            <a:pPr lvl="2" algn="r" rtl="1">
              <a:defRPr/>
            </a:pPr>
            <a:endParaRPr lang="he-IL" sz="1600" dirty="0" smtClean="0"/>
          </a:p>
          <a:p>
            <a:pPr algn="r" rtl="1">
              <a:buNone/>
              <a:defRPr/>
            </a:pPr>
            <a:endParaRPr lang="he-IL" sz="1600" dirty="0" smtClean="0"/>
          </a:p>
          <a:p>
            <a:pPr algn="r" rtl="1">
              <a:buNone/>
              <a:defRPr/>
            </a:pPr>
            <a:r>
              <a:rPr lang="he-IL" sz="1600" dirty="0" smtClean="0"/>
              <a:t>* מחזיר את כל המילים המתחילות באות </a:t>
            </a:r>
            <a:r>
              <a:rPr lang="en-US" sz="1600" dirty="0" smtClean="0"/>
              <a:t>K</a:t>
            </a:r>
            <a:r>
              <a:rPr lang="he-IL" sz="1600" dirty="0" smtClean="0"/>
              <a:t>.</a:t>
            </a:r>
            <a:r>
              <a:rPr lang="en-US" sz="1600" dirty="0" smtClean="0"/>
              <a:t>   </a:t>
            </a:r>
            <a:endParaRPr lang="he-IL" sz="1600" dirty="0" smtClean="0"/>
          </a:p>
          <a:p>
            <a:pPr algn="r" rtl="1">
              <a:defRPr/>
            </a:pPr>
            <a:endParaRPr lang="en-US" sz="900" dirty="0" smtClean="0"/>
          </a:p>
          <a:p>
            <a:pPr lvl="2" algn="r" rtl="1">
              <a:defRPr/>
            </a:pPr>
            <a:endParaRPr lang="he-IL" sz="2000" dirty="0" smtClean="0"/>
          </a:p>
          <a:p>
            <a:pPr lvl="2" algn="r" rtl="1">
              <a:defRPr/>
            </a:pPr>
            <a:r>
              <a:rPr lang="he-IL" sz="2000" dirty="0" smtClean="0"/>
              <a:t>בצירוף % (לפני ואחרי צירוף תווים), נותן השוואה חלקית.</a:t>
            </a:r>
          </a:p>
          <a:p>
            <a:pPr algn="r" rtl="1">
              <a:defRPr/>
            </a:pPr>
            <a:endParaRPr lang="he-IL" sz="1800" dirty="0" smtClean="0"/>
          </a:p>
          <a:p>
            <a:pPr algn="r" rtl="1">
              <a:defRPr/>
            </a:pPr>
            <a:endParaRPr lang="he-IL" sz="1800" dirty="0" smtClean="0"/>
          </a:p>
          <a:p>
            <a:pPr algn="r" rtl="1">
              <a:buNone/>
              <a:defRPr/>
            </a:pPr>
            <a:r>
              <a:rPr lang="he-IL" sz="1600" dirty="0" smtClean="0"/>
              <a:t>* מחזיר את כל המילים המכילות את בצירוף </a:t>
            </a:r>
            <a:r>
              <a:rPr lang="en-US" sz="1600" dirty="0" smtClean="0"/>
              <a:t>IN</a:t>
            </a:r>
            <a:r>
              <a:rPr lang="he-IL" sz="1600" dirty="0" smtClean="0"/>
              <a:t>.</a:t>
            </a:r>
            <a:r>
              <a:rPr lang="en-US" sz="1600" dirty="0" smtClean="0"/>
              <a:t> </a:t>
            </a:r>
            <a:endParaRPr lang="he-IL" sz="1600" dirty="0" smtClean="0"/>
          </a:p>
          <a:p>
            <a:pPr algn="r" rtl="1">
              <a:defRPr/>
            </a:pPr>
            <a:endParaRPr lang="he-IL" sz="1600" dirty="0" smtClean="0"/>
          </a:p>
          <a:p>
            <a:pPr algn="r" rtl="1">
              <a:defRPr/>
            </a:pPr>
            <a:endParaRPr lang="he-IL" sz="1600" dirty="0" smtClean="0"/>
          </a:p>
          <a:p>
            <a:pPr algn="r" rtl="1">
              <a:defRPr/>
            </a:pPr>
            <a:endParaRPr lang="he-IL" sz="2000" dirty="0" smtClean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DAA6E8-BE23-40A2-9A17-8137586531FA}" type="slidenum">
              <a:rPr lang="he-IL" smtClean="0">
                <a:cs typeface="Times New Roman" pitchFamily="18" charset="0"/>
              </a:rPr>
              <a:pPr>
                <a:defRPr/>
              </a:pPr>
              <a:t>16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4741804" y="3014246"/>
            <a:ext cx="2779927" cy="338554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LIKE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'KING'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4004846"/>
            <a:ext cx="2819400" cy="338554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LIKE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'K%'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750304" y="5681246"/>
            <a:ext cx="2869696" cy="338554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LIKE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'%IN%'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 smtClean="0"/>
              <a:t>התניות - </a:t>
            </a:r>
            <a:r>
              <a:rPr lang="en-US" b="1" dirty="0" smtClean="0"/>
              <a:t>WHERE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724400"/>
          </a:xfrm>
        </p:spPr>
        <p:txBody>
          <a:bodyPr>
            <a:noAutofit/>
          </a:bodyPr>
          <a:lstStyle/>
          <a:p>
            <a:pPr algn="r" rtl="1">
              <a:defRPr/>
            </a:pPr>
            <a:r>
              <a:rPr lang="he-IL" sz="2400" dirty="0" smtClean="0"/>
              <a:t>בצירוף קו תחתון </a:t>
            </a:r>
            <a:r>
              <a:rPr lang="en-US" sz="2400" dirty="0" smtClean="0"/>
              <a:t>‘_’</a:t>
            </a:r>
            <a:r>
              <a:rPr lang="he-IL" sz="2400" dirty="0" smtClean="0"/>
              <a:t>, כאשר כל קו מייצג תו בודד להשוואה, נותן סינון לגודל המילה.</a:t>
            </a:r>
          </a:p>
          <a:p>
            <a:pPr algn="r" rtl="1">
              <a:defRPr/>
            </a:pPr>
            <a:endParaRPr lang="he-IL" sz="2400" dirty="0" smtClean="0"/>
          </a:p>
          <a:p>
            <a:pPr algn="r" rtl="1">
              <a:defRPr/>
            </a:pPr>
            <a:endParaRPr lang="he-IL" sz="2400" dirty="0" smtClean="0"/>
          </a:p>
          <a:p>
            <a:pPr algn="r" rtl="1">
              <a:defRPr/>
            </a:pPr>
            <a:endParaRPr lang="en-US" sz="2400" dirty="0" smtClean="0"/>
          </a:p>
          <a:p>
            <a:pPr algn="r" rtl="1">
              <a:buNone/>
              <a:defRPr/>
            </a:pPr>
            <a:r>
              <a:rPr lang="he-IL" sz="1800" dirty="0" smtClean="0"/>
              <a:t>* יתן את כל המילים באורך 4 תוים.</a:t>
            </a:r>
          </a:p>
          <a:p>
            <a:pPr algn="r" rtl="1">
              <a:defRPr/>
            </a:pPr>
            <a:endParaRPr lang="he-IL" sz="1600" dirty="0" smtClean="0"/>
          </a:p>
          <a:p>
            <a:pPr algn="r" rtl="1">
              <a:defRPr/>
            </a:pPr>
            <a:endParaRPr lang="he-IL" sz="2000" dirty="0" smtClean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DAA6E8-BE23-40A2-9A17-8137586531FA}" type="slidenum">
              <a:rPr lang="he-IL" smtClean="0">
                <a:cs typeface="Times New Roman" pitchFamily="18" charset="0"/>
              </a:rPr>
              <a:pPr>
                <a:defRPr/>
              </a:pPr>
              <a:t>17</a:t>
            </a:fld>
            <a:endParaRPr lang="en-US" smtClean="0"/>
          </a:p>
        </p:txBody>
      </p:sp>
      <p:sp>
        <p:nvSpPr>
          <p:cNvPr id="10" name="Rectangle 9"/>
          <p:cNvSpPr/>
          <p:nvPr/>
        </p:nvSpPr>
        <p:spPr>
          <a:xfrm>
            <a:off x="5105400" y="2667000"/>
            <a:ext cx="3124200" cy="369332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algn="l" rtl="0"/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8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LIKE</a:t>
            </a:r>
            <a:r>
              <a:rPr lang="en-US" sz="18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'_ _ _ _’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 smtClean="0"/>
              <a:t>התניות - </a:t>
            </a:r>
            <a:r>
              <a:rPr lang="en-US" b="1" dirty="0" smtClean="0"/>
              <a:t>WHERE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marL="800100" lvl="1" indent="-342900" algn="r" rtl="1">
              <a:buFontTx/>
              <a:buNone/>
              <a:defRPr/>
            </a:pPr>
            <a:r>
              <a:rPr lang="he-IL" sz="1800" dirty="0" smtClean="0">
                <a:ea typeface="+mn-ea"/>
                <a:cs typeface="+mn-cs"/>
              </a:rPr>
              <a:t>1.  אופרטורים לוגיים </a:t>
            </a:r>
            <a:r>
              <a:rPr lang="he-IL" sz="1800" dirty="0" smtClean="0"/>
              <a:t>(</a:t>
            </a:r>
            <a:r>
              <a:rPr lang="en-US" sz="1800" dirty="0" smtClean="0"/>
              <a:t>(AND, OR, NOT</a:t>
            </a:r>
            <a:r>
              <a:rPr lang="he-IL" sz="1800" dirty="0" smtClean="0">
                <a:ea typeface="+mn-ea"/>
                <a:cs typeface="+mn-cs"/>
              </a:rPr>
              <a:t>:</a:t>
            </a:r>
            <a:endParaRPr lang="en-US" sz="1800" dirty="0" smtClean="0">
              <a:ea typeface="+mn-ea"/>
              <a:cs typeface="+mn-cs"/>
            </a:endParaRPr>
          </a:p>
          <a:p>
            <a:pPr algn="r" rtl="1">
              <a:buFontTx/>
              <a:buNone/>
              <a:defRPr/>
            </a:pPr>
            <a:endParaRPr lang="en-US" sz="1400" dirty="0" smtClean="0"/>
          </a:p>
          <a:p>
            <a:pPr algn="r" rtl="1">
              <a:buFontTx/>
              <a:buNone/>
              <a:defRPr/>
            </a:pPr>
            <a:endParaRPr lang="he-IL" sz="1400" dirty="0" smtClean="0"/>
          </a:p>
          <a:p>
            <a:pPr marL="800100" lvl="1" indent="-342900" algn="r" rtl="1">
              <a:buFontTx/>
              <a:buNone/>
              <a:defRPr/>
            </a:pPr>
            <a:endParaRPr lang="he-IL" sz="1800" dirty="0" smtClean="0"/>
          </a:p>
          <a:p>
            <a:pPr marL="800100" lvl="1" indent="-342900" algn="r" rtl="1">
              <a:buFontTx/>
              <a:buNone/>
              <a:defRPr/>
            </a:pPr>
            <a:r>
              <a:rPr lang="he-IL" sz="1800" dirty="0" smtClean="0"/>
              <a:t>2.  אופרטור (</a:t>
            </a:r>
            <a:r>
              <a:rPr lang="en-US" sz="1800" dirty="0" smtClean="0"/>
              <a:t>BETWEEN, NOT BETWEEN</a:t>
            </a:r>
            <a:r>
              <a:rPr lang="he-IL" sz="1800" dirty="0" smtClean="0"/>
              <a:t>):</a:t>
            </a:r>
          </a:p>
          <a:p>
            <a:pPr lvl="2" algn="r" rtl="1">
              <a:defRPr/>
            </a:pPr>
            <a:r>
              <a:rPr lang="he-IL" sz="1800" dirty="0" smtClean="0"/>
              <a:t>מציאת רשומות בטווח של ערכים (כולל קצוות!).</a:t>
            </a:r>
            <a:endParaRPr lang="en-US" sz="1400" dirty="0" smtClean="0"/>
          </a:p>
          <a:p>
            <a:pPr algn="r" rtl="1">
              <a:buFontTx/>
              <a:buNone/>
              <a:defRPr/>
            </a:pPr>
            <a:r>
              <a:rPr lang="he-IL" sz="1400" dirty="0" smtClean="0"/>
              <a:t>	</a:t>
            </a:r>
            <a:r>
              <a:rPr lang="en-US" sz="1400" dirty="0" smtClean="0"/>
              <a:t>   	</a:t>
            </a:r>
            <a:endParaRPr lang="he-IL" sz="1400" dirty="0" smtClean="0"/>
          </a:p>
          <a:p>
            <a:pPr algn="r" rtl="1">
              <a:buFontTx/>
              <a:buNone/>
              <a:defRPr/>
            </a:pPr>
            <a:endParaRPr lang="he-IL" sz="1400" dirty="0" smtClean="0"/>
          </a:p>
          <a:p>
            <a:pPr algn="r" rtl="1">
              <a:buFontTx/>
              <a:buNone/>
              <a:defRPr/>
            </a:pPr>
            <a:endParaRPr lang="en-US" sz="1400" dirty="0" smtClean="0"/>
          </a:p>
          <a:p>
            <a:pPr algn="r" rtl="1">
              <a:buFontTx/>
              <a:buNone/>
              <a:defRPr/>
            </a:pPr>
            <a:endParaRPr lang="he-IL" sz="1400" dirty="0" smtClean="0"/>
          </a:p>
          <a:p>
            <a:pPr algn="r" rtl="1">
              <a:buFontTx/>
              <a:buNone/>
              <a:defRPr/>
            </a:pPr>
            <a:endParaRPr lang="he-IL" sz="1400" dirty="0" smtClean="0"/>
          </a:p>
          <a:p>
            <a:pPr algn="r" rtl="1">
              <a:defRPr/>
            </a:pPr>
            <a:endParaRPr lang="he-IL" sz="1800" dirty="0" smtClean="0"/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3B4-9E61-49D5-8414-230976083134}" type="slidenum">
              <a:rPr lang="he-IL" smtClean="0">
                <a:cs typeface="Times New Roman" pitchFamily="18" charset="0"/>
              </a:rPr>
              <a:pPr>
                <a:defRPr/>
              </a:pPr>
              <a:t>18</a:t>
            </a:fld>
            <a:endParaRPr lang="en-US" smtClean="0"/>
          </a:p>
        </p:txBody>
      </p:sp>
      <p:sp>
        <p:nvSpPr>
          <p:cNvPr id="5" name="Rectangle 4"/>
          <p:cNvSpPr/>
          <p:nvPr/>
        </p:nvSpPr>
        <p:spPr>
          <a:xfrm>
            <a:off x="4572000" y="2176046"/>
            <a:ext cx="3505200" cy="33855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sal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1500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AND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deptno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733800" y="3505200"/>
            <a:ext cx="4368504" cy="369332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alibri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CustomerID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alibri"/>
              </a:rPr>
              <a:t>BETWEEN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 </a:t>
            </a:r>
            <a:r>
              <a:rPr lang="en-US" sz="1800" b="1" dirty="0">
                <a:solidFill>
                  <a:srgbClr val="FF8000"/>
                </a:solidFill>
                <a:highlight>
                  <a:srgbClr val="FFFFFF"/>
                </a:highlight>
                <a:latin typeface="Calibri"/>
              </a:rPr>
              <a:t>100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alibri"/>
              </a:rPr>
              <a:t>AND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 </a:t>
            </a:r>
            <a:r>
              <a:rPr lang="en-US" sz="18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alibri"/>
              </a:rPr>
              <a:t>120</a:t>
            </a:r>
            <a:endParaRPr lang="he-IL" sz="1000" b="1" dirty="0">
              <a:solidFill>
                <a:srgbClr val="FFFFFF"/>
              </a:solidFill>
              <a:highlight>
                <a:srgbClr val="FFFFFF"/>
              </a:highlight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 smtClean="0"/>
              <a:t>התניות - </a:t>
            </a:r>
            <a:r>
              <a:rPr lang="en-US" b="1" dirty="0" smtClean="0"/>
              <a:t>WHERE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3733800"/>
          </a:xfrm>
        </p:spPr>
        <p:txBody>
          <a:bodyPr/>
          <a:lstStyle/>
          <a:p>
            <a:pPr marL="800100" lvl="1" indent="-342900" algn="r" rtl="1">
              <a:buFontTx/>
              <a:buNone/>
              <a:defRPr/>
            </a:pPr>
            <a:endParaRPr lang="he-IL" sz="1800" dirty="0" smtClean="0">
              <a:ea typeface="+mn-ea"/>
              <a:cs typeface="+mn-cs"/>
            </a:endParaRPr>
          </a:p>
          <a:p>
            <a:pPr marL="800100" lvl="1" indent="-342900" algn="r" rtl="1">
              <a:buFontTx/>
              <a:buNone/>
              <a:defRPr/>
            </a:pPr>
            <a:r>
              <a:rPr lang="he-IL" sz="1800" dirty="0" smtClean="0"/>
              <a:t>3.  אופרטור (</a:t>
            </a:r>
            <a:r>
              <a:rPr lang="en-US" sz="1800" dirty="0" smtClean="0"/>
              <a:t>IN ,NOT IN</a:t>
            </a:r>
            <a:r>
              <a:rPr lang="he-IL" sz="1800" dirty="0" smtClean="0"/>
              <a:t>):</a:t>
            </a:r>
          </a:p>
          <a:p>
            <a:pPr lvl="2" algn="r" rtl="1">
              <a:defRPr/>
            </a:pPr>
            <a:r>
              <a:rPr lang="he-IL" sz="1800" dirty="0" smtClean="0"/>
              <a:t>נותן אפשרות לציון מספר ערכים בתוך </a:t>
            </a:r>
            <a:r>
              <a:rPr lang="en-US" sz="1800" dirty="0" smtClean="0"/>
              <a:t>WHERE</a:t>
            </a:r>
          </a:p>
          <a:p>
            <a:pPr marL="800100" lvl="1" indent="-342900" algn="r" rtl="1">
              <a:buFontTx/>
              <a:buNone/>
              <a:defRPr/>
            </a:pPr>
            <a:endParaRPr lang="he-IL" sz="1800" dirty="0" smtClean="0">
              <a:ea typeface="+mn-ea"/>
              <a:cs typeface="+mn-cs"/>
            </a:endParaRPr>
          </a:p>
          <a:p>
            <a:pPr marL="800100" lvl="1" indent="-342900" algn="r" rtl="1">
              <a:buFontTx/>
              <a:buNone/>
              <a:defRPr/>
            </a:pPr>
            <a:endParaRPr lang="en-US" sz="1800" dirty="0" smtClean="0">
              <a:ea typeface="+mn-ea"/>
              <a:cs typeface="+mn-cs"/>
            </a:endParaRPr>
          </a:p>
          <a:p>
            <a:pPr marL="800100" lvl="1" indent="-342900" algn="r" rtl="1">
              <a:buFontTx/>
              <a:buNone/>
              <a:defRPr/>
            </a:pPr>
            <a:endParaRPr lang="en-US" sz="1800" dirty="0" smtClean="0"/>
          </a:p>
          <a:p>
            <a:pPr marL="800100" lvl="1" indent="-342900" algn="r" rtl="1">
              <a:buFontTx/>
              <a:buNone/>
              <a:defRPr/>
            </a:pPr>
            <a:r>
              <a:rPr lang="he-IL" sz="1800" dirty="0" smtClean="0"/>
              <a:t>ניתן להישתמש גם במחרוזות.</a:t>
            </a:r>
            <a:endParaRPr lang="en-US" sz="1800" dirty="0" smtClean="0">
              <a:ea typeface="+mn-ea"/>
              <a:cs typeface="+mn-cs"/>
            </a:endParaRPr>
          </a:p>
          <a:p>
            <a:pPr marL="800100" lvl="1" indent="-342900" algn="r" rtl="1">
              <a:buFontTx/>
              <a:buNone/>
              <a:defRPr/>
            </a:pPr>
            <a:endParaRPr lang="en-US" sz="1800" dirty="0" smtClean="0"/>
          </a:p>
          <a:p>
            <a:pPr marL="800100" lvl="1" indent="-342900" algn="r" rtl="1">
              <a:buFontTx/>
              <a:buNone/>
              <a:defRPr/>
            </a:pPr>
            <a:r>
              <a:rPr lang="he-IL" sz="1800" dirty="0" smtClean="0">
                <a:ea typeface="+mn-ea"/>
                <a:cs typeface="+mn-cs"/>
              </a:rPr>
              <a:t>4. </a:t>
            </a:r>
            <a:r>
              <a:rPr lang="he-IL" sz="1800" dirty="0" smtClean="0"/>
              <a:t>אופרטור (</a:t>
            </a:r>
            <a:r>
              <a:rPr lang="en-US" sz="1800" dirty="0" smtClean="0"/>
              <a:t>IS, IS NOT</a:t>
            </a:r>
            <a:r>
              <a:rPr lang="he-IL" sz="1800" dirty="0" smtClean="0"/>
              <a:t>):</a:t>
            </a:r>
            <a:endParaRPr lang="en-US" sz="1800" dirty="0" smtClean="0">
              <a:ea typeface="+mn-ea"/>
              <a:cs typeface="+mn-cs"/>
            </a:endParaRPr>
          </a:p>
          <a:p>
            <a:pPr marL="1200150" lvl="2" indent="-342900" algn="r" rtl="1">
              <a:defRPr/>
            </a:pPr>
            <a:r>
              <a:rPr lang="he-IL" sz="1800" dirty="0" smtClean="0"/>
              <a:t>מציאת רשומות שחסרות בהם ערכים (</a:t>
            </a:r>
            <a:r>
              <a:rPr lang="en-US" sz="1800" dirty="0" smtClean="0"/>
              <a:t>NULL</a:t>
            </a:r>
            <a:r>
              <a:rPr lang="he-IL" sz="1800" dirty="0" smtClean="0"/>
              <a:t>) או שיש בהם ערכים.</a:t>
            </a:r>
            <a:r>
              <a:rPr lang="he-IL" sz="1800" dirty="0" smtClean="0">
                <a:ea typeface="+mn-ea"/>
                <a:cs typeface="+mn-cs"/>
              </a:rPr>
              <a:t>	</a:t>
            </a:r>
            <a:endParaRPr lang="en-US" sz="1800" dirty="0" smtClean="0">
              <a:ea typeface="+mn-ea"/>
              <a:cs typeface="+mn-cs"/>
            </a:endParaRPr>
          </a:p>
          <a:p>
            <a:pPr algn="r" rtl="1">
              <a:buFontTx/>
              <a:buNone/>
              <a:defRPr/>
            </a:pPr>
            <a:r>
              <a:rPr lang="en-US" sz="1400" dirty="0" smtClean="0"/>
              <a:t>		</a:t>
            </a:r>
          </a:p>
          <a:p>
            <a:pPr algn="r" rtl="1">
              <a:defRPr/>
            </a:pPr>
            <a:endParaRPr lang="he-IL" sz="1800" dirty="0" smtClean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CF801-35F1-4941-BD85-B55D243CE88F}" type="slidenum">
              <a:rPr lang="he-IL" smtClean="0">
                <a:cs typeface="Times New Roman" pitchFamily="18" charset="0"/>
              </a:rPr>
              <a:pPr>
                <a:defRPr/>
              </a:pPr>
              <a:t>19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3655464" y="2743200"/>
            <a:ext cx="4193136" cy="584775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CustomerID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IN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100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110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120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CustomerID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NOT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IN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100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110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</a:rPr>
              <a:t>120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656894" y="5334000"/>
            <a:ext cx="2896306" cy="584775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IS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name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IS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NOT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 smtClean="0"/>
              <a:t>הדרכה לגבי שימוש בתאריכים</a:t>
            </a:r>
            <a:endParaRPr lang="en-US" b="1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724400"/>
          </a:xfrm>
        </p:spPr>
        <p:txBody>
          <a:bodyPr/>
          <a:lstStyle/>
          <a:p>
            <a:pPr algn="r" rtl="1">
              <a:lnSpc>
                <a:spcPct val="80000"/>
              </a:lnSpc>
            </a:pPr>
            <a:r>
              <a:rPr lang="he-IL" sz="2000" dirty="0" smtClean="0"/>
              <a:t>כדי שנוכל להשתמש בתאריך בצורה המקובלת אצלנו, יש לרשום את השורה הבאה בתחילת הקוד:</a:t>
            </a:r>
            <a:r>
              <a:rPr lang="en-US" sz="2000" dirty="0" smtClean="0"/>
              <a:t>  </a:t>
            </a:r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8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800" dirty="0" smtClean="0"/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he-IL" sz="2000" dirty="0" smtClean="0"/>
              <a:t>	או להשתמש בתצוגת נתוני תאריכים בצורה הבאה:</a:t>
            </a:r>
            <a:endParaRPr lang="en-US" sz="20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8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800" dirty="0" smtClean="0"/>
          </a:p>
          <a:p>
            <a:pPr algn="r" rtl="1">
              <a:lnSpc>
                <a:spcPct val="80000"/>
              </a:lnSpc>
            </a:pPr>
            <a:r>
              <a:rPr lang="he-IL" sz="2000" dirty="0" smtClean="0"/>
              <a:t>ניתן להשתמש בשילוב פונקציות למציאת הרשומות שאנו צריכים:</a:t>
            </a:r>
            <a:endParaRPr lang="en-US" sz="20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r>
              <a:rPr lang="he-IL" sz="2000" dirty="0" smtClean="0"/>
              <a:t>הסבר נוסף לגבי פונקציית </a:t>
            </a:r>
            <a:r>
              <a:rPr lang="en-US" sz="2000" dirty="0" err="1" smtClean="0"/>
              <a:t>to_char</a:t>
            </a:r>
            <a:r>
              <a:rPr lang="he-IL" sz="2000" dirty="0" smtClean="0"/>
              <a:t>:</a:t>
            </a:r>
            <a:endParaRPr lang="en-US" sz="2000" dirty="0" smtClean="0">
              <a:hlinkClick r:id="rId2"/>
            </a:endParaRPr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en-US" sz="1800" dirty="0" smtClean="0">
                <a:solidFill>
                  <a:srgbClr val="A02600"/>
                </a:solidFill>
                <a:hlinkClick r:id="rId2"/>
              </a:rPr>
              <a:t>http://www.techonthenet.com/oracle/functions/to_char.php</a:t>
            </a:r>
            <a:endParaRPr lang="he-IL" sz="1800" dirty="0" smtClean="0">
              <a:solidFill>
                <a:srgbClr val="A02600"/>
              </a:solidFill>
            </a:endParaRPr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800" dirty="0" smtClean="0">
              <a:solidFill>
                <a:srgbClr val="A02600"/>
              </a:solidFill>
            </a:endParaRPr>
          </a:p>
          <a:p>
            <a:pPr algn="r" rtl="1">
              <a:lnSpc>
                <a:spcPct val="80000"/>
              </a:lnSpc>
            </a:pPr>
            <a:r>
              <a:rPr lang="he-IL" sz="2000" dirty="0" smtClean="0"/>
              <a:t>הסבר נוסף לגבי פונקציית </a:t>
            </a:r>
            <a:r>
              <a:rPr lang="en-US" sz="2000" dirty="0" err="1" smtClean="0"/>
              <a:t>to_date</a:t>
            </a:r>
            <a:r>
              <a:rPr lang="he-IL" sz="2000" dirty="0" smtClean="0"/>
              <a:t>:</a:t>
            </a:r>
            <a:endParaRPr lang="en-US" sz="2000" dirty="0" smtClean="0">
              <a:hlinkClick r:id="rId3"/>
            </a:endParaRPr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en-US" sz="1800" dirty="0" smtClean="0">
                <a:hlinkClick r:id="rId3"/>
              </a:rPr>
              <a:t>http://www.techonthenet.com/oracle/functions/to_date.php</a:t>
            </a:r>
            <a:endParaRPr lang="en-US" sz="1800" dirty="0" smtClean="0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1DC754-F0C9-4A0E-8181-19B2DB011B66}" type="slidenum">
              <a:rPr lang="he-IL" smtClean="0">
                <a:cs typeface="Times New Roman" pitchFamily="18" charset="0"/>
              </a:rPr>
              <a:pPr>
                <a:defRPr/>
              </a:pPr>
              <a:t>20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3163175" y="2252246"/>
            <a:ext cx="5142625" cy="338554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ALTER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SESSION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nls_date_format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dd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/mm/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yyyy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763488" y="2971800"/>
            <a:ext cx="5466112" cy="338554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TO_CHAR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hiredate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dd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/mm/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yyyy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EMP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981200" y="3664803"/>
            <a:ext cx="6408357" cy="830997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pPr algn="l" rtl="0"/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SELECT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TO_CHAR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hiredate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dd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/mm/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yyyy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l" rtl="0"/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emp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pPr algn="l" rtl="0"/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WHERE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hiredate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TO_DATE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'01/28/2007'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dd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/mm/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</a:rPr>
              <a:t>yyyy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 smtClean="0"/>
              <a:t>כניסה למערכת</a:t>
            </a:r>
            <a:endParaRPr lang="en-US" b="1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80000"/>
              </a:lnSpc>
              <a:buFontTx/>
              <a:buNone/>
            </a:pPr>
            <a:endParaRPr lang="he-IL" sz="2400" dirty="0" smtClean="0"/>
          </a:p>
          <a:p>
            <a:pPr algn="r" rtl="1">
              <a:buFontTx/>
              <a:buNone/>
            </a:pPr>
            <a:r>
              <a:rPr lang="he-IL" sz="2400" dirty="0" smtClean="0"/>
              <a:t>	</a:t>
            </a:r>
            <a:r>
              <a:rPr lang="he-IL" sz="2000" dirty="0" smtClean="0"/>
              <a:t>כדי להיתחבר </a:t>
            </a:r>
            <a:r>
              <a:rPr lang="en-US" sz="2000" dirty="0" smtClean="0"/>
              <a:t>ORACLE</a:t>
            </a:r>
            <a:r>
              <a:rPr lang="he-IL" sz="2000" dirty="0" smtClean="0"/>
              <a:t> יש להוריד את קובץ ההרשאות "</a:t>
            </a:r>
            <a:r>
              <a:rPr lang="en-US" sz="2000" dirty="0" smtClean="0"/>
              <a:t>users</a:t>
            </a:r>
            <a:r>
              <a:rPr lang="he-IL" sz="2000" dirty="0" smtClean="0"/>
              <a:t>" אשר נמצא במודל, </a:t>
            </a:r>
          </a:p>
          <a:p>
            <a:pPr algn="r" rtl="1">
              <a:buFontTx/>
              <a:buNone/>
            </a:pPr>
            <a:r>
              <a:rPr lang="he-IL" sz="2000" dirty="0" smtClean="0"/>
              <a:t>	להיכנס לקישור "+</a:t>
            </a:r>
            <a:r>
              <a:rPr lang="en-US" sz="2000" dirty="0" smtClean="0"/>
              <a:t>SQL</a:t>
            </a:r>
            <a:r>
              <a:rPr lang="he-IL" sz="2000" dirty="0" smtClean="0"/>
              <a:t>" ולהזין את הנתונים הבאים:</a:t>
            </a:r>
            <a:endParaRPr lang="he-IL" sz="18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2400" dirty="0" smtClean="0"/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800" dirty="0" smtClean="0"/>
              <a:t>name: student + &lt;</a:t>
            </a:r>
            <a:r>
              <a:rPr lang="he-IL" sz="1800" dirty="0" smtClean="0"/>
              <a:t>מספר סטודנט</a:t>
            </a:r>
            <a:r>
              <a:rPr lang="en-US" sz="1800" dirty="0" smtClean="0"/>
              <a:t>&gt;</a:t>
            </a:r>
          </a:p>
          <a:p>
            <a:pPr algn="r" rtl="1">
              <a:lnSpc>
                <a:spcPct val="80000"/>
              </a:lnSpc>
              <a:buFontTx/>
              <a:buNone/>
            </a:pPr>
            <a:endParaRPr lang="en-US" sz="800" dirty="0" smtClean="0"/>
          </a:p>
          <a:p>
            <a:pPr>
              <a:lnSpc>
                <a:spcPct val="80000"/>
              </a:lnSpc>
              <a:buNone/>
            </a:pPr>
            <a:r>
              <a:rPr lang="en-US" sz="1800" dirty="0" smtClean="0"/>
              <a:t>Password(</a:t>
            </a:r>
            <a:r>
              <a:rPr lang="he-IL" sz="1800" dirty="0" smtClean="0"/>
              <a:t>סיסמא ראשונית</a:t>
            </a:r>
            <a:r>
              <a:rPr lang="en-US" sz="1800" dirty="0" smtClean="0"/>
              <a:t>): </a:t>
            </a:r>
            <a:r>
              <a:rPr lang="en-US" sz="1800" dirty="0"/>
              <a:t>oracle</a:t>
            </a:r>
            <a:endParaRPr lang="en-US" sz="1800" dirty="0" smtClean="0"/>
          </a:p>
          <a:p>
            <a:pPr algn="l">
              <a:lnSpc>
                <a:spcPct val="80000"/>
              </a:lnSpc>
              <a:buFontTx/>
              <a:buNone/>
            </a:pPr>
            <a:endParaRPr lang="en-US" sz="8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en-US" sz="18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en-US" sz="1800" dirty="0" smtClean="0"/>
          </a:p>
          <a:p>
            <a:pPr algn="r" rtl="1">
              <a:lnSpc>
                <a:spcPct val="80000"/>
              </a:lnSpc>
              <a:buFont typeface="Arial" charset="0"/>
              <a:buChar char="•"/>
            </a:pPr>
            <a:r>
              <a:rPr lang="he-IL" sz="1800" dirty="0" smtClean="0"/>
              <a:t>לאחר הכניסה הראשונה, יש לשנות את הסיסמא.</a:t>
            </a:r>
            <a:endParaRPr lang="he-IL" sz="1800" dirty="0"/>
          </a:p>
          <a:p>
            <a:pPr algn="r" rtl="1">
              <a:lnSpc>
                <a:spcPct val="80000"/>
              </a:lnSpc>
              <a:buFont typeface="Arial" charset="0"/>
              <a:buChar char="•"/>
            </a:pPr>
            <a:r>
              <a:rPr lang="he-IL" sz="1800" dirty="0"/>
              <a:t>לשינוי סיסמא יש להקיש את הפקודה הבאה:</a:t>
            </a:r>
          </a:p>
          <a:p>
            <a:pPr marL="0" indent="0">
              <a:buClrTx/>
              <a:buSzTx/>
              <a:buNone/>
              <a:defRPr/>
            </a:pPr>
            <a:r>
              <a:rPr lang="en-US" sz="1800" dirty="0"/>
              <a:t>alter user &lt;user name&gt; IDENTIFIED by &lt;new password&gt;;</a:t>
            </a:r>
          </a:p>
          <a:p>
            <a:pPr marL="0" indent="0" algn="r" rtl="1">
              <a:buClrTx/>
              <a:buSzTx/>
              <a:buNone/>
              <a:defRPr/>
            </a:pPr>
            <a:r>
              <a:rPr lang="he-IL" sz="1800" dirty="0"/>
              <a:t>	לדוגמא:</a:t>
            </a:r>
            <a:endParaRPr lang="en-US" sz="1800" dirty="0"/>
          </a:p>
          <a:p>
            <a:pPr marL="0" indent="0">
              <a:buClrTx/>
              <a:buSzTx/>
              <a:buNone/>
              <a:defRPr/>
            </a:pPr>
            <a:r>
              <a:rPr lang="en-US" sz="1800" dirty="0"/>
              <a:t>alter user </a:t>
            </a:r>
            <a:r>
              <a:rPr lang="en-US" sz="1800" dirty="0" smtClean="0"/>
              <a:t>student2 </a:t>
            </a:r>
            <a:r>
              <a:rPr lang="en-US" sz="1800" dirty="0"/>
              <a:t>IDENTIFIED by 1234;</a:t>
            </a:r>
          </a:p>
          <a:p>
            <a:pPr algn="l">
              <a:lnSpc>
                <a:spcPct val="80000"/>
              </a:lnSpc>
              <a:buFont typeface="Arial" charset="0"/>
              <a:buChar char="•"/>
            </a:pPr>
            <a:endParaRPr lang="he-IL" sz="18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24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b="1" dirty="0" smtClean="0"/>
              <a:t>יצירת והרצת קובץ </a:t>
            </a:r>
            <a:r>
              <a:rPr lang="en-US" sz="4000" b="1" dirty="0" smtClean="0"/>
              <a:t>Script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sz="1800" dirty="0" smtClean="0"/>
              <a:t>על מנת לבנות קובץ טקסט אשר ישמור את הפקודות והתוצאות, נבצע: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Set echo on;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spool c:\&lt;file name&gt;.txt   (</a:t>
            </a:r>
            <a:r>
              <a:rPr lang="he-IL" sz="1800" i="1" dirty="0" smtClean="0">
                <a:solidFill>
                  <a:srgbClr val="FFFF00"/>
                </a:solidFill>
              </a:rPr>
              <a:t>בתחילת העבודה</a:t>
            </a:r>
            <a:r>
              <a:rPr lang="en-US" sz="1800" i="1" dirty="0" smtClean="0">
                <a:solidFill>
                  <a:srgbClr val="FFFF00"/>
                </a:solidFill>
              </a:rPr>
              <a:t>)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….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….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spool off  (</a:t>
            </a:r>
            <a:r>
              <a:rPr lang="he-IL" sz="1800" i="1" dirty="0" smtClean="0">
                <a:solidFill>
                  <a:srgbClr val="FFFF00"/>
                </a:solidFill>
              </a:rPr>
              <a:t>בסיום העבודה</a:t>
            </a:r>
            <a:r>
              <a:rPr lang="en-US" sz="1800" i="1" dirty="0" smtClean="0">
                <a:solidFill>
                  <a:srgbClr val="FFFF00"/>
                </a:solidFill>
              </a:rPr>
              <a:t>)</a:t>
            </a:r>
          </a:p>
          <a:p>
            <a:pPr algn="ctr" rtl="1">
              <a:buFontTx/>
              <a:buNone/>
            </a:pPr>
            <a:endParaRPr lang="he-IL" sz="1400" dirty="0" smtClean="0"/>
          </a:p>
          <a:p>
            <a:pPr algn="ctr" rtl="1">
              <a:buFontTx/>
              <a:buNone/>
            </a:pPr>
            <a:r>
              <a:rPr lang="he-IL" sz="1600" dirty="0" smtClean="0"/>
              <a:t>* מה שנקבל הוא, קובץ שיכיל העתק של מסך העבודה שלנו.</a:t>
            </a:r>
          </a:p>
          <a:p>
            <a:pPr algn="r" rtl="1">
              <a:buFontTx/>
              <a:buNone/>
            </a:pPr>
            <a:endParaRPr lang="he-IL" sz="1800" dirty="0" smtClean="0"/>
          </a:p>
          <a:p>
            <a:pPr algn="r" rtl="1"/>
            <a:r>
              <a:rPr lang="he-IL" sz="1800" dirty="0" smtClean="0"/>
              <a:t>על מנת להריץ קובץ </a:t>
            </a:r>
            <a:r>
              <a:rPr lang="en-US" sz="1800" dirty="0" smtClean="0"/>
              <a:t>Script</a:t>
            </a:r>
            <a:r>
              <a:rPr lang="he-IL" sz="1800" dirty="0" smtClean="0"/>
              <a:t>, נרשום:</a:t>
            </a:r>
          </a:p>
          <a:p>
            <a:pPr algn="l">
              <a:buFontTx/>
              <a:buNone/>
            </a:pPr>
            <a:r>
              <a:rPr lang="en-US" sz="1400" i="1" dirty="0" smtClean="0">
                <a:solidFill>
                  <a:srgbClr val="FFFF00"/>
                </a:solidFill>
              </a:rPr>
              <a:t>@&lt;Full path</a:t>
            </a:r>
            <a:r>
              <a:rPr lang="en-US" sz="1400" i="1" dirty="0" smtClean="0"/>
              <a:t>&gt;</a:t>
            </a:r>
          </a:p>
          <a:p>
            <a:pPr algn="just">
              <a:buFontTx/>
              <a:buNone/>
            </a:pPr>
            <a:r>
              <a:rPr lang="en-US" sz="1400" dirty="0" smtClean="0"/>
              <a:t>                                                   </a:t>
            </a:r>
            <a:r>
              <a:rPr lang="he-IL" sz="1400" dirty="0" smtClean="0"/>
              <a:t>לדוגמא:</a:t>
            </a:r>
            <a:endParaRPr lang="en-US" sz="1400" dirty="0" smtClean="0"/>
          </a:p>
          <a:p>
            <a:pPr algn="l">
              <a:buFontTx/>
              <a:buNone/>
            </a:pPr>
            <a:r>
              <a:rPr lang="en-US" sz="1400" i="1" dirty="0" smtClean="0"/>
              <a:t>@c:\\emp_t.txt</a:t>
            </a:r>
            <a:endParaRPr lang="he-IL" sz="1400" i="1" dirty="0" smtClean="0"/>
          </a:p>
          <a:p>
            <a:pPr algn="r" rtl="1">
              <a:buFontTx/>
              <a:buNone/>
            </a:pPr>
            <a:r>
              <a:rPr lang="he-IL" sz="1400" i="1" smtClean="0"/>
              <a:t>	או לחלופין נוכן להעתיק את תוכנו של הקובץ לתוך המערכת ולהריץ אותו.</a:t>
            </a:r>
            <a:endParaRPr lang="he-IL" sz="1400" i="1" dirty="0" smtClean="0"/>
          </a:p>
          <a:p>
            <a:pPr algn="r" rtl="1">
              <a:buFontTx/>
              <a:buNone/>
            </a:pPr>
            <a:endParaRPr lang="en-US" sz="1400" dirty="0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170E9F-1EA7-4A41-9396-140A34EA912E}" type="slidenum">
              <a:rPr lang="he-IL" smtClean="0"/>
              <a:pPr/>
              <a:t>22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3337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Custom 1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00B0F0"/>
      </a:hlink>
      <a:folHlink>
        <a:srgbClr val="00206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8433</TotalTime>
  <Words>710</Words>
  <Application>Microsoft Office PowerPoint</Application>
  <PresentationFormat>On-screen Show (4:3)</PresentationFormat>
  <Paragraphs>250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Times New Roman</vt:lpstr>
      <vt:lpstr>Times New Roman (Hebrew)</vt:lpstr>
      <vt:lpstr>Wingdings 2</vt:lpstr>
      <vt:lpstr>Foundry</vt:lpstr>
      <vt:lpstr>בסיסי נתונים - מעבדה</vt:lpstr>
      <vt:lpstr>מעבדה מס' 1</vt:lpstr>
      <vt:lpstr>SQL – Structured Query Language</vt:lpstr>
      <vt:lpstr>SQL – Structured Query Language</vt:lpstr>
      <vt:lpstr>SQL: SELECT</vt:lpstr>
      <vt:lpstr>SQL - Selecting Data</vt:lpstr>
      <vt:lpstr>Selecting Data</vt:lpstr>
      <vt:lpstr>Selecting Data</vt:lpstr>
      <vt:lpstr>Selecting Data</vt:lpstr>
      <vt:lpstr>Selecting Data</vt:lpstr>
      <vt:lpstr>Selecting Data</vt:lpstr>
      <vt:lpstr>Selecting Data</vt:lpstr>
      <vt:lpstr>Selecting Data</vt:lpstr>
      <vt:lpstr>SQL: WHERE</vt:lpstr>
      <vt:lpstr>התניות - WHERE</vt:lpstr>
      <vt:lpstr>התניות - WHERE</vt:lpstr>
      <vt:lpstr>התניות - WHERE</vt:lpstr>
      <vt:lpstr>התניות - WHERE</vt:lpstr>
      <vt:lpstr>התניות - WHERE</vt:lpstr>
      <vt:lpstr>הדרכה לגבי שימוש בתאריכים</vt:lpstr>
      <vt:lpstr>כניסה למערכת</vt:lpstr>
      <vt:lpstr>יצירת והרצת קובץ Script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Windows User</cp:lastModifiedBy>
  <cp:revision>553</cp:revision>
  <dcterms:created xsi:type="dcterms:W3CDTF">2004-02-02T22:13:25Z</dcterms:created>
  <dcterms:modified xsi:type="dcterms:W3CDTF">2017-10-29T07:47:39Z</dcterms:modified>
</cp:coreProperties>
</file>