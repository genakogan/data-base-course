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677" r:id="rId2"/>
    <p:sldId id="639" r:id="rId3"/>
    <p:sldId id="620" r:id="rId4"/>
    <p:sldId id="628" r:id="rId5"/>
    <p:sldId id="689" r:id="rId6"/>
    <p:sldId id="631" r:id="rId7"/>
    <p:sldId id="669" r:id="rId8"/>
    <p:sldId id="670" r:id="rId9"/>
    <p:sldId id="671" r:id="rId10"/>
    <p:sldId id="672" r:id="rId11"/>
    <p:sldId id="630" r:id="rId12"/>
    <p:sldId id="632" r:id="rId13"/>
    <p:sldId id="634" r:id="rId14"/>
    <p:sldId id="633" r:id="rId15"/>
    <p:sldId id="645" r:id="rId16"/>
    <p:sldId id="653" r:id="rId17"/>
    <p:sldId id="655" r:id="rId18"/>
    <p:sldId id="656" r:id="rId19"/>
    <p:sldId id="658" r:id="rId20"/>
    <p:sldId id="659" r:id="rId21"/>
    <p:sldId id="660" r:id="rId22"/>
    <p:sldId id="690" r:id="rId23"/>
    <p:sldId id="664" r:id="rId24"/>
    <p:sldId id="662" r:id="rId25"/>
    <p:sldId id="675" r:id="rId26"/>
    <p:sldId id="676" r:id="rId27"/>
    <p:sldId id="678" r:id="rId28"/>
    <p:sldId id="679" r:id="rId29"/>
    <p:sldId id="680" r:id="rId30"/>
    <p:sldId id="681" r:id="rId31"/>
    <p:sldId id="682" r:id="rId32"/>
    <p:sldId id="683" r:id="rId33"/>
    <p:sldId id="684" r:id="rId34"/>
    <p:sldId id="685" r:id="rId35"/>
    <p:sldId id="686" r:id="rId36"/>
    <p:sldId id="687" r:id="rId37"/>
    <p:sldId id="688" r:id="rId38"/>
  </p:sldIdLst>
  <p:sldSz cx="9144000" cy="6858000" type="screen4x3"/>
  <p:notesSz cx="6858000" cy="9144000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5pPr>
    <a:lvl6pPr marL="22860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6pPr>
    <a:lvl7pPr marL="27432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7pPr>
    <a:lvl8pPr marL="32004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8pPr>
    <a:lvl9pPr marL="36576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CC00"/>
    <a:srgbClr val="0000CC"/>
    <a:srgbClr val="A02600"/>
    <a:srgbClr val="CC3300"/>
    <a:srgbClr val="E88A00"/>
    <a:srgbClr val="E9F7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סגנון ביניים 1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 autoAdjust="0"/>
    <p:restoredTop sz="90935"/>
  </p:normalViewPr>
  <p:slideViewPr>
    <p:cSldViewPr>
      <p:cViewPr varScale="1">
        <p:scale>
          <a:sx n="111" d="100"/>
          <a:sy n="111" d="100"/>
        </p:scale>
        <p:origin x="86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3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019A96B4-8183-450D-B0EF-91EB3DC81468}" type="datetimeFigureOut">
              <a:rPr lang="he-IL"/>
              <a:pPr/>
              <a:t>ד'.אלול.תשפ"ו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10B95418-DE65-44DB-A916-359762CB7EBE}" type="slidenum">
              <a:rPr lang="he-IL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111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63E45040-5612-4279-BB51-CC4EE86D9D3B}" type="slidenum">
              <a:rPr lang="he-IL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701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4BC488-456D-483E-895E-FD4119D4ED35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1F369F-A494-4FDD-B866-5CD39D35D448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5378FE-7630-4D61-ACBA-DC6DC9F47275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7FA32B-05E1-4679-986E-BC1ECE0ABE6A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6B6D2D-415A-474D-AFAE-B495D7E94AD2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E0BD-0C58-4EBF-B828-94FFF056E8AB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C21740-74DA-4E7F-800E-12A2AB4E0D2F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0CA3E7-6C7A-4DCC-ADD4-FFC2368DE4A7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7010E2-5E77-4A75-A3FA-F96605761D74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F78C04-4712-450B-805D-D565A9DA9913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375571-6D41-4BCF-B78D-1DCD4395DD84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D9B1A5-2CAB-4E16-ADBD-C2E0C9A87DDC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84A5D9-0B19-4C40-BD04-B37CCA770A66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C12A47-0FDD-4DF1-B094-31B1C56ED478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35A44B-6CB8-4CFA-A577-CCB426DC8D91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8A9E4-27F2-432E-9876-18E6451CEC97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AD651-3001-4F7B-A3BC-032D08B33490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189E52-EC41-454D-AE4B-E102F603C1A2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EF7DF2-BB1D-4B2B-8538-8C10D65B20E9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5F3717-084F-4B1A-A0AF-71BBB85BCBF9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79C380-3F50-4161-AA63-42A998B353C9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E3DF90-C753-4DB4-9AAF-F6CC45D4329A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e-IL"/>
              <a:t>לחץ כדי לערוך סגנון כותרת של תבנית בסיס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F4F8359B-2D73-4DC1-AB7A-BF7C0CBB2F4C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FC0A608C-0CA1-4EBB-AA63-DA29C2CB4795}" type="slidenum">
              <a:rPr lang="he-IL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43400" y="1600200"/>
            <a:ext cx="3962400" cy="762000"/>
          </a:xfrm>
        </p:spPr>
        <p:txBody>
          <a:bodyPr/>
          <a:lstStyle/>
          <a:p>
            <a:pPr eaLnBrk="1" hangingPunct="1"/>
            <a:r>
              <a:rPr lang="he-IL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בסיסי נתונים - מעבדה</a:t>
            </a:r>
            <a:endParaRPr lang="en-US" sz="3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52" name="Subtitle 7"/>
          <p:cNvSpPr>
            <a:spLocks noGrp="1"/>
          </p:cNvSpPr>
          <p:nvPr>
            <p:ph type="subTitle" idx="1"/>
          </p:nvPr>
        </p:nvSpPr>
        <p:spPr>
          <a:xfrm>
            <a:off x="4495800" y="381000"/>
            <a:ext cx="3657600" cy="152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9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Times New Roman" pitchFamily="18" charset="0"/>
              </a:rPr>
              <a:t>SQL</a:t>
            </a:r>
            <a:endParaRPr lang="he-IL" sz="9600" dirty="0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676650" y="2703513"/>
            <a:ext cx="571500" cy="1433512"/>
            <a:chOff x="0" y="0"/>
            <a:chExt cx="360" cy="903"/>
          </a:xfrm>
        </p:grpSpPr>
        <p:sp>
          <p:nvSpPr>
            <p:cNvPr id="205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60" cy="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he-IL"/>
            </a:p>
          </p:txBody>
        </p:sp>
        <p:sp>
          <p:nvSpPr>
            <p:cNvPr id="205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60" cy="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he-IL" dirty="0"/>
                <a:t> </a:t>
              </a:r>
              <a:r>
                <a:rPr lang="he-IL" sz="8800" dirty="0"/>
                <a:t> </a:t>
              </a:r>
              <a:endParaRPr lang="he-IL" dirty="0"/>
            </a:p>
          </p:txBody>
        </p:sp>
      </p:grpSp>
      <p:pic>
        <p:nvPicPr>
          <p:cNvPr id="2" name="Picture 9" descr="http://www.dbametrix.com/img/articles/small/remote-database-services-3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0"/>
            <a:ext cx="38100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B970CA-0A12-4D34-B9F1-73D2DF4562EB}" type="slidenum">
              <a:rPr lang="he-IL"/>
              <a:pPr/>
              <a:t>2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562600"/>
          </a:xfrm>
        </p:spPr>
        <p:txBody>
          <a:bodyPr/>
          <a:lstStyle/>
          <a:p>
            <a:r>
              <a:rPr lang="en-US" b="1" dirty="0"/>
              <a:t>SQL</a:t>
            </a:r>
            <a:br>
              <a:rPr lang="en-US" b="1" dirty="0"/>
            </a:br>
            <a:r>
              <a:rPr lang="en-US" b="1" dirty="0"/>
              <a:t>-</a:t>
            </a:r>
            <a:br>
              <a:rPr lang="he-IL" b="1" dirty="0"/>
            </a:br>
            <a:r>
              <a:rPr lang="he-IL" b="1" i="1" u="sng" dirty="0"/>
              <a:t>אילוצים (</a:t>
            </a:r>
            <a:r>
              <a:rPr lang="en-US" b="1" i="1" u="sng" dirty="0"/>
              <a:t> (Constraints</a:t>
            </a:r>
            <a:r>
              <a:rPr lang="he-IL" b="1" i="1" u="sng" dirty="0"/>
              <a:t>+ היבטים (</a:t>
            </a:r>
            <a:r>
              <a:rPr lang="en-US" b="1" i="1" u="sng" dirty="0"/>
              <a:t>VIEWS</a:t>
            </a:r>
            <a:r>
              <a:rPr lang="he-IL" b="1" i="1" u="sng" dirty="0"/>
              <a:t>)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08A19D-D4D7-4A46-8779-DD65CC33404E}" type="slidenum">
              <a:rPr lang="he-IL"/>
              <a:pPr/>
              <a:t>3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אילוצים (</a:t>
            </a:r>
            <a:r>
              <a:rPr lang="en-US" sz="3600" b="1" i="1" u="sng"/>
              <a:t> (Constraints</a:t>
            </a:r>
            <a:endParaRPr lang="en-US" sz="36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  <a:defRPr/>
            </a:pPr>
            <a:endParaRPr lang="he-IL" sz="800" dirty="0"/>
          </a:p>
          <a:p>
            <a:pPr>
              <a:defRPr/>
            </a:pPr>
            <a:r>
              <a:rPr lang="he-IL" sz="2000" dirty="0"/>
              <a:t>מגדירים כללים שיחולו על הנתונים המאוחסנים בעמודות ואוכפים אותם כדי להגן על הנתונים. בסיס נתונים לא יאפשר לאחסן בו נתונים המפרים את כללי האילוץ.</a:t>
            </a:r>
          </a:p>
          <a:p>
            <a:pPr>
              <a:buFontTx/>
              <a:buNone/>
              <a:defRPr/>
            </a:pPr>
            <a:endParaRPr lang="en-US" sz="2000" dirty="0"/>
          </a:p>
          <a:p>
            <a:pPr>
              <a:defRPr/>
            </a:pPr>
            <a:r>
              <a:rPr lang="he-IL" sz="2000" u="sng" dirty="0"/>
              <a:t>סוגי אילוצים:</a:t>
            </a:r>
          </a:p>
          <a:p>
            <a:pPr>
              <a:buFontTx/>
              <a:buNone/>
              <a:defRPr/>
            </a:pPr>
            <a:endParaRPr lang="he-IL" sz="2000" dirty="0"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NOT NULL</a:t>
            </a:r>
            <a:endParaRPr lang="he-IL" sz="1600" dirty="0">
              <a:solidFill>
                <a:schemeClr val="accent5">
                  <a:lumMod val="7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DEFAULT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PRIMARY KEY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rgbClr val="FF0000"/>
                </a:solidFill>
              </a:rPr>
              <a:t>UNIQUE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rgbClr val="FF0000"/>
                </a:solidFill>
              </a:rPr>
              <a:t>FOREIGN KEY 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rgbClr val="FF0000"/>
                </a:solidFill>
              </a:rPr>
              <a:t>CHECK</a:t>
            </a:r>
          </a:p>
          <a:p>
            <a:pPr marL="857250" lvl="1" indent="-457200">
              <a:buFontTx/>
              <a:buNone/>
              <a:defRPr/>
            </a:pPr>
            <a:r>
              <a:rPr lang="he-IL" sz="1600" dirty="0"/>
              <a:t>	</a:t>
            </a:r>
            <a:endParaRPr lang="he-IL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9F3265-09F1-4D39-A636-125867FECFB5}" type="slidenum">
              <a:rPr lang="he-IL"/>
              <a:pPr/>
              <a:t>4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 dirty="0"/>
              <a:t>אילוצים (</a:t>
            </a:r>
            <a:r>
              <a:rPr lang="en-US" sz="3600" b="1" i="1" u="sng" dirty="0"/>
              <a:t> - (Constraints</a:t>
            </a:r>
            <a:r>
              <a:rPr lang="he-IL" sz="2800" b="1" i="1" u="sng" dirty="0"/>
              <a:t>(</a:t>
            </a:r>
            <a:r>
              <a:rPr lang="en-US" sz="2800" b="1" i="1" u="sng" dirty="0"/>
              <a:t>Not null</a:t>
            </a:r>
            <a:r>
              <a:rPr lang="he-IL" sz="2800" b="1" i="1" u="sng" dirty="0"/>
              <a:t>)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>
              <a:buFontTx/>
              <a:buNone/>
              <a:defRPr/>
            </a:pPr>
            <a:endParaRPr lang="he-IL" sz="800" dirty="0"/>
          </a:p>
          <a:p>
            <a:pPr>
              <a:defRPr/>
            </a:pPr>
            <a:r>
              <a:rPr lang="he-IL" sz="2000" dirty="0"/>
              <a:t>משמעות האילוץ - עמודה לא יכולה להישאר ריקה.</a:t>
            </a:r>
          </a:p>
          <a:p>
            <a:pPr>
              <a:defRPr/>
            </a:pPr>
            <a:r>
              <a:rPr lang="he-IL" sz="2000" dirty="0"/>
              <a:t>בזמן יצירת טבלה.</a:t>
            </a:r>
            <a:endParaRPr lang="en-US" sz="2000" dirty="0"/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467" y="2624667"/>
            <a:ext cx="3940328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AC3A084-F94C-46E7-A9AC-4F9691DC2380}" type="slidenum">
              <a:rPr lang="he-IL"/>
              <a:pPr/>
              <a:t>5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אילוצים (</a:t>
            </a:r>
            <a:r>
              <a:rPr lang="en-US" sz="3600" b="1" i="1" u="sng"/>
              <a:t> - (Constraints</a:t>
            </a:r>
            <a:r>
              <a:rPr lang="he-IL" sz="2800" b="1" i="1" u="sng"/>
              <a:t>(</a:t>
            </a:r>
            <a:r>
              <a:rPr lang="en-US" sz="2800" b="1" i="1" u="sng"/>
              <a:t>Not null</a:t>
            </a:r>
            <a:r>
              <a:rPr lang="he-IL" sz="2800" b="1" i="1" u="sng"/>
              <a:t>)</a:t>
            </a:r>
            <a:endParaRPr lang="en-US" sz="36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  <a:defRPr/>
            </a:pPr>
            <a:endParaRPr lang="he-IL" sz="800" dirty="0"/>
          </a:p>
          <a:p>
            <a:pPr>
              <a:defRPr/>
            </a:pPr>
            <a:r>
              <a:rPr lang="he-IL" sz="2000" dirty="0"/>
              <a:t>אחרי יצירת הטבלה:</a:t>
            </a:r>
          </a:p>
          <a:p>
            <a:pPr>
              <a:defRPr/>
            </a:pPr>
            <a:endParaRPr lang="en-US" sz="2000" dirty="0"/>
          </a:p>
          <a:p>
            <a:pPr algn="l" rtl="0">
              <a:buFontTx/>
              <a:buNone/>
              <a:defRPr/>
            </a:pPr>
            <a:endParaRPr lang="en-US" sz="1800" dirty="0"/>
          </a:p>
          <a:p>
            <a:pPr marL="342900" lvl="1" indent="-342900" algn="ctr">
              <a:buFontTx/>
              <a:buNone/>
              <a:defRPr/>
            </a:pPr>
            <a:endParaRPr lang="he-IL" sz="1800" b="1" u="sng" dirty="0">
              <a:solidFill>
                <a:srgbClr val="FF0000"/>
              </a:solidFill>
            </a:endParaRPr>
          </a:p>
          <a:p>
            <a:pPr marL="342900" lvl="1" indent="-342900" algn="ctr">
              <a:buFontTx/>
              <a:buNone/>
              <a:defRPr/>
            </a:pPr>
            <a:r>
              <a:rPr lang="he-IL" sz="1800" b="1" u="sng" dirty="0">
                <a:solidFill>
                  <a:srgbClr val="C00000"/>
                </a:solidFill>
              </a:rPr>
              <a:t>*כל שדה שכלול ב- </a:t>
            </a:r>
            <a:r>
              <a:rPr lang="en-US" sz="1800" b="1" u="sng" dirty="0">
                <a:solidFill>
                  <a:srgbClr val="C00000"/>
                </a:solidFill>
              </a:rPr>
              <a:t>PRIMARY KEY</a:t>
            </a:r>
            <a:r>
              <a:rPr lang="he-IL" sz="1800" b="1" u="sng" dirty="0">
                <a:solidFill>
                  <a:srgbClr val="C00000"/>
                </a:solidFill>
              </a:rPr>
              <a:t> מוגדר אוטומטית גם כ- </a:t>
            </a:r>
            <a:r>
              <a:rPr lang="en-US" sz="1800" b="1" u="sng" dirty="0">
                <a:solidFill>
                  <a:srgbClr val="C00000"/>
                </a:solidFill>
              </a:rPr>
              <a:t>NOT NULL</a:t>
            </a:r>
            <a:r>
              <a:rPr lang="he-IL" sz="1800" b="1" u="sng" dirty="0">
                <a:solidFill>
                  <a:srgbClr val="C00000"/>
                </a:solidFill>
              </a:rPr>
              <a:t>.</a:t>
            </a:r>
          </a:p>
          <a:p>
            <a:pPr algn="ctr">
              <a:buFontTx/>
              <a:buNone/>
              <a:defRPr/>
            </a:pPr>
            <a:endParaRPr lang="en-US" sz="1800" dirty="0"/>
          </a:p>
          <a:p>
            <a:pPr marL="857250" lvl="1" indent="-457200" algn="l" rtl="0">
              <a:buFontTx/>
              <a:buNone/>
              <a:defRPr/>
            </a:pPr>
            <a:r>
              <a:rPr lang="he-IL" sz="1800" dirty="0">
                <a:ea typeface="+mn-ea"/>
                <a:cs typeface="+mn-cs"/>
              </a:rPr>
              <a:t>	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14600"/>
            <a:ext cx="6858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8006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DCBA979-C1EA-450D-A341-3F8B82C804D0}" type="slidenum">
              <a:rPr lang="he-IL"/>
              <a:pPr/>
              <a:t>6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אילוצים (</a:t>
            </a:r>
            <a:r>
              <a:rPr lang="en-US" sz="3600" b="1" i="1" u="sng"/>
              <a:t> - (Constraints</a:t>
            </a:r>
            <a:r>
              <a:rPr lang="he-IL" sz="2800" b="1" i="1" u="sng"/>
              <a:t>(</a:t>
            </a:r>
            <a:r>
              <a:rPr lang="en-US" sz="2800" b="1" u="sng"/>
              <a:t>DEFAULT</a:t>
            </a:r>
            <a:r>
              <a:rPr lang="he-IL" sz="2800" b="1" i="1" u="sng"/>
              <a:t>)</a:t>
            </a:r>
            <a:endParaRPr lang="en-US" sz="28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  <a:defRPr/>
            </a:pPr>
            <a:endParaRPr lang="he-IL" sz="800" dirty="0"/>
          </a:p>
          <a:p>
            <a:pPr>
              <a:defRPr/>
            </a:pPr>
            <a:r>
              <a:rPr lang="he-IL" sz="2000" dirty="0"/>
              <a:t>הגדרת ערכים כברירת המחדל.</a:t>
            </a:r>
            <a:endParaRPr lang="en-US" sz="2000" dirty="0"/>
          </a:p>
          <a:p>
            <a:pPr>
              <a:defRPr/>
            </a:pPr>
            <a:r>
              <a:rPr lang="he-IL" sz="2000" dirty="0"/>
              <a:t>במקרה שלא נכניס שום ערך לשדה שהוגדר עם  </a:t>
            </a:r>
            <a:r>
              <a:rPr lang="en-US" sz="2000" dirty="0"/>
              <a:t>DEFAULT</a:t>
            </a:r>
            <a:r>
              <a:rPr lang="he-IL" sz="2000" dirty="0"/>
              <a:t> השדה יציב את הערך שהוגדר כ-  </a:t>
            </a:r>
            <a:r>
              <a:rPr lang="en-US" sz="2000" dirty="0"/>
              <a:t>DEFAULT </a:t>
            </a:r>
            <a:r>
              <a:rPr lang="he-IL" sz="2000" dirty="0"/>
              <a:t> וכך ערך השדה לא יהיה </a:t>
            </a:r>
            <a:r>
              <a:rPr lang="en-US" sz="2000" dirty="0"/>
              <a:t>NULL</a:t>
            </a:r>
            <a:r>
              <a:rPr lang="he-IL" sz="2000" dirty="0"/>
              <a:t>.</a:t>
            </a:r>
            <a:endParaRPr lang="en-US" sz="2000" dirty="0"/>
          </a:p>
          <a:p>
            <a:pPr>
              <a:defRPr/>
            </a:pPr>
            <a:endParaRPr lang="en-US" sz="800" dirty="0"/>
          </a:p>
          <a:p>
            <a:pPr lvl="1" algn="l" rtl="0">
              <a:buFontTx/>
              <a:buNone/>
              <a:defRPr/>
            </a:pPr>
            <a:endParaRPr lang="en-US" sz="1800" dirty="0">
              <a:ea typeface="+mn-ea"/>
              <a:cs typeface="+mn-cs"/>
            </a:endParaRPr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66" y="3276600"/>
            <a:ext cx="702733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5B4D700-77C5-4877-9B05-D5BF500E4A9A}" type="slidenum">
              <a:rPr lang="he-IL"/>
              <a:pPr/>
              <a:t>7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b="1"/>
              <a:t> אילוצים - </a:t>
            </a:r>
            <a:r>
              <a:rPr lang="en-US" b="1"/>
              <a:t>Primary key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pPr>
              <a:defRPr/>
            </a:pPr>
            <a:r>
              <a:rPr lang="he-IL" sz="2000" dirty="0">
                <a:cs typeface="+mj-cs"/>
              </a:rPr>
              <a:t>מפתח ראשי - מציין אוסף תכונות (לעמודות) אשר בצורה חד-משמעית מזהה כל רשומה בטבלה.</a:t>
            </a:r>
            <a:endParaRPr lang="en-US" sz="2000" dirty="0">
              <a:cs typeface="+mj-cs"/>
            </a:endParaRPr>
          </a:p>
          <a:p>
            <a:pPr lvl="1">
              <a:defRPr/>
            </a:pPr>
            <a:r>
              <a:rPr lang="he-IL" sz="1800" dirty="0">
                <a:ea typeface="+mn-ea"/>
                <a:cs typeface="+mj-cs"/>
              </a:rPr>
              <a:t>מפתח ראשי מכיל תכונות:</a:t>
            </a:r>
            <a:endParaRPr lang="en-US" sz="1800" dirty="0">
              <a:ea typeface="+mn-ea"/>
              <a:cs typeface="+mj-cs"/>
            </a:endParaRPr>
          </a:p>
          <a:p>
            <a:pPr lvl="2">
              <a:defRPr/>
            </a:pPr>
            <a:r>
              <a:rPr lang="he-IL" sz="1800" dirty="0">
                <a:ea typeface="+mn-ea"/>
                <a:cs typeface="+mj-cs"/>
              </a:rPr>
              <a:t>ערך ייחודי (לא חוזר על עצמו)</a:t>
            </a:r>
            <a:endParaRPr lang="en-US" sz="1800" dirty="0">
              <a:ea typeface="+mn-ea"/>
              <a:cs typeface="+mj-cs"/>
            </a:endParaRPr>
          </a:p>
          <a:p>
            <a:pPr lvl="2">
              <a:defRPr/>
            </a:pPr>
            <a:r>
              <a:rPr lang="he-IL" sz="1800" dirty="0">
                <a:ea typeface="+mn-ea"/>
                <a:cs typeface="+mj-cs"/>
              </a:rPr>
              <a:t>לא יכול להכיל ערך </a:t>
            </a:r>
            <a:r>
              <a:rPr lang="en-US" sz="1800" dirty="0">
                <a:ea typeface="+mn-ea"/>
                <a:cs typeface="+mj-cs"/>
              </a:rPr>
              <a:t>NULL</a:t>
            </a:r>
            <a:r>
              <a:rPr lang="he-IL" sz="1800" dirty="0">
                <a:ea typeface="+mn-ea"/>
                <a:cs typeface="+mj-cs"/>
              </a:rPr>
              <a:t>(ריק)</a:t>
            </a:r>
            <a:endParaRPr lang="en-US" sz="1800" dirty="0">
              <a:ea typeface="+mn-ea"/>
              <a:cs typeface="+mj-cs"/>
            </a:endParaRPr>
          </a:p>
          <a:p>
            <a:pPr lvl="2" algn="l" rtl="0">
              <a:defRPr/>
            </a:pPr>
            <a:endParaRPr lang="he-IL" sz="1000" dirty="0"/>
          </a:p>
          <a:p>
            <a:pPr>
              <a:defRPr/>
            </a:pPr>
            <a:r>
              <a:rPr lang="he-IL" sz="2000" dirty="0">
                <a:cs typeface="+mj-cs"/>
              </a:rPr>
              <a:t>הגדרת מפתח ראשי בזמן יצירת הטבלה:</a:t>
            </a:r>
            <a:endParaRPr lang="en-US" sz="1800" dirty="0"/>
          </a:p>
          <a:p>
            <a:pPr marL="0" indent="0" algn="l" rtl="0">
              <a:buNone/>
              <a:defRPr/>
            </a:pPr>
            <a:endParaRPr lang="en-US" sz="1800" dirty="0"/>
          </a:p>
          <a:p>
            <a:pPr marL="0" indent="0" algn="l" rtl="0">
              <a:buNone/>
              <a:defRPr/>
            </a:pPr>
            <a:endParaRPr lang="he-IL" sz="1800" dirty="0"/>
          </a:p>
          <a:p>
            <a:pPr>
              <a:defRPr/>
            </a:pPr>
            <a:endParaRPr lang="he-IL" sz="1800" dirty="0"/>
          </a:p>
          <a:p>
            <a:pPr>
              <a:defRPr/>
            </a:pPr>
            <a:endParaRPr lang="he-IL" sz="1800" dirty="0"/>
          </a:p>
          <a:p>
            <a:pPr>
              <a:defRPr/>
            </a:pPr>
            <a:endParaRPr lang="en-US" sz="1800" dirty="0"/>
          </a:p>
          <a:p>
            <a:pPr>
              <a:buFontTx/>
              <a:buNone/>
              <a:defRPr/>
            </a:pPr>
            <a:r>
              <a:rPr lang="he-IL" sz="1800" dirty="0"/>
              <a:t> 	</a:t>
            </a:r>
            <a:endParaRPr lang="en-US" sz="1800" dirty="0"/>
          </a:p>
          <a:p>
            <a:pPr>
              <a:defRPr/>
            </a:pPr>
            <a:endParaRPr lang="he-IL" sz="1800" dirty="0"/>
          </a:p>
          <a:p>
            <a:pPr algn="l" rtl="0">
              <a:buFontTx/>
              <a:buNone/>
              <a:defRPr/>
            </a:pPr>
            <a:endParaRPr lang="en-US" sz="1800" dirty="0"/>
          </a:p>
          <a:p>
            <a:pPr>
              <a:defRPr/>
            </a:pPr>
            <a:endParaRPr lang="he-IL" sz="1800" dirty="0"/>
          </a:p>
          <a:p>
            <a:pPr>
              <a:defRPr/>
            </a:pPr>
            <a:endParaRPr lang="he-IL" sz="1800" dirty="0"/>
          </a:p>
          <a:p>
            <a:pPr>
              <a:defRPr/>
            </a:pPr>
            <a:endParaRPr lang="he-IL" sz="1800" dirty="0"/>
          </a:p>
          <a:p>
            <a:pPr algn="l" eaLnBrk="1" hangingPunct="1">
              <a:buFontTx/>
              <a:buNone/>
              <a:defRPr/>
            </a:pPr>
            <a:endParaRPr lang="he-IL" b="1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191000"/>
            <a:ext cx="5791200" cy="155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3DA25CA-BC98-46BC-9394-AB2D1C0D9F73}" type="slidenum">
              <a:rPr lang="he-IL"/>
              <a:pPr/>
              <a:t>8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b="1"/>
              <a:t> אילוצים - </a:t>
            </a:r>
            <a:r>
              <a:rPr lang="en-US" b="1"/>
              <a:t>Primary key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endParaRPr lang="he-IL" sz="2000" dirty="0"/>
          </a:p>
          <a:p>
            <a:r>
              <a:rPr lang="he-IL" sz="2000" dirty="0"/>
              <a:t>אם מפתח ראשי מורכב מכמה עמודות, אז יש ליצור אותו בצורה הבאה:</a:t>
            </a:r>
            <a:endParaRPr lang="en-US" sz="2000" dirty="0"/>
          </a:p>
          <a:p>
            <a:pPr>
              <a:buFontTx/>
              <a:buNone/>
            </a:pPr>
            <a:endParaRPr lang="he-IL" sz="1800" dirty="0"/>
          </a:p>
          <a:p>
            <a:pPr>
              <a:buFontTx/>
              <a:buNone/>
            </a:pPr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 	</a:t>
            </a:r>
            <a:endParaRPr lang="en-US" sz="1800" dirty="0"/>
          </a:p>
          <a:p>
            <a:endParaRPr lang="he-IL" sz="1800" dirty="0"/>
          </a:p>
          <a:p>
            <a:pPr algn="l" rtl="0">
              <a:buFontTx/>
              <a:buNone/>
            </a:pPr>
            <a:endParaRPr lang="en-US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789238"/>
            <a:ext cx="5334000" cy="165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C882BD-69A8-4ADE-A9D6-99BC305E2EAE}" type="slidenum">
              <a:rPr lang="he-IL"/>
              <a:pPr/>
              <a:t>9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b="1"/>
              <a:t> </a:t>
            </a:r>
            <a:r>
              <a:rPr lang="en-US" b="1"/>
              <a:t>Primary key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endParaRPr lang="he-IL" sz="2000" dirty="0"/>
          </a:p>
          <a:p>
            <a:r>
              <a:rPr lang="he-IL" sz="2000" dirty="0"/>
              <a:t>אם אנו רוצים לתת שם למפתח הראשי, אז יש ליצור אותו בצורה הבאה:</a:t>
            </a:r>
            <a:endParaRPr lang="en-US" sz="2000" dirty="0"/>
          </a:p>
          <a:p>
            <a:pPr>
              <a:buFontTx/>
              <a:buNone/>
            </a:pPr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r>
              <a:rPr lang="en-US" sz="1800" b="1" u="sng" dirty="0"/>
              <a:t>key name</a:t>
            </a:r>
            <a:r>
              <a:rPr lang="he-IL" sz="1800" dirty="0"/>
              <a:t> - שם לאילוץ של מפתח ראשי (לצורך עריכה עתידנית של המפתח).</a:t>
            </a:r>
          </a:p>
          <a:p>
            <a:endParaRPr lang="he-IL" sz="1800" dirty="0"/>
          </a:p>
          <a:p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 	</a:t>
            </a:r>
            <a:endParaRPr lang="en-US" sz="1800" dirty="0"/>
          </a:p>
          <a:p>
            <a:endParaRPr lang="he-IL" sz="1800" dirty="0"/>
          </a:p>
          <a:p>
            <a:pPr algn="l" rtl="0">
              <a:buFontTx/>
              <a:buNone/>
            </a:pPr>
            <a:endParaRPr lang="en-US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43200"/>
            <a:ext cx="6447692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BB321AA-4E72-4A4B-BE9F-E8E7F9BB657E}" type="slidenum">
              <a:rPr lang="he-IL"/>
              <a:pPr/>
              <a:t>10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b="1"/>
              <a:t> </a:t>
            </a:r>
            <a:r>
              <a:rPr lang="en-US" b="1"/>
              <a:t>Primary key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endParaRPr lang="he-IL" sz="2000" dirty="0"/>
          </a:p>
          <a:p>
            <a:r>
              <a:rPr lang="he-IL" sz="2000" dirty="0"/>
              <a:t>אם אנו רוצים ליצור מפתח ראשי לטבלה לאחר יצירת הטבלה, יש ליצור אותו בצורה הבאה:</a:t>
            </a:r>
            <a:endParaRPr lang="en-US" sz="2000" dirty="0"/>
          </a:p>
          <a:p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 	</a:t>
            </a:r>
            <a:endParaRPr lang="en-US" sz="1800" dirty="0"/>
          </a:p>
          <a:p>
            <a:endParaRPr lang="he-IL" sz="1800" dirty="0"/>
          </a:p>
          <a:p>
            <a:pPr algn="l" rtl="0">
              <a:buFontTx/>
              <a:buNone/>
            </a:pPr>
            <a:endParaRPr lang="en-US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960688"/>
            <a:ext cx="7162800" cy="100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7E9BC2C-3FE0-415C-B263-0B9E924CF6E2}" type="slidenum">
              <a:rPr lang="he-IL"/>
              <a:pPr/>
              <a:t>11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אילוצים (</a:t>
            </a:r>
            <a:r>
              <a:rPr lang="en-US" sz="3600" b="1" i="1" u="sng"/>
              <a:t> - (Constraints</a:t>
            </a:r>
            <a:r>
              <a:rPr lang="he-IL" sz="2800" b="1" i="1" u="sng"/>
              <a:t>(</a:t>
            </a:r>
            <a:r>
              <a:rPr lang="en-US" sz="2800" b="1" u="sng"/>
              <a:t>UNIQUE</a:t>
            </a:r>
            <a:r>
              <a:rPr lang="he-IL" sz="2800" b="1" i="1" u="sng"/>
              <a:t>)</a:t>
            </a:r>
            <a:endParaRPr lang="en-US" sz="28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  <a:defRPr/>
            </a:pPr>
            <a:endParaRPr lang="he-IL" sz="800" dirty="0"/>
          </a:p>
          <a:p>
            <a:pPr>
              <a:defRPr/>
            </a:pPr>
            <a:r>
              <a:rPr lang="he-IL" sz="2000" dirty="0"/>
              <a:t>ערך ייחודי (לא חוזר על עצמו), אבל </a:t>
            </a:r>
            <a:r>
              <a:rPr lang="he-IL" sz="2000" b="1" dirty="0"/>
              <a:t>יכול להישאר ריק</a:t>
            </a:r>
            <a:r>
              <a:rPr lang="he-IL" sz="2000" dirty="0"/>
              <a:t>.</a:t>
            </a:r>
            <a:endParaRPr lang="en-US" sz="2000" dirty="0"/>
          </a:p>
          <a:p>
            <a:pPr>
              <a:defRPr/>
            </a:pPr>
            <a:r>
              <a:rPr lang="he-IL" sz="2000" dirty="0"/>
              <a:t>בכל טבלה ניתן להגדיר פעם אחת אילוץ מסוג </a:t>
            </a:r>
            <a:r>
              <a:rPr lang="en-US" sz="2000" dirty="0"/>
              <a:t>PRIMARY KEY </a:t>
            </a:r>
            <a:r>
              <a:rPr lang="he-IL" sz="2000" dirty="0"/>
              <a:t>, אבל מסוג</a:t>
            </a:r>
            <a:r>
              <a:rPr lang="en-US" sz="2000" dirty="0"/>
              <a:t>UNIQUE </a:t>
            </a:r>
            <a:r>
              <a:rPr lang="he-IL" sz="2000" dirty="0"/>
              <a:t> ניתן להגדיר כמה שדות.</a:t>
            </a:r>
          </a:p>
          <a:p>
            <a:pPr>
              <a:defRPr/>
            </a:pPr>
            <a:endParaRPr lang="en-US" sz="2000" dirty="0"/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352798"/>
            <a:ext cx="3352800" cy="1228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D768BF-4A40-4D15-880C-9F27DB482009}" type="slidenum">
              <a:rPr lang="he-IL"/>
              <a:pPr/>
              <a:t>12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אילוצים (</a:t>
            </a:r>
            <a:r>
              <a:rPr lang="en-US" sz="3600" b="1" i="1" u="sng"/>
              <a:t> - (Constraints</a:t>
            </a:r>
            <a:r>
              <a:rPr lang="he-IL" sz="2800" b="1" i="1" u="sng"/>
              <a:t>(</a:t>
            </a:r>
            <a:r>
              <a:rPr lang="en-US" sz="2800" b="1" u="sng"/>
              <a:t>CHECK</a:t>
            </a:r>
            <a:r>
              <a:rPr lang="he-IL" sz="2800" b="1" i="1" u="sng"/>
              <a:t>)</a:t>
            </a:r>
            <a:endParaRPr lang="en-US" sz="28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  <a:defRPr/>
            </a:pPr>
            <a:endParaRPr lang="he-IL" sz="800" dirty="0"/>
          </a:p>
          <a:p>
            <a:pPr>
              <a:defRPr/>
            </a:pPr>
            <a:r>
              <a:rPr lang="he-IL" sz="2000" dirty="0"/>
              <a:t>הגדרת ערכים חוקיים לעמודה. כל ניסיון לשנות או להכניס ערכים שמפרים את הכלל הזה יכשלו, ותתקבל הודעת שגיאה.</a:t>
            </a:r>
          </a:p>
          <a:p>
            <a:pPr>
              <a:defRPr/>
            </a:pPr>
            <a:r>
              <a:rPr lang="he-IL" sz="2000" dirty="0"/>
              <a:t>הגדרת האילוץ בזמן בניית הטבלה.</a:t>
            </a:r>
            <a:endParaRPr lang="en-US" sz="800" dirty="0"/>
          </a:p>
          <a:p>
            <a:pPr algn="l" rtl="0">
              <a:buFont typeface="+mj-lt"/>
              <a:buAutoNum type="arabicPeriod"/>
              <a:defRPr/>
            </a:pPr>
            <a:endParaRPr lang="en-US" sz="800" dirty="0"/>
          </a:p>
          <a:p>
            <a:pPr lvl="1" algn="l" rtl="0">
              <a:buFont typeface="Arial" pitchFamily="34" charset="0"/>
              <a:buChar char="•"/>
              <a:defRPr/>
            </a:pPr>
            <a:endParaRPr lang="en-US" sz="1800" dirty="0">
              <a:ea typeface="+mn-ea"/>
              <a:cs typeface="+mn-cs"/>
            </a:endParaRPr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28" y="3071810"/>
            <a:ext cx="5286411" cy="1312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4643446"/>
            <a:ext cx="5286412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B878C6-8B78-4032-BC88-7D0033CBB9AF}" type="slidenum">
              <a:rPr lang="he-IL"/>
              <a:pPr/>
              <a:t>13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אילוצים (</a:t>
            </a:r>
            <a:r>
              <a:rPr lang="en-US" sz="3600" b="1" i="1" u="sng"/>
              <a:t> - (Constraints</a:t>
            </a:r>
            <a:r>
              <a:rPr lang="he-IL" sz="2800" b="1" i="1" u="sng"/>
              <a:t>(</a:t>
            </a:r>
            <a:r>
              <a:rPr lang="en-US" sz="2800" b="1" u="sng"/>
              <a:t>CHECK</a:t>
            </a:r>
            <a:r>
              <a:rPr lang="he-IL" sz="2800" b="1" i="1" u="sng"/>
              <a:t>)</a:t>
            </a:r>
            <a:endParaRPr lang="en-US" sz="28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  <a:defRPr/>
            </a:pPr>
            <a:endParaRPr lang="he-IL" sz="800" dirty="0"/>
          </a:p>
          <a:p>
            <a:pPr>
              <a:defRPr/>
            </a:pPr>
            <a:r>
              <a:rPr lang="he-IL" sz="2000" dirty="0"/>
              <a:t>הגדרת אילוץ לאחר בניית הטבלה:</a:t>
            </a:r>
            <a:endParaRPr lang="en-US" sz="2000" dirty="0"/>
          </a:p>
          <a:p>
            <a:pPr lvl="1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lvl="1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lvl="1" algn="l" rtl="0">
              <a:buFontTx/>
              <a:buNone/>
              <a:defRPr/>
            </a:pPr>
            <a:endParaRPr lang="en-US" sz="1800" dirty="0">
              <a:ea typeface="+mn-ea"/>
              <a:cs typeface="+mn-cs"/>
            </a:endParaRPr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4167"/>
            <a:ext cx="7467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EBC9D6A-6397-447D-B31D-E3E69832E964}" type="slidenum">
              <a:rPr lang="he-IL"/>
              <a:pPr/>
              <a:t>14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אילוצים (</a:t>
            </a:r>
            <a:r>
              <a:rPr lang="en-US" sz="3600" b="1" i="1" u="sng"/>
              <a:t> - (Constraints</a:t>
            </a:r>
            <a:r>
              <a:rPr lang="he-IL" sz="2800" b="1" i="1" u="sng"/>
              <a:t>(</a:t>
            </a:r>
            <a:r>
              <a:rPr lang="en-US" sz="2800" b="1" u="sng"/>
              <a:t>CHECK</a:t>
            </a:r>
            <a:r>
              <a:rPr lang="he-IL" sz="2800" b="1" i="1" u="sng"/>
              <a:t>)</a:t>
            </a:r>
            <a:endParaRPr lang="en-US" sz="28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  <a:defRPr/>
            </a:pPr>
            <a:endParaRPr lang="he-IL" sz="800" dirty="0"/>
          </a:p>
          <a:p>
            <a:pPr>
              <a:defRPr/>
            </a:pPr>
            <a:r>
              <a:rPr lang="he-IL" sz="2000" dirty="0"/>
              <a:t>ניסיון להכניס רשומות שסותרות את האילוץ:</a:t>
            </a:r>
          </a:p>
          <a:p>
            <a:pPr>
              <a:defRPr/>
            </a:pPr>
            <a:endParaRPr lang="en-US" sz="2000" dirty="0"/>
          </a:p>
          <a:p>
            <a:pPr lvl="1" algn="l" rtl="0">
              <a:buFontTx/>
              <a:buNone/>
              <a:defRPr/>
            </a:pPr>
            <a:endParaRPr lang="he-IL" sz="1800" dirty="0">
              <a:solidFill>
                <a:srgbClr val="FF0000"/>
              </a:solidFill>
              <a:ea typeface="+mn-ea"/>
              <a:cs typeface="+mn-cs"/>
            </a:endParaRPr>
          </a:p>
          <a:p>
            <a:pPr lvl="1" algn="l" rtl="0">
              <a:buFontTx/>
              <a:buNone/>
              <a:defRPr/>
            </a:pPr>
            <a:r>
              <a:rPr lang="en-US" sz="1800" b="1" dirty="0">
                <a:solidFill>
                  <a:srgbClr val="C00000"/>
                </a:solidFill>
                <a:ea typeface="+mn-ea"/>
                <a:cs typeface="+mn-cs"/>
              </a:rPr>
              <a:t>// error - '01-JAN-2001' </a:t>
            </a:r>
          </a:p>
          <a:p>
            <a:pPr lvl="1" algn="l" rtl="0">
              <a:buFontTx/>
              <a:buNone/>
              <a:defRPr/>
            </a:pPr>
            <a:endParaRPr lang="he-IL" sz="1800" dirty="0">
              <a:solidFill>
                <a:srgbClr val="FF0000"/>
              </a:solidFill>
              <a:ea typeface="+mn-ea"/>
              <a:cs typeface="+mn-cs"/>
            </a:endParaRPr>
          </a:p>
          <a:p>
            <a:pPr lvl="1" algn="l" rtl="0">
              <a:buFontTx/>
              <a:buNone/>
              <a:defRPr/>
            </a:pPr>
            <a:r>
              <a:rPr lang="en-US" sz="1800" b="1" dirty="0">
                <a:solidFill>
                  <a:srgbClr val="C00000"/>
                </a:solidFill>
                <a:ea typeface="+mn-ea"/>
                <a:cs typeface="+mn-cs"/>
              </a:rPr>
              <a:t>// error – P (!=Z)</a:t>
            </a:r>
          </a:p>
          <a:p>
            <a:pPr lvl="1" algn="l" rtl="0">
              <a:buFontTx/>
              <a:buNone/>
              <a:defRPr/>
            </a:pPr>
            <a:endParaRPr lang="en-US" sz="1800" dirty="0">
              <a:ea typeface="+mn-ea"/>
              <a:cs typeface="+mn-cs"/>
            </a:endParaRPr>
          </a:p>
          <a:p>
            <a:pPr marL="857250" lvl="1" indent="-457200" algn="l" rtl="0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667000"/>
            <a:ext cx="560832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3361266"/>
            <a:ext cx="5582920" cy="227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B28C77-47BB-4F1A-B8DE-775857F05C7E}" type="slidenum">
              <a:rPr lang="he-IL"/>
              <a:pPr/>
              <a:t>15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r>
              <a:rPr lang="he-IL" sz="2000" dirty="0"/>
              <a:t>עמודה שמוגדרת כמפתח זר יכולה לקבל רק ערכים שמוגדרים ב- </a:t>
            </a:r>
            <a:r>
              <a:rPr lang="en-US" sz="2000" dirty="0"/>
              <a:t>references</a:t>
            </a:r>
          </a:p>
          <a:p>
            <a:r>
              <a:rPr lang="he-IL" sz="2000" dirty="0"/>
              <a:t>למשל, ניתן להכניס לעמודה </a:t>
            </a:r>
            <a:r>
              <a:rPr lang="en-US" sz="2000" dirty="0" err="1"/>
              <a:t>dept_no</a:t>
            </a:r>
            <a:r>
              <a:rPr lang="he-IL" sz="2000" dirty="0"/>
              <a:t> (מס' מחלקה) לעובד רק את אחד מהערכים </a:t>
            </a:r>
            <a:r>
              <a:rPr lang="en-US" sz="2000" dirty="0"/>
              <a:t> </a:t>
            </a:r>
            <a:r>
              <a:rPr lang="en-US" sz="2000" dirty="0" err="1"/>
              <a:t>deptno</a:t>
            </a:r>
            <a:r>
              <a:rPr lang="he-IL" sz="2000" dirty="0"/>
              <a:t>שקיימים בטבלת המקורית (</a:t>
            </a:r>
            <a:r>
              <a:rPr lang="en-US" sz="2000" dirty="0" err="1"/>
              <a:t>dept</a:t>
            </a:r>
            <a:r>
              <a:rPr lang="he-IL" sz="2000" dirty="0"/>
              <a:t>). </a:t>
            </a:r>
          </a:p>
          <a:p>
            <a:r>
              <a:rPr lang="he-IL" sz="2000" dirty="0"/>
              <a:t>כמובן, הטבלה </a:t>
            </a:r>
            <a:r>
              <a:rPr lang="en-US" sz="2000" dirty="0" err="1"/>
              <a:t>dept</a:t>
            </a:r>
            <a:r>
              <a:rPr lang="he-IL" sz="2000" dirty="0"/>
              <a:t> חייבת להיווצר לפני </a:t>
            </a:r>
            <a:r>
              <a:rPr lang="en-US" sz="2000" dirty="0" err="1"/>
              <a:t>emp</a:t>
            </a:r>
            <a:r>
              <a:rPr lang="he-IL" sz="2000" dirty="0"/>
              <a:t>.</a:t>
            </a:r>
          </a:p>
          <a:p>
            <a:endParaRPr lang="en-US" sz="2000" dirty="0"/>
          </a:p>
          <a:p>
            <a:pPr algn="l" rtl="0">
              <a:buFontTx/>
              <a:buNone/>
            </a:pPr>
            <a:r>
              <a:rPr lang="en-US" sz="1800" dirty="0"/>
              <a:t>CREATE TABLE </a:t>
            </a:r>
            <a:r>
              <a:rPr lang="en-US" sz="1800" dirty="0" err="1"/>
              <a:t>Emp</a:t>
            </a:r>
            <a:endParaRPr lang="en-US" sz="1800" dirty="0"/>
          </a:p>
          <a:p>
            <a:pPr algn="l" rtl="0">
              <a:buFontTx/>
              <a:buNone/>
            </a:pPr>
            <a:r>
              <a:rPr lang="en-US" sz="1800" dirty="0"/>
              <a:t>(</a:t>
            </a:r>
          </a:p>
          <a:p>
            <a:pPr algn="l" rtl="0">
              <a:buFontTx/>
              <a:buNone/>
            </a:pPr>
            <a:r>
              <a:rPr lang="en-US" sz="1800" dirty="0" err="1"/>
              <a:t>emp_id</a:t>
            </a:r>
            <a:r>
              <a:rPr lang="en-US" sz="1800" dirty="0"/>
              <a:t>  NUMBER(3) PRIMARY KEY,</a:t>
            </a:r>
          </a:p>
          <a:p>
            <a:pPr algn="l" rtl="0">
              <a:buFontTx/>
              <a:buNone/>
            </a:pPr>
            <a:r>
              <a:rPr lang="en-US" sz="1800" dirty="0"/>
              <a:t>…………….</a:t>
            </a:r>
          </a:p>
          <a:p>
            <a:pPr algn="l" rtl="0">
              <a:buFontTx/>
              <a:buNone/>
            </a:pPr>
            <a:r>
              <a:rPr lang="en-US" sz="1800" dirty="0" err="1"/>
              <a:t>dept_no</a:t>
            </a:r>
            <a:r>
              <a:rPr lang="en-US" sz="1800" dirty="0"/>
              <a:t> NUMBER(3),</a:t>
            </a:r>
          </a:p>
          <a:p>
            <a:pPr algn="l" rtl="0">
              <a:buFontTx/>
              <a:buNone/>
            </a:pPr>
            <a:r>
              <a:rPr lang="en-US" sz="1800" b="1" dirty="0"/>
              <a:t>CONSTRAINT</a:t>
            </a:r>
            <a:r>
              <a:rPr lang="en-US" sz="1800" dirty="0"/>
              <a:t> </a:t>
            </a:r>
            <a:r>
              <a:rPr lang="en-US" sz="1800" dirty="0" err="1"/>
              <a:t>fk_emp</a:t>
            </a:r>
            <a:r>
              <a:rPr lang="en-US" sz="1800" dirty="0"/>
              <a:t>_ </a:t>
            </a:r>
            <a:r>
              <a:rPr lang="en-US" sz="1800" dirty="0" err="1"/>
              <a:t>dept_no</a:t>
            </a:r>
            <a:r>
              <a:rPr lang="en-US" sz="1800" dirty="0"/>
              <a:t> </a:t>
            </a:r>
            <a:r>
              <a:rPr lang="en-US" sz="1800" b="1" dirty="0"/>
              <a:t>FOREIGN KEY</a:t>
            </a:r>
            <a:r>
              <a:rPr lang="en-US" sz="1800" dirty="0"/>
              <a:t> (</a:t>
            </a:r>
            <a:r>
              <a:rPr lang="en-US" sz="1800" dirty="0" err="1"/>
              <a:t>dept_no</a:t>
            </a:r>
            <a:r>
              <a:rPr lang="en-US" sz="1800" dirty="0"/>
              <a:t>)  </a:t>
            </a:r>
          </a:p>
          <a:p>
            <a:pPr algn="l" rtl="0">
              <a:buFontTx/>
              <a:buNone/>
            </a:pPr>
            <a:r>
              <a:rPr lang="en-US" sz="1800" b="1" dirty="0"/>
              <a:t>	REFERENCES</a:t>
            </a:r>
            <a:r>
              <a:rPr lang="en-US" sz="1800" dirty="0"/>
              <a:t> </a:t>
            </a:r>
            <a:r>
              <a:rPr lang="en-US" sz="1800" dirty="0" err="1"/>
              <a:t>dept</a:t>
            </a:r>
            <a:r>
              <a:rPr lang="en-US" sz="1800" dirty="0"/>
              <a:t>(</a:t>
            </a:r>
            <a:r>
              <a:rPr lang="en-US" sz="1800" dirty="0" err="1"/>
              <a:t>deptno</a:t>
            </a:r>
            <a:r>
              <a:rPr lang="en-US" sz="1800" dirty="0"/>
              <a:t>)</a:t>
            </a:r>
          </a:p>
          <a:p>
            <a:pPr algn="l" rtl="0">
              <a:buFontTx/>
              <a:buNone/>
            </a:pPr>
            <a:r>
              <a:rPr lang="en-US" sz="1800" dirty="0"/>
              <a:t>);</a:t>
            </a:r>
          </a:p>
          <a:p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 	</a:t>
            </a:r>
            <a:endParaRPr lang="en-US" sz="1800" dirty="0"/>
          </a:p>
          <a:p>
            <a:endParaRPr lang="he-IL" sz="1800" dirty="0"/>
          </a:p>
          <a:p>
            <a:pPr algn="l" rtl="0">
              <a:buFontTx/>
              <a:buNone/>
            </a:pPr>
            <a:endParaRPr lang="en-US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  <p:sp>
        <p:nvSpPr>
          <p:cNvPr id="2" name="Left Brace 1"/>
          <p:cNvSpPr/>
          <p:nvPr/>
        </p:nvSpPr>
        <p:spPr>
          <a:xfrm rot="16200000">
            <a:off x="3257552" y="5661619"/>
            <a:ext cx="152401" cy="1143000"/>
          </a:xfrm>
          <a:prstGeom prst="leftBrac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705099" y="6269525"/>
            <a:ext cx="1371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deptno</a:t>
            </a:r>
            <a:r>
              <a:rPr lang="he-IL" sz="1600" dirty="0">
                <a:solidFill>
                  <a:schemeClr val="bg1"/>
                </a:solidFill>
              </a:rPr>
              <a:t> מפתח בטבלה </a:t>
            </a:r>
            <a:r>
              <a:rPr lang="en-US" sz="1600" dirty="0" err="1">
                <a:solidFill>
                  <a:schemeClr val="bg1"/>
                </a:solidFill>
              </a:rPr>
              <a:t>dept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Left Brace 6"/>
          <p:cNvSpPr/>
          <p:nvPr/>
        </p:nvSpPr>
        <p:spPr>
          <a:xfrm rot="5400000" flipV="1">
            <a:off x="5219703" y="4610101"/>
            <a:ext cx="152400" cy="990601"/>
          </a:xfrm>
          <a:prstGeom prst="leftBrac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00528" y="4605867"/>
            <a:ext cx="219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dirty="0">
                <a:solidFill>
                  <a:schemeClr val="bg1"/>
                </a:solidFill>
              </a:rPr>
              <a:t>מפתח (משני) בטבלה </a:t>
            </a:r>
            <a:r>
              <a:rPr lang="en-US" sz="1600" dirty="0" err="1">
                <a:solidFill>
                  <a:schemeClr val="bg1"/>
                </a:solidFill>
              </a:rPr>
              <a:t>emp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6" name="Curved Connector 5"/>
          <p:cNvCxnSpPr/>
          <p:nvPr/>
        </p:nvCxnSpPr>
        <p:spPr>
          <a:xfrm rot="10800000" flipV="1">
            <a:off x="4191000" y="4944420"/>
            <a:ext cx="1600204" cy="1393165"/>
          </a:xfrm>
          <a:prstGeom prst="curvedConnector3">
            <a:avLst>
              <a:gd name="adj1" fmla="val -9259"/>
            </a:avLst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19754" y="5914998"/>
            <a:ext cx="102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800" dirty="0">
                <a:solidFill>
                  <a:schemeClr val="bg1"/>
                </a:solidFill>
              </a:rPr>
              <a:t>מצביע על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1F8AC9-E487-4A56-9C82-2E621CED4FBA}" type="slidenum">
              <a:rPr lang="he-IL"/>
              <a:pPr/>
              <a:t>16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r>
              <a:rPr lang="he-IL" sz="2000" dirty="0"/>
              <a:t>אחרי יצירת הטבלה:</a:t>
            </a: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 algn="l" rtl="0"/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 	</a:t>
            </a:r>
            <a:endParaRPr lang="en-US" sz="1800" dirty="0"/>
          </a:p>
          <a:p>
            <a:r>
              <a:rPr lang="he-IL" sz="1800" dirty="0"/>
              <a:t>מפתח זר מתייחס לשדה/שדות בטבלה אחרת. השדות האלו חייבים להיות מפתח ראשי בטבלה שבה נמצאים.</a:t>
            </a:r>
            <a:endParaRPr lang="en-US" sz="1800" dirty="0"/>
          </a:p>
          <a:p>
            <a:r>
              <a:rPr lang="he-IL" sz="1800" dirty="0"/>
              <a:t>לא ניתן להוסיף ערכים למפתח הזר שלא מופיעים בשדה/ות בטבלה אליה מתייחס המפתח.</a:t>
            </a:r>
            <a:endParaRPr lang="en-US" sz="1800" dirty="0"/>
          </a:p>
          <a:p>
            <a:pPr>
              <a:buFontTx/>
              <a:buNone/>
            </a:pPr>
            <a:endParaRPr lang="he-IL" sz="1800" dirty="0"/>
          </a:p>
          <a:p>
            <a:pPr algn="l" rtl="0">
              <a:buFontTx/>
              <a:buNone/>
            </a:pPr>
            <a:endParaRPr lang="en-US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62200"/>
            <a:ext cx="681901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FB3107-3ED0-4E6A-B0AC-572255DDEE86}" type="slidenum">
              <a:rPr lang="he-IL"/>
              <a:pPr/>
              <a:t>17</a:t>
            </a:fld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752600"/>
            <a:ext cx="8429684" cy="4343400"/>
          </a:xfrm>
        </p:spPr>
        <p:txBody>
          <a:bodyPr/>
          <a:lstStyle/>
          <a:p>
            <a:pPr>
              <a:defRPr/>
            </a:pPr>
            <a:r>
              <a:rPr lang="he-IL" sz="2400" dirty="0"/>
              <a:t>במקרים הבאים מתקבלת </a:t>
            </a:r>
            <a:r>
              <a:rPr lang="en-US" sz="2400" dirty="0"/>
              <a:t>run-time error</a:t>
            </a:r>
            <a:r>
              <a:rPr lang="he-IL" sz="2400" dirty="0"/>
              <a:t>:</a:t>
            </a:r>
          </a:p>
          <a:p>
            <a:pPr>
              <a:buNone/>
              <a:defRPr/>
            </a:pPr>
            <a:endParaRPr lang="en-US" sz="2400" dirty="0"/>
          </a:p>
          <a:p>
            <a:pPr lvl="1">
              <a:defRPr/>
            </a:pPr>
            <a:r>
              <a:rPr lang="he-IL" sz="2000" dirty="0">
                <a:ea typeface="+mn-ea"/>
                <a:cs typeface="+mn-cs"/>
              </a:rPr>
              <a:t>הכנסת עובד חדש לטבלה </a:t>
            </a:r>
            <a:r>
              <a:rPr lang="en-US" sz="2000" dirty="0" err="1">
                <a:ea typeface="+mn-ea"/>
                <a:cs typeface="+mn-cs"/>
              </a:rPr>
              <a:t>emp</a:t>
            </a:r>
            <a:r>
              <a:rPr lang="he-IL" sz="2000" dirty="0">
                <a:ea typeface="+mn-ea"/>
                <a:cs typeface="+mn-cs"/>
              </a:rPr>
              <a:t> עם מספר מחלקה אשר </a:t>
            </a:r>
            <a:r>
              <a:rPr lang="he-IL" sz="2000" b="1" dirty="0">
                <a:ea typeface="+mn-ea"/>
                <a:cs typeface="+mn-cs"/>
              </a:rPr>
              <a:t>לא</a:t>
            </a:r>
            <a:r>
              <a:rPr lang="he-IL" sz="2000" dirty="0">
                <a:ea typeface="+mn-ea"/>
                <a:cs typeface="+mn-cs"/>
              </a:rPr>
              <a:t> קיים בטבלה </a:t>
            </a:r>
            <a:r>
              <a:rPr lang="en-US" sz="2000" dirty="0">
                <a:ea typeface="+mn-ea"/>
                <a:cs typeface="+mn-cs"/>
              </a:rPr>
              <a:t>dept</a:t>
            </a:r>
            <a:r>
              <a:rPr lang="he-IL" sz="2000" dirty="0">
                <a:ea typeface="+mn-ea"/>
                <a:cs typeface="+mn-cs"/>
              </a:rPr>
              <a:t>.</a:t>
            </a: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he-IL" sz="2000" dirty="0"/>
              <a:t>עדכון ערך של מספר מחלקה בטבלה </a:t>
            </a:r>
            <a:r>
              <a:rPr lang="en-US" sz="2000" dirty="0" err="1"/>
              <a:t>emp</a:t>
            </a:r>
            <a:r>
              <a:rPr lang="he-IL" sz="2000" dirty="0"/>
              <a:t> לערך אשר </a:t>
            </a:r>
            <a:r>
              <a:rPr lang="he-IL" sz="2000" b="1" dirty="0"/>
              <a:t>לא</a:t>
            </a:r>
            <a:r>
              <a:rPr lang="he-IL" sz="2000" dirty="0"/>
              <a:t> מופיע בטבלה </a:t>
            </a:r>
            <a:r>
              <a:rPr lang="en-US" sz="2000" dirty="0"/>
              <a:t>dept</a:t>
            </a:r>
            <a:r>
              <a:rPr lang="he-IL" sz="2000" dirty="0"/>
              <a:t>.</a:t>
            </a:r>
            <a:endParaRPr lang="en-US" sz="2000" dirty="0"/>
          </a:p>
          <a:p>
            <a:pPr lvl="1">
              <a:defRPr/>
            </a:pPr>
            <a:r>
              <a:rPr lang="he-IL" sz="2000" dirty="0">
                <a:ea typeface="+mn-ea"/>
                <a:cs typeface="+mn-cs"/>
              </a:rPr>
              <a:t>מחיקה\שינוי נתונים של מחלקה מטבלה </a:t>
            </a:r>
            <a:r>
              <a:rPr lang="en-US" sz="2000" dirty="0">
                <a:ea typeface="+mn-ea"/>
                <a:cs typeface="+mn-cs"/>
              </a:rPr>
              <a:t>dept</a:t>
            </a:r>
            <a:r>
              <a:rPr lang="he-IL" sz="2000" dirty="0">
                <a:ea typeface="+mn-ea"/>
                <a:cs typeface="+mn-cs"/>
              </a:rPr>
              <a:t> אשר קיימים </a:t>
            </a:r>
            <a:r>
              <a:rPr lang="en-US" sz="2000" dirty="0">
                <a:ea typeface="+mn-ea"/>
                <a:cs typeface="+mn-cs"/>
              </a:rPr>
              <a:t>references</a:t>
            </a:r>
            <a:r>
              <a:rPr lang="he-IL" sz="2000" dirty="0">
                <a:ea typeface="+mn-ea"/>
                <a:cs typeface="+mn-cs"/>
              </a:rPr>
              <a:t> </a:t>
            </a:r>
          </a:p>
          <a:p>
            <a:pPr lvl="1">
              <a:buNone/>
              <a:defRPr/>
            </a:pPr>
            <a:r>
              <a:rPr lang="he-IL" sz="2000" dirty="0">
                <a:ea typeface="+mn-ea"/>
                <a:cs typeface="+mn-cs"/>
              </a:rPr>
              <a:t>	למחלקה זו בטבלה </a:t>
            </a:r>
            <a:r>
              <a:rPr lang="en-US" sz="2000" dirty="0" err="1">
                <a:ea typeface="+mn-ea"/>
                <a:cs typeface="+mn-cs"/>
              </a:rPr>
              <a:t>emp</a:t>
            </a:r>
            <a:r>
              <a:rPr lang="he-IL" sz="2000" dirty="0">
                <a:ea typeface="+mn-ea"/>
                <a:cs typeface="+mn-cs"/>
              </a:rPr>
              <a:t>.</a:t>
            </a:r>
            <a:endParaRPr lang="en-US" sz="2000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endParaRPr lang="he-IL" sz="1800" dirty="0"/>
          </a:p>
          <a:p>
            <a:pPr algn="l" rtl="0">
              <a:buFontTx/>
              <a:buNone/>
              <a:defRPr/>
            </a:pPr>
            <a:endParaRPr lang="en-US" sz="1800" dirty="0"/>
          </a:p>
          <a:p>
            <a:pPr>
              <a:defRPr/>
            </a:pPr>
            <a:endParaRPr lang="he-IL" sz="1800" dirty="0"/>
          </a:p>
          <a:p>
            <a:pPr>
              <a:defRPr/>
            </a:pPr>
            <a:endParaRPr lang="he-IL" sz="1800" dirty="0"/>
          </a:p>
          <a:p>
            <a:pPr>
              <a:defRPr/>
            </a:pPr>
            <a:endParaRPr lang="he-IL" sz="1800" dirty="0"/>
          </a:p>
          <a:p>
            <a:pPr algn="l" eaLnBrk="1" hangingPunct="1">
              <a:buFontTx/>
              <a:buNone/>
              <a:defRPr/>
            </a:pPr>
            <a:endParaRPr lang="he-IL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025948-21CA-4562-9D4A-9450656835AC}" type="slidenum">
              <a:rPr lang="he-IL"/>
              <a:pPr/>
              <a:t>18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101042" cy="4343400"/>
          </a:xfrm>
        </p:spPr>
        <p:txBody>
          <a:bodyPr/>
          <a:lstStyle/>
          <a:p>
            <a:r>
              <a:rPr lang="he-IL" sz="2000" dirty="0"/>
              <a:t>ברגע שיוצרים מפתח זר אשר מתייחס לטבלה אחרת לא ניתן יהיה למחוק את הטבלה (האחרת) או חלק ממנה.</a:t>
            </a:r>
          </a:p>
          <a:p>
            <a:r>
              <a:rPr lang="he-IL" sz="2000" dirty="0"/>
              <a:t>למשל,</a:t>
            </a:r>
            <a:endParaRPr lang="en-US" sz="2000" dirty="0"/>
          </a:p>
          <a:p>
            <a:pPr algn="l" rtl="0">
              <a:buFontTx/>
              <a:buNone/>
            </a:pPr>
            <a:r>
              <a:rPr lang="en-US" sz="1800" dirty="0"/>
              <a:t>DELETE FROM dept;</a:t>
            </a:r>
          </a:p>
          <a:p>
            <a:pPr algn="l" rtl="0">
              <a:buFontTx/>
              <a:buNone/>
            </a:pPr>
            <a:r>
              <a:rPr lang="en-US" sz="1800" b="1" dirty="0">
                <a:solidFill>
                  <a:srgbClr val="C00000"/>
                </a:solidFill>
              </a:rPr>
              <a:t>Error: integrity constraint (SCOTT.FK_DEPNO) violated – child record found.</a:t>
            </a:r>
          </a:p>
          <a:p>
            <a:pPr algn="l" rtl="0">
              <a:buFontTx/>
              <a:buNone/>
            </a:pPr>
            <a:endParaRPr lang="en-US" sz="800" dirty="0"/>
          </a:p>
          <a:p>
            <a:pPr algn="l" rtl="0">
              <a:buFontTx/>
              <a:buNone/>
            </a:pPr>
            <a:r>
              <a:rPr lang="en-US" sz="1800" dirty="0"/>
              <a:t>DROP TABLE dept;</a:t>
            </a:r>
          </a:p>
          <a:p>
            <a:pPr algn="l" rtl="0">
              <a:buFontTx/>
              <a:buNone/>
            </a:pPr>
            <a:r>
              <a:rPr lang="en-US" sz="1800" b="1" dirty="0">
                <a:solidFill>
                  <a:srgbClr val="C00000"/>
                </a:solidFill>
              </a:rPr>
              <a:t>Error: unique/primary key in table referenced by foreign key;</a:t>
            </a:r>
          </a:p>
          <a:p>
            <a:pPr algn="l" rtl="0">
              <a:buFontTx/>
              <a:buNone/>
            </a:pPr>
            <a:r>
              <a:rPr lang="en-US" sz="800" dirty="0"/>
              <a:t> </a:t>
            </a:r>
          </a:p>
          <a:p>
            <a:pPr>
              <a:buFontTx/>
              <a:buNone/>
            </a:pPr>
            <a:endParaRPr lang="he-IL" sz="1800" dirty="0"/>
          </a:p>
          <a:p>
            <a:pPr algn="l" rtl="0">
              <a:buFontTx/>
              <a:buNone/>
            </a:pPr>
            <a:endParaRPr lang="en-US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CFE5333-F91F-434F-8C32-10B3B73DAD1D}" type="slidenum">
              <a:rPr lang="he-IL"/>
              <a:pPr/>
              <a:t>19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pPr>
              <a:defRPr/>
            </a:pPr>
            <a:r>
              <a:rPr lang="he-IL" sz="2000" dirty="0"/>
              <a:t>מחיקת טבלאות שיש בהן קשר ע"י מפתח זר צריך לבצע בסדר הבא:</a:t>
            </a:r>
            <a:endParaRPr lang="en-US" sz="2000" dirty="0"/>
          </a:p>
          <a:p>
            <a:pPr lvl="1">
              <a:defRPr/>
            </a:pPr>
            <a:r>
              <a:rPr lang="he-IL" sz="2000" dirty="0">
                <a:ea typeface="+mn-ea"/>
                <a:cs typeface="+mn-cs"/>
              </a:rPr>
              <a:t>קודם למחוק טבלה שמוגדר בה מפתח זר (מצד </a:t>
            </a:r>
            <a:r>
              <a:rPr lang="en-US" sz="2000" dirty="0">
                <a:ea typeface="+mn-ea"/>
                <a:cs typeface="+mn-cs"/>
              </a:rPr>
              <a:t>many</a:t>
            </a:r>
            <a:r>
              <a:rPr lang="he-IL" sz="2000" dirty="0">
                <a:ea typeface="+mn-ea"/>
                <a:cs typeface="+mn-cs"/>
              </a:rPr>
              <a:t>) ורק אחר כך טבלה ראשית (מצד </a:t>
            </a:r>
            <a:r>
              <a:rPr lang="en-US" sz="2000" dirty="0">
                <a:ea typeface="+mn-ea"/>
                <a:cs typeface="+mn-cs"/>
              </a:rPr>
              <a:t>one</a:t>
            </a:r>
            <a:r>
              <a:rPr lang="he-IL" sz="2000" dirty="0">
                <a:ea typeface="+mn-ea"/>
                <a:cs typeface="+mn-cs"/>
              </a:rPr>
              <a:t>)</a:t>
            </a:r>
            <a:endParaRPr lang="en-US" sz="2000" dirty="0">
              <a:ea typeface="+mn-ea"/>
              <a:cs typeface="+mn-cs"/>
            </a:endParaRPr>
          </a:p>
          <a:p>
            <a:pPr lvl="1">
              <a:defRPr/>
            </a:pPr>
            <a:r>
              <a:rPr lang="he-IL" sz="2000" dirty="0">
                <a:ea typeface="+mn-ea"/>
                <a:cs typeface="+mn-cs"/>
              </a:rPr>
              <a:t>למשל, קודם יש למחוק</a:t>
            </a:r>
            <a:r>
              <a:rPr lang="en-US" sz="2000" dirty="0" err="1">
                <a:ea typeface="+mn-ea"/>
                <a:cs typeface="+mn-cs"/>
              </a:rPr>
              <a:t>emp</a:t>
            </a:r>
            <a:r>
              <a:rPr lang="en-US" sz="2000" dirty="0">
                <a:ea typeface="+mn-ea"/>
                <a:cs typeface="+mn-cs"/>
              </a:rPr>
              <a:t> </a:t>
            </a:r>
            <a:r>
              <a:rPr lang="he-IL" sz="2000" dirty="0">
                <a:ea typeface="+mn-ea"/>
                <a:cs typeface="+mn-cs"/>
              </a:rPr>
              <a:t> ורק אחר כך </a:t>
            </a:r>
            <a:r>
              <a:rPr lang="en-US" sz="2000" dirty="0">
                <a:ea typeface="+mn-ea"/>
                <a:cs typeface="+mn-cs"/>
              </a:rPr>
              <a:t>dept</a:t>
            </a:r>
            <a:r>
              <a:rPr lang="he-IL" sz="2000" dirty="0">
                <a:ea typeface="+mn-ea"/>
                <a:cs typeface="+mn-cs"/>
              </a:rPr>
              <a:t>.</a:t>
            </a:r>
            <a:endParaRPr lang="en-US" sz="2000" dirty="0">
              <a:ea typeface="+mn-ea"/>
              <a:cs typeface="+mn-cs"/>
            </a:endParaRPr>
          </a:p>
          <a:p>
            <a:pPr algn="l" rtl="0">
              <a:buFontTx/>
              <a:buNone/>
              <a:defRPr/>
            </a:pPr>
            <a:r>
              <a:rPr lang="en-US" sz="2000" dirty="0"/>
              <a:t>DROP TABLE </a:t>
            </a:r>
            <a:r>
              <a:rPr lang="en-US" sz="2000" dirty="0" err="1"/>
              <a:t>emp</a:t>
            </a:r>
            <a:r>
              <a:rPr lang="en-US" sz="2000" dirty="0"/>
              <a:t>;</a:t>
            </a:r>
          </a:p>
          <a:p>
            <a:pPr algn="l" rtl="0">
              <a:buFontTx/>
              <a:buNone/>
              <a:defRPr/>
            </a:pPr>
            <a:r>
              <a:rPr lang="en-US" sz="2000" dirty="0"/>
              <a:t>DROP TABLE dept;</a:t>
            </a:r>
          </a:p>
          <a:p>
            <a:pPr>
              <a:buFontTx/>
              <a:buNone/>
              <a:defRPr/>
            </a:pPr>
            <a:endParaRPr lang="he-IL" sz="1800" dirty="0"/>
          </a:p>
          <a:p>
            <a:pPr algn="l" rtl="0">
              <a:buFontTx/>
              <a:buNone/>
              <a:defRPr/>
            </a:pPr>
            <a:endParaRPr lang="en-US" sz="1800" dirty="0"/>
          </a:p>
          <a:p>
            <a:pPr>
              <a:defRPr/>
            </a:pPr>
            <a:endParaRPr lang="he-IL" sz="1800" dirty="0"/>
          </a:p>
          <a:p>
            <a:pPr>
              <a:defRPr/>
            </a:pPr>
            <a:endParaRPr lang="he-IL" sz="1800" dirty="0"/>
          </a:p>
          <a:p>
            <a:pPr>
              <a:defRPr/>
            </a:pPr>
            <a:endParaRPr lang="he-IL" sz="1800" dirty="0"/>
          </a:p>
          <a:p>
            <a:pPr algn="l" eaLnBrk="1" hangingPunct="1">
              <a:buFontTx/>
              <a:buNone/>
              <a:defRPr/>
            </a:pPr>
            <a:endParaRPr lang="he-IL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0DE3326-78C1-422C-8544-7292032E1646}" type="slidenum">
              <a:rPr lang="he-IL"/>
              <a:pPr/>
              <a:t>20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3676664"/>
          </a:xfrm>
        </p:spPr>
        <p:txBody>
          <a:bodyPr/>
          <a:lstStyle/>
          <a:p>
            <a:pPr algn="ctr">
              <a:buFontTx/>
              <a:buNone/>
            </a:pPr>
            <a:r>
              <a:rPr lang="he-IL" sz="2000" b="1" u="sng" dirty="0"/>
              <a:t>אופציה  </a:t>
            </a:r>
            <a:r>
              <a:rPr lang="en-US" sz="2000" b="1" u="sng" dirty="0"/>
              <a:t>ON DELETE CASCADE for FOREIGN KEY</a:t>
            </a:r>
            <a:endParaRPr lang="en-US" sz="2000" dirty="0"/>
          </a:p>
          <a:p>
            <a:pPr algn="ctr">
              <a:buFontTx/>
              <a:buNone/>
            </a:pPr>
            <a:endParaRPr lang="en-US" sz="800" dirty="0"/>
          </a:p>
          <a:p>
            <a:pPr>
              <a:buFontTx/>
              <a:buNone/>
            </a:pPr>
            <a:endParaRPr lang="en-US" sz="800" dirty="0"/>
          </a:p>
          <a:p>
            <a:r>
              <a:rPr lang="he-IL" sz="2000" dirty="0"/>
              <a:t>לדוגמא:</a:t>
            </a:r>
            <a:endParaRPr lang="en-US" sz="2000" dirty="0"/>
          </a:p>
          <a:p>
            <a:pPr algn="l" rtl="0">
              <a:buFontTx/>
              <a:buNone/>
            </a:pPr>
            <a:r>
              <a:rPr lang="en-US" sz="2000" dirty="0"/>
              <a:t> </a:t>
            </a:r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he-IL" sz="2000" dirty="0"/>
          </a:p>
          <a:p>
            <a:pPr algn="l" rtl="0">
              <a:buFontTx/>
              <a:buNone/>
            </a:pPr>
            <a:endParaRPr lang="en-US" sz="2000" dirty="0"/>
          </a:p>
          <a:p>
            <a:r>
              <a:rPr lang="he-IL" sz="2000" dirty="0"/>
              <a:t>אם מוחקים שורה ב- </a:t>
            </a:r>
            <a:r>
              <a:rPr lang="en-US" sz="2000" dirty="0"/>
              <a:t>dept)</a:t>
            </a:r>
            <a:r>
              <a:rPr lang="he-IL" sz="2000" dirty="0"/>
              <a:t> בטבלה הראשית) כל הרשומות התואמות נמחקות באופן אוטומטי מ-</a:t>
            </a:r>
            <a:r>
              <a:rPr lang="en-US" sz="2000" dirty="0" err="1"/>
              <a:t>emp</a:t>
            </a:r>
            <a:r>
              <a:rPr lang="en-US" sz="2000" dirty="0"/>
              <a:t> </a:t>
            </a:r>
            <a:r>
              <a:rPr lang="he-IL" sz="2000" dirty="0"/>
              <a:t> (בטבלה המשנית).</a:t>
            </a:r>
            <a:endParaRPr lang="en-US" sz="20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857496"/>
            <a:ext cx="610479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23BD2D-78A9-4AAB-A02C-47B4FBC80EAF}" type="slidenum">
              <a:rPr lang="he-IL"/>
              <a:pPr/>
              <a:t>21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r>
              <a:rPr lang="he-IL" sz="2000" b="1" u="sng"/>
              <a:t>אופציות  הבאות לא עובדות ב- </a:t>
            </a:r>
            <a:r>
              <a:rPr lang="en-US" sz="2000" b="1" u="sng"/>
              <a:t>Oracle</a:t>
            </a:r>
            <a:r>
              <a:rPr lang="he-IL" sz="2000" b="1" u="sng"/>
              <a:t>:</a:t>
            </a:r>
            <a:endParaRPr lang="en-US" sz="2000"/>
          </a:p>
          <a:p>
            <a:pPr lvl="1"/>
            <a:r>
              <a:rPr lang="he-IL" sz="1800"/>
              <a:t>עדכון מדורג  - </a:t>
            </a:r>
            <a:r>
              <a:rPr lang="en-US" sz="1800"/>
              <a:t>ON UPDATE CASCADE</a:t>
            </a:r>
          </a:p>
          <a:p>
            <a:pPr lvl="1"/>
            <a:r>
              <a:rPr lang="he-IL" sz="1800"/>
              <a:t>השמת ערך </a:t>
            </a:r>
            <a:r>
              <a:rPr lang="en-US" sz="1800"/>
              <a:t>NULL</a:t>
            </a:r>
            <a:r>
              <a:rPr lang="he-IL" sz="1800"/>
              <a:t> לשדה רלוונטי ברשימות הרלוונטיות      </a:t>
            </a:r>
          </a:p>
          <a:p>
            <a:pPr lvl="1">
              <a:buFontTx/>
              <a:buNone/>
            </a:pPr>
            <a:r>
              <a:rPr lang="he-IL" sz="1800"/>
              <a:t>	- </a:t>
            </a:r>
            <a:r>
              <a:rPr lang="en-US" sz="1800"/>
              <a:t>ON DELETE SET NULL</a:t>
            </a:r>
          </a:p>
          <a:p>
            <a:endParaRPr lang="he-IL" sz="1800"/>
          </a:p>
          <a:p>
            <a:endParaRPr lang="he-IL" sz="1800"/>
          </a:p>
          <a:p>
            <a:endParaRPr lang="he-IL" sz="1800"/>
          </a:p>
          <a:p>
            <a:pPr algn="l" eaLnBrk="1" hangingPunct="1">
              <a:buFontTx/>
              <a:buNone/>
            </a:pPr>
            <a:endParaRPr lang="he-IL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2DDE08-BD1E-4E1A-BA8E-3C7E07D90DE3}" type="slidenum">
              <a:rPr lang="he-IL"/>
              <a:pPr/>
              <a:t>22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r>
              <a:rPr lang="he-IL" sz="2000" dirty="0"/>
              <a:t>לקבלת מידע על</a:t>
            </a:r>
            <a:r>
              <a:rPr lang="en-US" sz="2000" dirty="0"/>
              <a:t> primary key </a:t>
            </a:r>
            <a:r>
              <a:rPr lang="he-IL" sz="2000" dirty="0"/>
              <a:t>ו-</a:t>
            </a:r>
            <a:r>
              <a:rPr lang="en-US" sz="2000" dirty="0"/>
              <a:t> foreign key</a:t>
            </a:r>
            <a:r>
              <a:rPr lang="he-IL" sz="2000" dirty="0"/>
              <a:t>כהגבלות לטבלה:</a:t>
            </a: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r>
              <a:rPr lang="he-IL" sz="2000" dirty="0"/>
              <a:t>לקבלת מידע על הגבלות על שדות:</a:t>
            </a:r>
            <a:endParaRPr lang="en-US" sz="2000" dirty="0"/>
          </a:p>
          <a:p>
            <a:pPr algn="l" rtl="0">
              <a:buFontTx/>
              <a:buNone/>
            </a:pPr>
            <a:r>
              <a:rPr lang="he-IL" sz="2000" dirty="0"/>
              <a:t> </a:t>
            </a:r>
            <a:endParaRPr lang="en-US" sz="2000" dirty="0"/>
          </a:p>
          <a:p>
            <a:pPr algn="ctr">
              <a:buFontTx/>
              <a:buNone/>
            </a:pPr>
            <a:endParaRPr lang="he-IL" sz="2000" b="1" u="sng" dirty="0">
              <a:solidFill>
                <a:srgbClr val="FF0000"/>
              </a:solidFill>
            </a:endParaRPr>
          </a:p>
          <a:p>
            <a:pPr algn="ctr">
              <a:buFontTx/>
              <a:buNone/>
            </a:pPr>
            <a:endParaRPr lang="he-IL" sz="2000" b="1" u="sng" dirty="0">
              <a:solidFill>
                <a:srgbClr val="FF0000"/>
              </a:solidFill>
            </a:endParaRPr>
          </a:p>
          <a:p>
            <a:pPr algn="ctr">
              <a:buFontTx/>
              <a:buNone/>
            </a:pPr>
            <a:r>
              <a:rPr lang="he-IL" sz="2000" b="1" u="sng" dirty="0">
                <a:solidFill>
                  <a:srgbClr val="C00000"/>
                </a:solidFill>
              </a:rPr>
              <a:t>שם הטבלה חייב להיות באותיות גדולות.</a:t>
            </a:r>
            <a:endParaRPr lang="en-US" sz="2000" b="1" u="sng" dirty="0">
              <a:solidFill>
                <a:srgbClr val="C00000"/>
              </a:solidFill>
            </a:endParaRPr>
          </a:p>
          <a:p>
            <a:pPr>
              <a:buFontTx/>
              <a:buNone/>
            </a:pPr>
            <a:endParaRPr lang="he-IL" sz="1800" dirty="0"/>
          </a:p>
          <a:p>
            <a:pPr algn="l" rtl="0">
              <a:buFontTx/>
              <a:buNone/>
            </a:pPr>
            <a:endParaRPr lang="en-US" sz="18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6934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971800"/>
            <a:ext cx="6934200" cy="279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3844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85DB0E-644C-400C-B02B-3BE19D408FA7}" type="slidenum">
              <a:rPr lang="he-IL"/>
              <a:pPr/>
              <a:t>23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r>
              <a:rPr lang="he-IL" sz="2000" dirty="0"/>
              <a:t>דוגמא:</a:t>
            </a:r>
          </a:p>
          <a:p>
            <a:pPr algn="l" rtl="0">
              <a:buFontTx/>
              <a:buNone/>
            </a:pPr>
            <a:r>
              <a:rPr lang="en-US" sz="2000" dirty="0"/>
              <a:t>SELECT * FROM </a:t>
            </a:r>
            <a:r>
              <a:rPr lang="en-US" sz="2000" dirty="0" err="1"/>
              <a:t>user_constraints</a:t>
            </a:r>
            <a:r>
              <a:rPr lang="en-US" sz="2000" dirty="0"/>
              <a:t> WHERE </a:t>
            </a:r>
            <a:r>
              <a:rPr lang="en-US" sz="2000" dirty="0" err="1"/>
              <a:t>table_name</a:t>
            </a:r>
            <a:r>
              <a:rPr lang="en-US" sz="2000" dirty="0"/>
              <a:t>='EMP';</a:t>
            </a:r>
          </a:p>
          <a:p>
            <a:pPr algn="l" rtl="0">
              <a:buFontTx/>
              <a:buNone/>
            </a:pPr>
            <a:r>
              <a:rPr lang="en-US" sz="2000" b="1" dirty="0"/>
              <a:t>Output:</a:t>
            </a:r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r>
              <a:rPr lang="en-US" sz="2000" dirty="0"/>
              <a:t>SELECT * FROM </a:t>
            </a:r>
            <a:r>
              <a:rPr lang="en-US" sz="2000" dirty="0" err="1"/>
              <a:t>user_constraints</a:t>
            </a:r>
            <a:r>
              <a:rPr lang="en-US" sz="2000" dirty="0"/>
              <a:t> WHERE </a:t>
            </a:r>
            <a:r>
              <a:rPr lang="en-US" sz="2000" dirty="0" err="1"/>
              <a:t>table_name</a:t>
            </a:r>
            <a:r>
              <a:rPr lang="en-US" sz="2000" dirty="0"/>
              <a:t>=‘DEPT';</a:t>
            </a:r>
          </a:p>
          <a:p>
            <a:pPr algn="l" rtl="0">
              <a:buFontTx/>
              <a:buNone/>
            </a:pPr>
            <a:r>
              <a:rPr lang="en-US" sz="2000" b="1" dirty="0"/>
              <a:t>Output:</a:t>
            </a:r>
          </a:p>
          <a:p>
            <a:pPr algn="l" rtl="0">
              <a:buFontTx/>
              <a:buNone/>
            </a:pPr>
            <a:endParaRPr lang="en-US" sz="2000" dirty="0"/>
          </a:p>
          <a:p>
            <a:endParaRPr lang="en-US" sz="2000" dirty="0"/>
          </a:p>
          <a:p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  <p:pic>
        <p:nvPicPr>
          <p:cNvPr id="2560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5105400"/>
            <a:ext cx="7848600" cy="115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590800"/>
            <a:ext cx="69342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49EB19-9F80-46CE-877B-2B68F334A403}" type="slidenum">
              <a:rPr lang="he-IL"/>
              <a:pPr/>
              <a:t>24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77200" cy="4343400"/>
          </a:xfrm>
        </p:spPr>
        <p:txBody>
          <a:bodyPr/>
          <a:lstStyle/>
          <a:p>
            <a:r>
              <a:rPr lang="he-IL" sz="2000" dirty="0"/>
              <a:t>מחיקת הגבלות (רק במקרה שידוע לנו השם):</a:t>
            </a:r>
          </a:p>
          <a:p>
            <a:endParaRPr lang="he-IL" sz="800" b="1" u="sng" dirty="0"/>
          </a:p>
          <a:p>
            <a:pPr algn="l" rtl="0">
              <a:buFontTx/>
              <a:buNone/>
            </a:pPr>
            <a:endParaRPr lang="he-IL" sz="2000" b="1" u="sng" dirty="0"/>
          </a:p>
          <a:p>
            <a:endParaRPr lang="en-US" sz="2000" b="1" u="sng" dirty="0"/>
          </a:p>
          <a:p>
            <a:r>
              <a:rPr lang="he-IL" sz="2000" dirty="0"/>
              <a:t>לדוגמא:</a:t>
            </a:r>
          </a:p>
          <a:p>
            <a:pPr lvl="1"/>
            <a:endParaRPr lang="he-IL" sz="1400" dirty="0"/>
          </a:p>
          <a:p>
            <a:endParaRPr lang="he-IL" sz="1800" dirty="0"/>
          </a:p>
          <a:p>
            <a:endParaRPr lang="he-IL" sz="1800" dirty="0"/>
          </a:p>
          <a:p>
            <a:pPr algn="l" eaLnBrk="1" hangingPunct="1">
              <a:buFontTx/>
              <a:buNone/>
            </a:pPr>
            <a:endParaRPr lang="he-IL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285991"/>
            <a:ext cx="6286544" cy="232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357562"/>
            <a:ext cx="6286544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B620E6-E77D-448C-B725-CD0A0502681B}" type="slidenum">
              <a:rPr lang="he-IL"/>
              <a:pPr/>
              <a:t>25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2000" y="1295400"/>
            <a:ext cx="777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he-IL" sz="1800" kern="0" dirty="0">
                <a:latin typeface="+mn-lt"/>
                <a:ea typeface="+mn-ea"/>
                <a:cs typeface="+mn-cs"/>
              </a:rPr>
              <a:t>נראה קודם את האילוצים של הטבלאות </a:t>
            </a:r>
            <a:r>
              <a:rPr lang="en-US" sz="1800" kern="0" dirty="0">
                <a:latin typeface="+mn-lt"/>
                <a:ea typeface="+mn-ea"/>
                <a:cs typeface="+mn-cs"/>
              </a:rPr>
              <a:t>EMP</a:t>
            </a:r>
            <a:r>
              <a:rPr lang="he-IL" sz="1800" kern="0" dirty="0">
                <a:latin typeface="+mn-lt"/>
                <a:ea typeface="+mn-ea"/>
                <a:cs typeface="+mn-cs"/>
              </a:rPr>
              <a:t> ו </a:t>
            </a:r>
            <a:r>
              <a:rPr lang="en-US" sz="1800" kern="0" dirty="0">
                <a:latin typeface="+mn-lt"/>
                <a:ea typeface="+mn-ea"/>
                <a:cs typeface="+mn-cs"/>
              </a:rPr>
              <a:t>DEPT</a:t>
            </a:r>
            <a:r>
              <a:rPr lang="he-IL" sz="1800" kern="0" dirty="0">
                <a:latin typeface="+mn-lt"/>
                <a:ea typeface="+mn-ea"/>
                <a:cs typeface="+mn-cs"/>
              </a:rPr>
              <a:t> </a:t>
            </a: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algn="l" rtl="0" eaLnBrk="0" hangingPunct="0">
              <a:spcBef>
                <a:spcPct val="20000"/>
              </a:spcBef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algn="l" rtl="0" eaLnBrk="0" hangingPunct="0">
              <a:spcBef>
                <a:spcPct val="20000"/>
              </a:spcBef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algn="l" rtl="0" eaLnBrk="0" hangingPunct="0">
              <a:spcBef>
                <a:spcPct val="20000"/>
              </a:spcBef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algn="l" rtl="0" eaLnBrk="0" hangingPunct="0">
              <a:spcBef>
                <a:spcPct val="20000"/>
              </a:spcBef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algn="l" rtl="0" eaLnBrk="0" hangingPunct="0">
              <a:spcBef>
                <a:spcPct val="20000"/>
              </a:spcBef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algn="l" rtl="0" eaLnBrk="0" hangingPunct="0">
              <a:spcBef>
                <a:spcPct val="20000"/>
              </a:spcBef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algn="l" rtl="0" eaLnBrk="0" hangingPunct="0">
              <a:spcBef>
                <a:spcPct val="20000"/>
              </a:spcBef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algn="l" rtl="0" eaLnBrk="0" hangingPunct="0">
              <a:spcBef>
                <a:spcPct val="20000"/>
              </a:spcBef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algn="l" rtl="0" eaLnBrk="0" hangingPunct="0">
              <a:spcBef>
                <a:spcPct val="20000"/>
              </a:spcBef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he-IL" sz="1800" kern="0" dirty="0"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he-IL" sz="800" kern="0" dirty="0"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he-IL" sz="1800" kern="0" dirty="0">
                <a:latin typeface="+mn-lt"/>
                <a:ea typeface="+mn-ea"/>
                <a:cs typeface="+mn-cs"/>
              </a:rPr>
              <a:t>כעת נמחק את האילוץ</a:t>
            </a:r>
            <a:r>
              <a:rPr lang="en-US" sz="1800" kern="0" dirty="0">
                <a:latin typeface="+mn-lt"/>
                <a:ea typeface="+mn-ea"/>
                <a:cs typeface="+mn-cs"/>
              </a:rPr>
              <a:t> DEPT_PRIMARY_KEY </a:t>
            </a:r>
            <a:r>
              <a:rPr lang="he-IL" sz="1800" kern="0" dirty="0">
                <a:latin typeface="+mn-lt"/>
                <a:ea typeface="+mn-ea"/>
                <a:cs typeface="+mn-cs"/>
              </a:rPr>
              <a:t>שהוא המפתח הראשי של הטבלה </a:t>
            </a:r>
            <a:r>
              <a:rPr lang="en-US" sz="1800" kern="0" dirty="0">
                <a:latin typeface="+mn-lt"/>
                <a:ea typeface="+mn-ea"/>
                <a:cs typeface="+mn-cs"/>
              </a:rPr>
              <a:t>DEPT</a:t>
            </a:r>
            <a:r>
              <a:rPr lang="he-IL" sz="1800" kern="0" dirty="0">
                <a:latin typeface="+mn-lt"/>
                <a:ea typeface="+mn-ea"/>
                <a:cs typeface="+mn-cs"/>
              </a:rPr>
              <a:t> ,ומכוון שבטבלה </a:t>
            </a:r>
            <a:r>
              <a:rPr lang="en-US" sz="1800" kern="0" dirty="0">
                <a:latin typeface="+mn-lt"/>
                <a:ea typeface="+mn-ea"/>
                <a:cs typeface="+mn-cs"/>
              </a:rPr>
              <a:t>EMP</a:t>
            </a:r>
            <a:r>
              <a:rPr lang="he-IL" sz="1800" kern="0" dirty="0">
                <a:latin typeface="+mn-lt"/>
                <a:ea typeface="+mn-ea"/>
                <a:cs typeface="+mn-cs"/>
              </a:rPr>
              <a:t> יש מפתח חיצוני אליו ,אז גם הוא ימחק . </a:t>
            </a:r>
            <a:endParaRPr lang="en-US" sz="1800" kern="0" dirty="0"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en-US" sz="1800" kern="0" dirty="0">
              <a:latin typeface="+mn-lt"/>
              <a:ea typeface="+mn-ea"/>
              <a:cs typeface="+mn-cs"/>
            </a:endParaRPr>
          </a:p>
        </p:txBody>
      </p:sp>
      <p:pic>
        <p:nvPicPr>
          <p:cNvPr id="2867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2714620"/>
            <a:ext cx="640080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785926"/>
            <a:ext cx="642942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4413" y="5786454"/>
            <a:ext cx="6357983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1EF47E1-C54B-4F41-B9E7-CD8AEF7B1F34}" type="slidenum">
              <a:rPr lang="he-IL"/>
              <a:pPr/>
              <a:t>26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b="1"/>
              <a:t>Foreign Key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62000" y="13716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he-IL" sz="1800" kern="0" dirty="0">
                <a:latin typeface="+mn-lt"/>
                <a:ea typeface="+mn-ea"/>
                <a:cs typeface="+mn-cs"/>
              </a:rPr>
              <a:t>עכשיו נתבונן בשינויים .</a:t>
            </a:r>
            <a:endParaRPr lang="en-US" sz="1800" kern="0" dirty="0">
              <a:latin typeface="+mn-lt"/>
              <a:ea typeface="+mn-ea"/>
              <a:cs typeface="+mn-cs"/>
            </a:endParaRPr>
          </a:p>
        </p:txBody>
      </p:sp>
      <p:pic>
        <p:nvPicPr>
          <p:cNvPr id="2970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2857496"/>
            <a:ext cx="6357982" cy="1985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1857364"/>
            <a:ext cx="6324814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56CA89-0A2A-46E4-9036-2DCA8C0FCA68}" type="slidenum">
              <a:rPr lang="he-IL"/>
              <a:pPr/>
              <a:t>27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r>
              <a:rPr lang="he-IL" sz="2000" dirty="0"/>
              <a:t>ההיבט (</a:t>
            </a:r>
            <a:r>
              <a:rPr lang="en-US" sz="2000" dirty="0"/>
              <a:t>View</a:t>
            </a:r>
            <a:r>
              <a:rPr lang="he-IL" sz="2000" dirty="0"/>
              <a:t>), נראה כמו טבלה והפנייה אליו מתבצעת כמו אל טבלה רגילה. ההבדל הוא שההיבט מכיל רק הגדרה ולא נתונים.</a:t>
            </a:r>
          </a:p>
          <a:p>
            <a:r>
              <a:rPr lang="en-US" sz="2000" dirty="0"/>
              <a:t>View</a:t>
            </a:r>
            <a:r>
              <a:rPr lang="he-IL" sz="2000" dirty="0"/>
              <a:t> לא מכיל עותק נוסף של הנתונים ולכן התוצאות שלו תמיד אקטואליות.</a:t>
            </a:r>
            <a:endParaRPr lang="en-US" sz="2000" dirty="0"/>
          </a:p>
          <a:p>
            <a:r>
              <a:rPr lang="he-IL" sz="2000" dirty="0"/>
              <a:t>אפשר להגיד ש- </a:t>
            </a:r>
            <a:r>
              <a:rPr lang="en-US" sz="2000" dirty="0"/>
              <a:t>View</a:t>
            </a:r>
            <a:r>
              <a:rPr lang="he-IL" sz="2000" dirty="0"/>
              <a:t> שאילתה מוגדרת מראש, טבלה מדומה אשר לא מכילה נתונים ולא קיימת פיזית.</a:t>
            </a:r>
            <a:endParaRPr lang="en-US" sz="2000" dirty="0"/>
          </a:p>
          <a:p>
            <a:endParaRPr lang="he-IL" sz="2000" dirty="0"/>
          </a:p>
          <a:p>
            <a:r>
              <a:rPr lang="he-IL" sz="2000" dirty="0"/>
              <a:t>האופרטור </a:t>
            </a:r>
            <a:r>
              <a:rPr lang="en-US" sz="2000" dirty="0"/>
              <a:t> SELECT </a:t>
            </a:r>
            <a:r>
              <a:rPr lang="he-IL" sz="2000" dirty="0"/>
              <a:t>השמור מתבצע בכל פעם שרוצים ליצור </a:t>
            </a:r>
            <a:r>
              <a:rPr lang="en-US" sz="2000" dirty="0"/>
              <a:t>View</a:t>
            </a:r>
            <a:r>
              <a:rPr lang="he-IL" sz="2000" dirty="0"/>
              <a:t>. </a:t>
            </a:r>
            <a:endParaRPr lang="en-US" sz="2000" dirty="0"/>
          </a:p>
          <a:p>
            <a:r>
              <a:rPr lang="he-IL" sz="2000" dirty="0"/>
              <a:t>הכרזת היבט:</a:t>
            </a:r>
            <a:endParaRPr lang="en-US" sz="2000" dirty="0"/>
          </a:p>
          <a:p>
            <a:pPr algn="l" rtl="0">
              <a:buFontTx/>
              <a:buNone/>
            </a:pPr>
            <a:r>
              <a:rPr lang="en-US" sz="2000" b="1" dirty="0">
                <a:solidFill>
                  <a:schemeClr val="bg1"/>
                </a:solidFill>
              </a:rPr>
              <a:t>CREATE OR REPLACE VIEW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View_Name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AS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</a:pPr>
            <a:r>
              <a:rPr lang="en-US" sz="2000" b="1" dirty="0">
                <a:solidFill>
                  <a:schemeClr val="bg1"/>
                </a:solidFill>
              </a:rPr>
              <a:t>SELECT ………..;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2625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E451350-144F-4913-B4FF-FF43C2C11187}" type="slidenum">
              <a:rPr lang="he-IL"/>
              <a:pPr/>
              <a:t>28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defRPr/>
            </a:pPr>
            <a:r>
              <a:rPr lang="he-IL" sz="2000" dirty="0"/>
              <a:t>ניתן להשתמש בהיבט בפקודות: </a:t>
            </a:r>
            <a:r>
              <a:rPr lang="en-US" sz="2000" dirty="0"/>
              <a:t>SELECT</a:t>
            </a:r>
            <a:r>
              <a:rPr lang="he-IL" sz="2000" dirty="0"/>
              <a:t>,</a:t>
            </a:r>
            <a:r>
              <a:rPr lang="en-US" sz="2000" dirty="0"/>
              <a:t>INSERT</a:t>
            </a:r>
            <a:r>
              <a:rPr lang="he-IL" sz="2000" dirty="0"/>
              <a:t>,</a:t>
            </a:r>
            <a:r>
              <a:rPr lang="en-US" sz="2000" dirty="0"/>
              <a:t>UPDATE</a:t>
            </a:r>
            <a:r>
              <a:rPr lang="he-IL" sz="2000" dirty="0"/>
              <a:t>,</a:t>
            </a:r>
            <a:r>
              <a:rPr lang="en-US" sz="2000" dirty="0"/>
              <a:t>DELETE</a:t>
            </a:r>
          </a:p>
          <a:p>
            <a:pPr>
              <a:buFontTx/>
              <a:buNone/>
              <a:defRPr/>
            </a:pPr>
            <a:endParaRPr lang="en-US" sz="2000" dirty="0"/>
          </a:p>
          <a:p>
            <a:pPr>
              <a:defRPr/>
            </a:pPr>
            <a:r>
              <a:rPr lang="he-IL" sz="2000" dirty="0"/>
              <a:t>למשל:</a:t>
            </a:r>
            <a:endParaRPr lang="en-US" sz="2000" dirty="0"/>
          </a:p>
          <a:p>
            <a:pPr lvl="1">
              <a:defRPr/>
            </a:pPr>
            <a:r>
              <a:rPr lang="he-IL" sz="1800" dirty="0">
                <a:ea typeface="+mn-ea"/>
                <a:cs typeface="+mn-cs"/>
              </a:rPr>
              <a:t>יש ליצור היבט שיכיל נתונים על סרטים של סטודיו  </a:t>
            </a:r>
            <a:r>
              <a:rPr lang="en-US" sz="1800" dirty="0">
                <a:ea typeface="+mn-ea"/>
                <a:cs typeface="+mn-cs"/>
              </a:rPr>
              <a:t>Paramount </a:t>
            </a:r>
            <a:r>
              <a:rPr lang="he-IL" sz="1800" dirty="0">
                <a:ea typeface="+mn-ea"/>
                <a:cs typeface="+mn-cs"/>
              </a:rPr>
              <a:t>  בלבד:</a:t>
            </a:r>
            <a:endParaRPr lang="en-US" sz="1800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CREATE OR REPLACE VIEW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ParamountMovie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AS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SELECT </a:t>
            </a:r>
            <a:r>
              <a:rPr lang="en-US" sz="2000" dirty="0" err="1">
                <a:solidFill>
                  <a:schemeClr val="bg1"/>
                </a:solidFill>
              </a:rPr>
              <a:t>StudioName</a:t>
            </a:r>
            <a:r>
              <a:rPr lang="en-US" sz="2000" dirty="0">
                <a:solidFill>
                  <a:schemeClr val="bg1"/>
                </a:solidFill>
              </a:rPr>
              <a:t>, Title, Year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FROM Movie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WHERE </a:t>
            </a:r>
            <a:r>
              <a:rPr lang="en-US" sz="2000" dirty="0" err="1">
                <a:solidFill>
                  <a:schemeClr val="bg1"/>
                </a:solidFill>
              </a:rPr>
              <a:t>StudioName</a:t>
            </a:r>
            <a:r>
              <a:rPr lang="en-US" sz="2000" dirty="0">
                <a:solidFill>
                  <a:schemeClr val="bg1"/>
                </a:solidFill>
              </a:rPr>
              <a:t>='PARAMOUNT';</a:t>
            </a:r>
          </a:p>
          <a:p>
            <a:pPr algn="ctr" rtl="0">
              <a:buFontTx/>
              <a:buNone/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81035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BB3671-0C8A-4817-9DD6-A36020BA62C5}" type="slidenum">
              <a:rPr lang="he-IL"/>
              <a:pPr/>
              <a:t>29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defRPr/>
            </a:pPr>
            <a:r>
              <a:rPr lang="he-IL" sz="2000" dirty="0"/>
              <a:t>שימוש בהיבט:</a:t>
            </a:r>
            <a:endParaRPr lang="en-US" sz="2000" dirty="0"/>
          </a:p>
          <a:p>
            <a:pPr>
              <a:buFontTx/>
              <a:buNone/>
              <a:defRPr/>
            </a:pPr>
            <a:r>
              <a:rPr lang="he-IL" sz="2000" dirty="0"/>
              <a:t>	יש להציג את כל הסרטים של סטודיו </a:t>
            </a:r>
            <a:r>
              <a:rPr lang="en-US" sz="2000" dirty="0"/>
              <a:t>Paramount </a:t>
            </a:r>
            <a:r>
              <a:rPr lang="he-IL" sz="2000" dirty="0"/>
              <a:t> שיצאו בשנת 1980:</a:t>
            </a:r>
            <a:endParaRPr lang="en-US" sz="2000" dirty="0"/>
          </a:p>
          <a:p>
            <a:pPr lvl="1">
              <a:defRPr/>
            </a:pPr>
            <a:r>
              <a:rPr lang="he-IL" sz="1800" dirty="0">
                <a:ea typeface="+mn-ea"/>
                <a:cs typeface="+mn-cs"/>
              </a:rPr>
              <a:t>עם ההיבט:</a:t>
            </a:r>
          </a:p>
          <a:p>
            <a:pPr lvl="1" algn="l" rtl="0">
              <a:buFontTx/>
              <a:buNone/>
              <a:defRPr/>
            </a:pPr>
            <a:r>
              <a:rPr lang="en-US" sz="1800" dirty="0">
                <a:solidFill>
                  <a:schemeClr val="bg1"/>
                </a:solidFill>
              </a:rPr>
              <a:t>SELECT title</a:t>
            </a:r>
          </a:p>
          <a:p>
            <a:pPr lvl="1" algn="l" rtl="0">
              <a:buFontTx/>
              <a:buNone/>
              <a:defRPr/>
            </a:pPr>
            <a:r>
              <a:rPr lang="en-US" sz="1800" dirty="0">
                <a:solidFill>
                  <a:schemeClr val="bg1"/>
                </a:solidFill>
              </a:rPr>
              <a:t> FROM</a:t>
            </a:r>
            <a:r>
              <a:rPr lang="en-US" sz="1800" dirty="0"/>
              <a:t> </a:t>
            </a:r>
            <a:r>
              <a:rPr lang="en-US" sz="1800" dirty="0" err="1">
                <a:solidFill>
                  <a:schemeClr val="accent6"/>
                </a:solidFill>
              </a:rPr>
              <a:t>ParamountMovie</a:t>
            </a:r>
            <a:endParaRPr lang="en-US" sz="1800" dirty="0">
              <a:solidFill>
                <a:schemeClr val="accent6"/>
              </a:solidFill>
            </a:endParaRPr>
          </a:p>
          <a:p>
            <a:pPr lvl="1" algn="l" rtl="0">
              <a:buFontTx/>
              <a:buNone/>
              <a:defRPr/>
            </a:pPr>
            <a:r>
              <a:rPr lang="en-US" sz="1800" dirty="0">
                <a:solidFill>
                  <a:schemeClr val="bg1"/>
                </a:solidFill>
              </a:rPr>
              <a:t>WHERE year=1980;</a:t>
            </a:r>
          </a:p>
          <a:p>
            <a:pPr lvl="1" algn="l" rtl="0">
              <a:buFontTx/>
              <a:buNone/>
              <a:defRPr/>
            </a:pPr>
            <a:endParaRPr lang="he-IL" sz="800" dirty="0">
              <a:ea typeface="+mn-ea"/>
              <a:cs typeface="+mn-cs"/>
            </a:endParaRPr>
          </a:p>
          <a:p>
            <a:pPr lvl="1">
              <a:defRPr/>
            </a:pPr>
            <a:r>
              <a:rPr lang="he-IL" sz="1800" dirty="0">
                <a:ea typeface="+mn-ea"/>
                <a:cs typeface="+mn-cs"/>
              </a:rPr>
              <a:t>בלי ההיבט:</a:t>
            </a:r>
          </a:p>
          <a:p>
            <a:pPr lvl="1"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SELECT Title </a:t>
            </a:r>
          </a:p>
          <a:p>
            <a:pPr lvl="1"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FROM Movie</a:t>
            </a:r>
          </a:p>
          <a:p>
            <a:pPr lvl="1"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WHERE </a:t>
            </a:r>
            <a:r>
              <a:rPr lang="en-US" sz="2000" dirty="0" err="1">
                <a:solidFill>
                  <a:schemeClr val="bg1"/>
                </a:solidFill>
              </a:rPr>
              <a:t>StudioName</a:t>
            </a:r>
            <a:r>
              <a:rPr lang="en-US" sz="2000" dirty="0">
                <a:solidFill>
                  <a:schemeClr val="bg1"/>
                </a:solidFill>
              </a:rPr>
              <a:t>='PARAMOUNT' AND year=1980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pPr lvl="1" algn="l" rtl="0">
              <a:buFontTx/>
              <a:buNone/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0505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1E5F5F-F59D-49F9-9D03-7CE9F94C1263}" type="slidenum">
              <a:rPr lang="he-IL"/>
              <a:pPr/>
              <a:t>30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defRPr/>
            </a:pPr>
            <a:r>
              <a:rPr lang="he-IL" sz="2000" dirty="0"/>
              <a:t>היבט שמבוסס על שתי טבלאות :</a:t>
            </a:r>
          </a:p>
          <a:p>
            <a:pPr lvl="1">
              <a:defRPr/>
            </a:pPr>
            <a:r>
              <a:rPr lang="he-IL" sz="1800" dirty="0">
                <a:ea typeface="+mn-ea"/>
                <a:cs typeface="+mn-cs"/>
              </a:rPr>
              <a:t>יש להציג שם של סרט שהמפיק שלו מתחיל ב-</a:t>
            </a:r>
            <a:r>
              <a:rPr lang="en-US" sz="1800" dirty="0"/>
              <a:t> cert</a:t>
            </a:r>
            <a:r>
              <a:rPr lang="he-IL" sz="1800" dirty="0"/>
              <a:t> והכותרת שלו היא </a:t>
            </a:r>
            <a:r>
              <a:rPr lang="en-US" sz="1800" dirty="0"/>
              <a:t>Gone</a:t>
            </a:r>
            <a:r>
              <a:rPr lang="he-IL" sz="1800" dirty="0"/>
              <a:t>.</a:t>
            </a:r>
          </a:p>
          <a:p>
            <a:pPr lvl="1">
              <a:defRPr/>
            </a:pPr>
            <a:endParaRPr lang="en-US" sz="1600" dirty="0">
              <a:ea typeface="+mn-ea"/>
              <a:cs typeface="+mn-cs"/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CREATE OR REPLACE VIEW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6"/>
                </a:solidFill>
              </a:rPr>
              <a:t>MovieProd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bg1"/>
                </a:solidFill>
              </a:rPr>
              <a:t>AS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SELECT title, name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FROM Movie, </a:t>
            </a:r>
            <a:r>
              <a:rPr lang="en-US" sz="2000" dirty="0" err="1">
                <a:solidFill>
                  <a:schemeClr val="bg1"/>
                </a:solidFill>
              </a:rPr>
              <a:t>MovieExec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WHERE </a:t>
            </a:r>
            <a:r>
              <a:rPr lang="en-US" sz="2000" dirty="0" err="1">
                <a:solidFill>
                  <a:schemeClr val="bg1"/>
                </a:solidFill>
              </a:rPr>
              <a:t>producerC</a:t>
            </a:r>
            <a:r>
              <a:rPr lang="en-US" sz="2000" dirty="0">
                <a:solidFill>
                  <a:schemeClr val="bg1"/>
                </a:solidFill>
              </a:rPr>
              <a:t> #= cert#;</a:t>
            </a:r>
          </a:p>
          <a:p>
            <a:pPr algn="l" rtl="0">
              <a:buFontTx/>
              <a:buNone/>
              <a:defRPr/>
            </a:pPr>
            <a:r>
              <a:rPr lang="en-US" sz="2000" dirty="0"/>
              <a:t> 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SELECT name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FROM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6"/>
                </a:solidFill>
              </a:rPr>
              <a:t>MovieProd</a:t>
            </a:r>
            <a:endParaRPr lang="en-US" sz="2000" dirty="0">
              <a:solidFill>
                <a:schemeClr val="accent6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Where title='Gone';</a:t>
            </a:r>
            <a:endParaRPr lang="he-I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837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ED8282B-5267-4FC3-A571-3ACEE9E2AF68}" type="slidenum">
              <a:rPr lang="he-IL"/>
              <a:pPr/>
              <a:t>31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</a:pPr>
            <a:endParaRPr lang="he-IL" sz="2000" dirty="0"/>
          </a:p>
          <a:p>
            <a:r>
              <a:rPr lang="he-IL" sz="2000" dirty="0"/>
              <a:t>זה במקום:</a:t>
            </a:r>
            <a:endParaRPr lang="en-US" sz="2000" dirty="0"/>
          </a:p>
          <a:p>
            <a:pPr algn="l" rtl="0">
              <a:buFontTx/>
              <a:buNone/>
            </a:pPr>
            <a:r>
              <a:rPr lang="en-US" sz="2000" dirty="0">
                <a:solidFill>
                  <a:schemeClr val="bg1"/>
                </a:solidFill>
              </a:rPr>
              <a:t>SELECT name</a:t>
            </a:r>
          </a:p>
          <a:p>
            <a:pPr algn="l" rtl="0">
              <a:buFontTx/>
              <a:buNone/>
            </a:pPr>
            <a:r>
              <a:rPr lang="en-US" sz="2000" dirty="0">
                <a:solidFill>
                  <a:schemeClr val="bg1"/>
                </a:solidFill>
              </a:rPr>
              <a:t>FROM Movie, </a:t>
            </a:r>
            <a:r>
              <a:rPr lang="en-US" sz="2000" dirty="0" err="1">
                <a:solidFill>
                  <a:schemeClr val="bg1"/>
                </a:solidFill>
              </a:rPr>
              <a:t>MovieExec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</a:pPr>
            <a:r>
              <a:rPr lang="en-US" sz="2000" dirty="0">
                <a:solidFill>
                  <a:schemeClr val="bg1"/>
                </a:solidFill>
              </a:rPr>
              <a:t>WHERE </a:t>
            </a:r>
            <a:r>
              <a:rPr lang="en-US" sz="2000" dirty="0" err="1">
                <a:solidFill>
                  <a:schemeClr val="bg1"/>
                </a:solidFill>
              </a:rPr>
              <a:t>producerC</a:t>
            </a:r>
            <a:r>
              <a:rPr lang="en-US" sz="2000" dirty="0">
                <a:solidFill>
                  <a:schemeClr val="bg1"/>
                </a:solidFill>
              </a:rPr>
              <a:t># = cert# AND title='Gone'; </a:t>
            </a:r>
          </a:p>
        </p:txBody>
      </p:sp>
    </p:spTree>
    <p:extLst>
      <p:ext uri="{BB962C8B-B14F-4D97-AF65-F5344CB8AC3E}">
        <p14:creationId xmlns:p14="http://schemas.microsoft.com/office/powerpoint/2010/main" val="960615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270238-A18E-42FE-B93C-EDDCB2D8B99A}" type="slidenum">
              <a:rPr lang="he-IL"/>
              <a:pPr/>
              <a:t>32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defRPr/>
            </a:pPr>
            <a:endParaRPr lang="he-IL" sz="2000" dirty="0"/>
          </a:p>
          <a:p>
            <a:pPr>
              <a:defRPr/>
            </a:pPr>
            <a:r>
              <a:rPr lang="he-IL" sz="2000" dirty="0"/>
              <a:t>היבט וטבלה בשאילתה אחת:</a:t>
            </a:r>
          </a:p>
          <a:p>
            <a:pPr lvl="1">
              <a:defRPr/>
            </a:pPr>
            <a:r>
              <a:rPr lang="he-IL" sz="1600" dirty="0">
                <a:ea typeface="+mn-ea"/>
                <a:cs typeface="+mn-cs"/>
              </a:rPr>
              <a:t>מציאת שמות של כוכבים של סטודיו  </a:t>
            </a:r>
            <a:r>
              <a:rPr lang="en-US" sz="1600" dirty="0">
                <a:ea typeface="+mn-ea"/>
                <a:cs typeface="+mn-cs"/>
              </a:rPr>
              <a:t>Paramount </a:t>
            </a:r>
            <a:r>
              <a:rPr lang="he-IL" sz="1600" dirty="0">
                <a:ea typeface="+mn-ea"/>
                <a:cs typeface="+mn-cs"/>
              </a:rPr>
              <a:t>  בלבד</a:t>
            </a:r>
            <a:endParaRPr lang="en-US" sz="1600" dirty="0"/>
          </a:p>
          <a:p>
            <a:pPr algn="l" rtl="0">
              <a:buFontTx/>
              <a:buNone/>
              <a:defRPr/>
            </a:pPr>
            <a:r>
              <a:rPr lang="he-IL" sz="2000" dirty="0"/>
              <a:t> 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SELECT DISTINCT </a:t>
            </a:r>
            <a:r>
              <a:rPr lang="en-US" sz="2000" dirty="0" err="1">
                <a:solidFill>
                  <a:schemeClr val="bg1"/>
                </a:solidFill>
              </a:rPr>
              <a:t>StarName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FROM </a:t>
            </a:r>
            <a:r>
              <a:rPr lang="en-US" sz="2000" dirty="0" err="1">
                <a:solidFill>
                  <a:schemeClr val="bg1"/>
                </a:solidFill>
              </a:rPr>
              <a:t>ParamountMovie</a:t>
            </a:r>
            <a:r>
              <a:rPr lang="en-US" sz="2000" dirty="0"/>
              <a:t>, </a:t>
            </a:r>
            <a:r>
              <a:rPr lang="en-US" sz="2000" dirty="0" err="1">
                <a:solidFill>
                  <a:schemeClr val="bg1"/>
                </a:solidFill>
              </a:rPr>
              <a:t>StarsIn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WHERE title = </a:t>
            </a:r>
            <a:r>
              <a:rPr lang="en-US" sz="2000" dirty="0" err="1">
                <a:solidFill>
                  <a:schemeClr val="bg1"/>
                </a:solidFill>
              </a:rPr>
              <a:t>MovieTitle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AND year = </a:t>
            </a:r>
            <a:r>
              <a:rPr lang="en-US" sz="2000" dirty="0" err="1">
                <a:solidFill>
                  <a:schemeClr val="bg1"/>
                </a:solidFill>
              </a:rPr>
              <a:t>MovieYear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43858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BA6DF78-DA44-4DEE-8A87-D964BD9343B2}" type="slidenum">
              <a:rPr lang="he-IL"/>
              <a:pPr/>
              <a:t>33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endParaRPr lang="he-IL" sz="2000" b="1" i="1" u="sng" dirty="0"/>
          </a:p>
          <a:p>
            <a:r>
              <a:rPr lang="he-IL" sz="2000" b="1" i="1" u="sng" dirty="0"/>
              <a:t>שינוי שם העמודה בהיבטים:</a:t>
            </a:r>
            <a:endParaRPr lang="en-US" sz="2000" dirty="0"/>
          </a:p>
          <a:p>
            <a:pPr algn="l" rtl="0">
              <a:buFontTx/>
              <a:buNone/>
            </a:pPr>
            <a:r>
              <a:rPr lang="he-IL" sz="2000" dirty="0"/>
              <a:t> </a:t>
            </a:r>
            <a:endParaRPr lang="en-US" sz="2000" dirty="0"/>
          </a:p>
          <a:p>
            <a:pPr algn="l" rtl="0">
              <a:buFontTx/>
              <a:buNone/>
            </a:pPr>
            <a:r>
              <a:rPr lang="en-US" sz="2000" dirty="0">
                <a:solidFill>
                  <a:schemeClr val="bg1"/>
                </a:solidFill>
              </a:rPr>
              <a:t>CREATE OR REPLACE VIEW </a:t>
            </a:r>
            <a:r>
              <a:rPr lang="en-US" sz="2000" dirty="0" err="1">
                <a:solidFill>
                  <a:schemeClr val="bg1"/>
                </a:solidFill>
              </a:rPr>
              <a:t>MovieProd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MoveTitle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ProdName</a:t>
            </a:r>
            <a:r>
              <a:rPr lang="en-US" sz="2000" dirty="0">
                <a:solidFill>
                  <a:schemeClr val="bg1"/>
                </a:solidFill>
              </a:rPr>
              <a:t>) AS</a:t>
            </a:r>
          </a:p>
          <a:p>
            <a:pPr algn="l" rtl="0">
              <a:buFontTx/>
              <a:buNone/>
            </a:pPr>
            <a:r>
              <a:rPr lang="en-US" sz="2000" dirty="0">
                <a:solidFill>
                  <a:schemeClr val="bg1"/>
                </a:solidFill>
              </a:rPr>
              <a:t>SELECT title, name</a:t>
            </a:r>
          </a:p>
          <a:p>
            <a:pPr algn="l" rtl="0">
              <a:buFontTx/>
              <a:buNone/>
            </a:pPr>
            <a:r>
              <a:rPr lang="en-US" sz="2000" dirty="0">
                <a:solidFill>
                  <a:schemeClr val="bg1"/>
                </a:solidFill>
              </a:rPr>
              <a:t>FROM Movie, </a:t>
            </a:r>
            <a:r>
              <a:rPr lang="en-US" sz="2000" dirty="0" err="1">
                <a:solidFill>
                  <a:schemeClr val="bg1"/>
                </a:solidFill>
              </a:rPr>
              <a:t>MovieExec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</a:pPr>
            <a:r>
              <a:rPr lang="en-US" sz="2000" dirty="0">
                <a:solidFill>
                  <a:schemeClr val="bg1"/>
                </a:solidFill>
              </a:rPr>
              <a:t>WHERE </a:t>
            </a:r>
            <a:r>
              <a:rPr lang="en-US" sz="2000" dirty="0" err="1">
                <a:solidFill>
                  <a:schemeClr val="bg1"/>
                </a:solidFill>
              </a:rPr>
              <a:t>producerC</a:t>
            </a:r>
            <a:r>
              <a:rPr lang="en-US" sz="2000" dirty="0">
                <a:solidFill>
                  <a:schemeClr val="bg1"/>
                </a:solidFill>
              </a:rPr>
              <a:t># = cert#</a:t>
            </a:r>
            <a:r>
              <a:rPr lang="en-US" sz="2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42155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3D7E9AB-D26C-4E6C-9784-BC610B543C0A}" type="slidenum">
              <a:rPr lang="he-IL"/>
              <a:pPr/>
              <a:t>34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defRPr/>
            </a:pPr>
            <a:r>
              <a:rPr lang="he-IL" sz="2000" b="1" i="1" u="sng" dirty="0"/>
              <a:t>פעולות מחיקה, עדכון והוספה בהיבטים משפיעה על הטבלה המקורית לכן לא ניתן להפעילם על היבט שמבוסס על יותר מטבלה אחת.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he-IL" sz="2000" dirty="0"/>
              <a:t> </a:t>
            </a:r>
            <a:endParaRPr lang="en-US" sz="2000" dirty="0"/>
          </a:p>
          <a:p>
            <a:pPr>
              <a:defRPr/>
            </a:pPr>
            <a:r>
              <a:rPr lang="he-IL" sz="2000" b="1" i="1" u="sng" dirty="0"/>
              <a:t>מחיקה: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DELETE FROM </a:t>
            </a:r>
            <a:r>
              <a:rPr lang="en-US" sz="2000" dirty="0" err="1">
                <a:solidFill>
                  <a:schemeClr val="bg1"/>
                </a:solidFill>
              </a:rPr>
              <a:t>ParamountMovie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WHERE title LIKE '%Trek%';</a:t>
            </a:r>
          </a:p>
          <a:p>
            <a:pPr algn="ctr" rtl="0">
              <a:buFontTx/>
              <a:buNone/>
              <a:defRPr/>
            </a:pPr>
            <a:r>
              <a:rPr lang="he-IL" sz="2000" dirty="0"/>
              <a:t>מתורגם ל-: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DELETE FROM Movie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WHERE title LIKE '%Trek%' AND </a:t>
            </a:r>
            <a:r>
              <a:rPr lang="en-US" sz="2000" dirty="0" err="1">
                <a:solidFill>
                  <a:schemeClr val="bg1"/>
                </a:solidFill>
              </a:rPr>
              <a:t>StudioNmae</a:t>
            </a:r>
            <a:r>
              <a:rPr lang="en-US" sz="2000" dirty="0">
                <a:solidFill>
                  <a:schemeClr val="bg1"/>
                </a:solidFill>
              </a:rPr>
              <a:t>='PARAMOUNT';</a:t>
            </a:r>
          </a:p>
        </p:txBody>
      </p:sp>
    </p:spTree>
    <p:extLst>
      <p:ext uri="{BB962C8B-B14F-4D97-AF65-F5344CB8AC3E}">
        <p14:creationId xmlns:p14="http://schemas.microsoft.com/office/powerpoint/2010/main" val="288758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B527AC0-9AE4-4063-AD47-7A22250BF9F1}" type="slidenum">
              <a:rPr lang="he-IL"/>
              <a:pPr/>
              <a:t>35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l" rtl="0">
              <a:buFontTx/>
              <a:buNone/>
              <a:defRPr/>
            </a:pPr>
            <a:r>
              <a:rPr lang="he-IL" sz="2000" dirty="0"/>
              <a:t> </a:t>
            </a:r>
            <a:endParaRPr lang="en-US" sz="2000" dirty="0"/>
          </a:p>
          <a:p>
            <a:pPr>
              <a:defRPr/>
            </a:pPr>
            <a:r>
              <a:rPr lang="he-IL" sz="2000" b="1" i="1" u="sng" dirty="0"/>
              <a:t>עדכון: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UPDATE </a:t>
            </a:r>
            <a:r>
              <a:rPr lang="en-US" sz="2000" dirty="0" err="1">
                <a:solidFill>
                  <a:schemeClr val="bg1"/>
                </a:solidFill>
              </a:rPr>
              <a:t>ParamountMovie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SET year=1981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WHERE title LIKE 'Star Trek';</a:t>
            </a:r>
          </a:p>
          <a:p>
            <a:pPr algn="ctr" rtl="0">
              <a:buFontTx/>
              <a:buNone/>
              <a:defRPr/>
            </a:pPr>
            <a:r>
              <a:rPr lang="he-IL" sz="2000" dirty="0"/>
              <a:t>מתורגם ל-: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UPDATE Movie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SET year=1981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WHERE title LIKE 'Star Trek'' AND </a:t>
            </a:r>
            <a:r>
              <a:rPr lang="en-US" sz="2000" dirty="0" err="1">
                <a:solidFill>
                  <a:schemeClr val="bg1"/>
                </a:solidFill>
              </a:rPr>
              <a:t>StudioNmae</a:t>
            </a:r>
            <a:r>
              <a:rPr lang="en-US" sz="2000" dirty="0">
                <a:solidFill>
                  <a:schemeClr val="bg1"/>
                </a:solidFill>
              </a:rPr>
              <a:t>='PARAMOUNT';</a:t>
            </a:r>
          </a:p>
        </p:txBody>
      </p:sp>
    </p:spTree>
    <p:extLst>
      <p:ext uri="{BB962C8B-B14F-4D97-AF65-F5344CB8AC3E}">
        <p14:creationId xmlns:p14="http://schemas.microsoft.com/office/powerpoint/2010/main" val="1564908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BF23C2-EA70-4CE0-87C6-ED3CF03A8D24}" type="slidenum">
              <a:rPr lang="he-IL"/>
              <a:pPr/>
              <a:t>36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l" rtl="0">
              <a:buFontTx/>
              <a:buNone/>
              <a:defRPr/>
            </a:pPr>
            <a:r>
              <a:rPr lang="he-IL" sz="2000" dirty="0"/>
              <a:t> </a:t>
            </a:r>
            <a:endParaRPr lang="en-US" sz="2000" dirty="0"/>
          </a:p>
          <a:p>
            <a:pPr>
              <a:defRPr/>
            </a:pPr>
            <a:r>
              <a:rPr lang="he-IL" sz="2000" b="1" i="1" u="sng" dirty="0"/>
              <a:t>הכנסת מידע: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INSERT INTO  </a:t>
            </a:r>
            <a:r>
              <a:rPr lang="en-US" sz="2000" dirty="0" err="1">
                <a:solidFill>
                  <a:schemeClr val="bg1"/>
                </a:solidFill>
              </a:rPr>
              <a:t>ParamountMovie</a:t>
            </a:r>
            <a:r>
              <a:rPr lang="en-US" sz="2000" dirty="0">
                <a:solidFill>
                  <a:schemeClr val="bg1"/>
                </a:solidFill>
              </a:rPr>
              <a:t> VALUES('PARAMOUNT','STAR WARS',1982);</a:t>
            </a:r>
          </a:p>
          <a:p>
            <a:pPr algn="ctr" rtl="0">
              <a:buFontTx/>
              <a:buNone/>
              <a:defRPr/>
            </a:pPr>
            <a:r>
              <a:rPr lang="he-IL" sz="2000" dirty="0">
                <a:solidFill>
                  <a:schemeClr val="bg1"/>
                </a:solidFill>
              </a:rPr>
              <a:t>מתורגם ל-:</a:t>
            </a:r>
            <a:endParaRPr lang="en-US" sz="20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INSERT INTO Movie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VALUES('PARAMOUNT','STAR WARS',1982);</a:t>
            </a:r>
          </a:p>
        </p:txBody>
      </p:sp>
    </p:spTree>
    <p:extLst>
      <p:ext uri="{BB962C8B-B14F-4D97-AF65-F5344CB8AC3E}">
        <p14:creationId xmlns:p14="http://schemas.microsoft.com/office/powerpoint/2010/main" val="33596051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CCDE59-6B56-4D9D-9B75-81A43DAAAD1D}" type="slidenum">
              <a:rPr lang="he-IL"/>
              <a:pPr/>
              <a:t>37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היבטים (</a:t>
            </a:r>
            <a:r>
              <a:rPr lang="en-US" sz="3600" b="1" i="1" u="sng"/>
              <a:t>VIEWS</a:t>
            </a:r>
            <a:r>
              <a:rPr lang="he-IL" sz="3600" b="1" i="1" u="sng"/>
              <a:t>)</a:t>
            </a:r>
            <a:endParaRPr lang="en-US" sz="360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l" rtl="0">
              <a:buFontTx/>
              <a:buNone/>
              <a:defRPr/>
            </a:pPr>
            <a:r>
              <a:rPr lang="he-IL" sz="2000" dirty="0"/>
              <a:t> </a:t>
            </a:r>
            <a:endParaRPr lang="en-US" sz="2000" dirty="0"/>
          </a:p>
          <a:p>
            <a:pPr>
              <a:defRPr/>
            </a:pPr>
            <a:r>
              <a:rPr lang="he-IL" sz="2000" b="1" i="1" u="sng" dirty="0"/>
              <a:t>מחיקת היבט: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bg1"/>
                </a:solidFill>
              </a:rPr>
              <a:t>DROP VIEW </a:t>
            </a:r>
            <a:r>
              <a:rPr lang="en-US" sz="2000" dirty="0" err="1">
                <a:solidFill>
                  <a:schemeClr val="bg1"/>
                </a:solidFill>
              </a:rPr>
              <a:t>ParamountMovie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pPr algn="l" rtl="0">
              <a:buFontTx/>
              <a:buNone/>
              <a:defRPr/>
            </a:pPr>
            <a:endParaRPr lang="en-US" sz="2000" dirty="0"/>
          </a:p>
          <a:p>
            <a:pPr algn="ctr">
              <a:buFontTx/>
              <a:buNone/>
              <a:defRPr/>
            </a:pPr>
            <a:r>
              <a:rPr lang="he-IL" sz="2000" dirty="0">
                <a:solidFill>
                  <a:srgbClr val="C00000"/>
                </a:solidFill>
              </a:rPr>
              <a:t>מחיקת היבט לא משפיעה על הנתונים המקוריים (הטבלה המקורית).</a:t>
            </a:r>
            <a:endParaRPr lang="en-US" sz="2000" dirty="0">
              <a:solidFill>
                <a:srgbClr val="C00000"/>
              </a:solidFill>
            </a:endParaRPr>
          </a:p>
          <a:p>
            <a:pPr>
              <a:buFontTx/>
              <a:buNone/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19445811"/>
      </p:ext>
    </p:extLst>
  </p:cSld>
  <p:clrMapOvr>
    <a:masterClrMapping/>
  </p:clrMapOvr>
</p:sld>
</file>

<file path=ppt/theme/theme1.xml><?xml version="1.0" encoding="utf-8"?>
<a:theme xmlns:a="http://schemas.openxmlformats.org/drawingml/2006/main" name="עיצוב ברירת מחדל">
  <a:themeElements>
    <a:clrScheme name="עיצוב ברירת מחדל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עיצוב ברירת מחדל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עיצוב ברירת מחדל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8418</TotalTime>
  <Words>1411</Words>
  <Application>Microsoft Macintosh PowerPoint</Application>
  <PresentationFormat>On-screen Show (4:3)</PresentationFormat>
  <Paragraphs>390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Times New Roman</vt:lpstr>
      <vt:lpstr>עיצוב ברירת מחדל</vt:lpstr>
      <vt:lpstr>בסיסי נתונים - מעבדה</vt:lpstr>
      <vt:lpstr>SQL - אילוצים ( (Constraints+ היבטים (VIEWS)</vt:lpstr>
      <vt:lpstr>אילוצים ( (Constraints</vt:lpstr>
      <vt:lpstr>אילוצים ( - (Constraints(Not null)</vt:lpstr>
      <vt:lpstr>אילוצים ( - (Constraints(Not null)</vt:lpstr>
      <vt:lpstr>אילוצים ( - (Constraints(DEFAULT)</vt:lpstr>
      <vt:lpstr> אילוצים - Primary key</vt:lpstr>
      <vt:lpstr> אילוצים - Primary key</vt:lpstr>
      <vt:lpstr> Primary key</vt:lpstr>
      <vt:lpstr> Primary key</vt:lpstr>
      <vt:lpstr>אילוצים ( - (Constraints(UNIQUE)</vt:lpstr>
      <vt:lpstr>אילוצים ( - (Constraints(CHECK)</vt:lpstr>
      <vt:lpstr>אילוצים ( - (Constraints(CHECK)</vt:lpstr>
      <vt:lpstr>אילוצים ( - (Constraints(CHECK)</vt:lpstr>
      <vt:lpstr>Foreign Key</vt:lpstr>
      <vt:lpstr>Foreign Key</vt:lpstr>
      <vt:lpstr>Foreign Key</vt:lpstr>
      <vt:lpstr>Foreign Key</vt:lpstr>
      <vt:lpstr>Foreign Key</vt:lpstr>
      <vt:lpstr>Foreign Key</vt:lpstr>
      <vt:lpstr>Foreign Key</vt:lpstr>
      <vt:lpstr>Foreign Key</vt:lpstr>
      <vt:lpstr>Foreign Key</vt:lpstr>
      <vt:lpstr>Foreign Key</vt:lpstr>
      <vt:lpstr>Foreign Key</vt:lpstr>
      <vt:lpstr>Foreign Key</vt:lpstr>
      <vt:lpstr>היבטים (VIEWS)</vt:lpstr>
      <vt:lpstr>היבטים (VIEWS)</vt:lpstr>
      <vt:lpstr>היבטים (VIEWS)</vt:lpstr>
      <vt:lpstr>היבטים (VIEWS)</vt:lpstr>
      <vt:lpstr>היבטים (VIEWS)</vt:lpstr>
      <vt:lpstr>היבטים (VIEWS)</vt:lpstr>
      <vt:lpstr>היבטים (VIEWS)</vt:lpstr>
      <vt:lpstr>היבטים (VIEWS)</vt:lpstr>
      <vt:lpstr>היבטים (VIEWS)</vt:lpstr>
      <vt:lpstr>היבטים (VIEWS)</vt:lpstr>
      <vt:lpstr>היבטים (VIEWS)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אולז'ן</dc:creator>
  <cp:lastModifiedBy>Gennady Kogan</cp:lastModifiedBy>
  <cp:revision>582</cp:revision>
  <dcterms:created xsi:type="dcterms:W3CDTF">2004-02-02T22:13:25Z</dcterms:created>
  <dcterms:modified xsi:type="dcterms:W3CDTF">2026-08-17T08:05:16Z</dcterms:modified>
</cp:coreProperties>
</file>