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3648" r:id="rId1"/>
  </p:sldMasterIdLst>
  <p:notesMasterIdLst>
    <p:notesMasterId r:id="rId20"/>
  </p:notesMasterIdLst>
  <p:handoutMasterIdLst>
    <p:handoutMasterId r:id="rId21"/>
  </p:handoutMasterIdLst>
  <p:sldIdLst>
    <p:sldId id="642" r:id="rId2"/>
    <p:sldId id="567" r:id="rId3"/>
    <p:sldId id="643" r:id="rId4"/>
    <p:sldId id="644" r:id="rId5"/>
    <p:sldId id="645" r:id="rId6"/>
    <p:sldId id="622" r:id="rId7"/>
    <p:sldId id="646" r:id="rId8"/>
    <p:sldId id="640" r:id="rId9"/>
    <p:sldId id="652" r:id="rId10"/>
    <p:sldId id="641" r:id="rId11"/>
    <p:sldId id="634" r:id="rId12"/>
    <p:sldId id="653" r:id="rId13"/>
    <p:sldId id="635" r:id="rId14"/>
    <p:sldId id="647" r:id="rId15"/>
    <p:sldId id="648" r:id="rId16"/>
    <p:sldId id="649" r:id="rId17"/>
    <p:sldId id="650" r:id="rId18"/>
    <p:sldId id="651" r:id="rId19"/>
  </p:sldIdLst>
  <p:sldSz cx="9144000" cy="6858000" type="screen4x3"/>
  <p:notesSz cx="6858000" cy="9144000"/>
  <p:defaultTextStyle>
    <a:defPPr>
      <a:defRPr lang="he-IL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99FF"/>
    <a:srgbClr val="FFCC00"/>
    <a:srgbClr val="A02600"/>
    <a:srgbClr val="CC3300"/>
    <a:srgbClr val="E88A00"/>
    <a:srgbClr val="E9F7FF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סגנון ביניים 1 - הדגשה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סגנון ביניים 2 - הדגשה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סגנון ביניים 2 - הדגשה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512" autoAdjust="0"/>
    <p:restoredTop sz="90909"/>
  </p:normalViewPr>
  <p:slideViewPr>
    <p:cSldViewPr>
      <p:cViewPr varScale="1">
        <p:scale>
          <a:sx n="74" d="100"/>
          <a:sy n="74" d="100"/>
        </p:scale>
        <p:origin x="176" y="16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3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3CFACAD7-CC57-48C8-A4DA-91F7AE9824CD}" type="datetimeFigureOut">
              <a:rPr lang="he-IL"/>
              <a:pPr/>
              <a:t>ד'.אלול.תשפ"ו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CC32CDA9-E829-40D3-AFA0-CB4B153821B3}" type="slidenum">
              <a:rPr lang="he-IL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59346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noProof="0"/>
              <a:t>לחץ כדי לערוך סגנונות טקסט של תבנית בסיס</a:t>
            </a:r>
          </a:p>
          <a:p>
            <a:pPr lvl="1"/>
            <a:r>
              <a:rPr lang="he-IL" noProof="0"/>
              <a:t>רמה שנייה</a:t>
            </a:r>
          </a:p>
          <a:p>
            <a:pPr lvl="2"/>
            <a:r>
              <a:rPr lang="he-IL" noProof="0"/>
              <a:t>רמה שלישית</a:t>
            </a:r>
          </a:p>
          <a:p>
            <a:pPr lvl="3"/>
            <a:r>
              <a:rPr lang="he-IL" noProof="0"/>
              <a:t>רמה רביעית</a:t>
            </a:r>
          </a:p>
          <a:p>
            <a:pPr lvl="4"/>
            <a:r>
              <a:rPr lang="he-IL" noProof="0"/>
              <a:t>רמה חמישית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4A30ECF0-9CEE-4C2D-BC61-8F486D8C1161}" type="slidenum">
              <a:rPr lang="he-IL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44693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B2A187-60B2-4D1F-82B6-ABFF9729DD87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D16AB7-89B0-429E-A8A9-EB8514A33BA0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93F53C-B2F9-4A3F-80E0-7362A470F6DA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73FC08-59AB-4B40-8284-979DDB6F58E8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D0116A-6935-4183-BFC9-04A409201A4D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B7457E-5A0D-4D39-B092-1BCB88368AF7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476160-2AA7-4777-ACBB-53DC675F0478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697E60-2CAF-479C-870B-0C343C081274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D39C5E5-9DC4-47E6-8C2C-4D33E583EBB3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78A46F8-4476-4C0E-BCD7-4F8E33E68045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73475B-F21F-40AF-B5AD-E89C2AA53C95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E19EB06-9EFE-4B8A-B2D8-32C90C1D4296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A064A9-D2A2-42DF-9E6F-3FE13D69DC7A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26B958F-4094-462E-A553-1DA18A7EE7C5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785FC1-8DE4-4FDB-8267-586EEE4E541F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D803063-6E9D-4D8E-843B-5C3A1276D34C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he-IL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0E16CC-A1CF-4F5A-B74A-58732577BCEE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CA63B6-E497-4D13-86B0-B858A81799C4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947B6C0-6B4F-42FE-A1BA-6ECE19FEFE1A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EF66578-5EBD-49A3-ABE6-7042AC6DBF38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C9D99F9-4B86-4360-BDB6-40E5E6019247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E29023-04DB-4ECD-A21A-D1D4C4CABCD0}" type="slidenum">
              <a:rPr lang="he-IL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he-IL"/>
              <a:t>לחץ כדי לערוך סגנון כותרת של תבנית בסיס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FD6F6FF2-4551-441A-BE35-A06876C282E5}" type="datetime8">
              <a:rPr lang="he-IL"/>
              <a:pPr/>
              <a:t>17 באוגוסט 26</a:t>
            </a:fld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/>
            </a:lvl1pPr>
          </a:lstStyle>
          <a:p>
            <a:fld id="{97364D9D-AE24-47F1-9D01-3FD67EBFF3EE}" type="slidenum">
              <a:rPr lang="he-IL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Times New Roman (Hebrew)" charset="0"/>
          <a:cs typeface="Arial" pitchFamily="34" charset="0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Times New Roman (Hebrew)" charset="0"/>
          <a:cs typeface="Arial" pitchFamily="34" charset="0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Times New Roman (Hebrew)" charset="0"/>
          <a:cs typeface="Arial" pitchFamily="34" charset="0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Times New Roman (Hebrew)" charset="0"/>
          <a:cs typeface="Arial" pitchFamily="34" charset="0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Times New Roman (Hebrew)" charset="0"/>
          <a:cs typeface="Times New Roman (Hebrew)" charset="0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Times New Roman (Hebrew)" charset="0"/>
          <a:cs typeface="Times New Roman (Hebrew)" charset="0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Times New Roman (Hebrew)" charset="0"/>
          <a:cs typeface="Times New Roman (Hebrew)" charset="0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Times New Roman (Hebrew)" charset="0"/>
          <a:cs typeface="Times New Roman (Hebrew)" charset="0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43400" y="1600200"/>
            <a:ext cx="3962400" cy="762000"/>
          </a:xfrm>
        </p:spPr>
        <p:txBody>
          <a:bodyPr/>
          <a:lstStyle/>
          <a:p>
            <a:pPr eaLnBrk="1" hangingPunct="1"/>
            <a:r>
              <a:rPr lang="he-IL" sz="3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בסיסי נתונים - מעבדה</a:t>
            </a:r>
            <a:endParaRPr lang="en-US" sz="32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052" name="Subtitle 7"/>
          <p:cNvSpPr>
            <a:spLocks noGrp="1"/>
          </p:cNvSpPr>
          <p:nvPr>
            <p:ph type="subTitle" idx="1"/>
          </p:nvPr>
        </p:nvSpPr>
        <p:spPr>
          <a:xfrm>
            <a:off x="4495800" y="381000"/>
            <a:ext cx="3657600" cy="1524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9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cs typeface="Times New Roman" pitchFamily="18" charset="0"/>
              </a:rPr>
              <a:t>SQL</a:t>
            </a:r>
            <a:endParaRPr lang="he-IL" sz="9600" dirty="0"/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3676650" y="2703513"/>
            <a:ext cx="571500" cy="1433512"/>
            <a:chOff x="0" y="0"/>
            <a:chExt cx="360" cy="903"/>
          </a:xfrm>
        </p:grpSpPr>
        <p:sp>
          <p:nvSpPr>
            <p:cNvPr id="2054" name="Rectangle 12"/>
            <p:cNvSpPr>
              <a:spLocks noChangeArrowheads="1"/>
            </p:cNvSpPr>
            <p:nvPr/>
          </p:nvSpPr>
          <p:spPr bwMode="auto">
            <a:xfrm>
              <a:off x="0" y="0"/>
              <a:ext cx="360" cy="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he-IL"/>
            </a:p>
          </p:txBody>
        </p:sp>
        <p:sp>
          <p:nvSpPr>
            <p:cNvPr id="2055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360" cy="9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he-IL" dirty="0"/>
                <a:t> </a:t>
              </a:r>
              <a:r>
                <a:rPr lang="he-IL" sz="8800" dirty="0"/>
                <a:t> </a:t>
              </a:r>
              <a:endParaRPr lang="he-IL" dirty="0"/>
            </a:p>
          </p:txBody>
        </p:sp>
      </p:grpSp>
      <p:pic>
        <p:nvPicPr>
          <p:cNvPr id="2" name="Picture 9" descr="http://www.dbametrix.com/img/articles/small/remote-database-services-3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3400" y="0"/>
            <a:ext cx="38100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FB8D6AD-8399-4B7B-8272-446895FE48A0}" type="slidenum">
              <a:rPr lang="he-IL"/>
              <a:pPr/>
              <a:t>2</a:t>
            </a:fld>
            <a:endParaRPr 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5562600"/>
          </a:xfrm>
        </p:spPr>
        <p:txBody>
          <a:bodyPr/>
          <a:lstStyle/>
          <a:p>
            <a:r>
              <a:rPr lang="en-US" b="1"/>
              <a:t>SQL</a:t>
            </a:r>
            <a:br>
              <a:rPr lang="en-US" b="1"/>
            </a:br>
            <a:r>
              <a:rPr lang="en-US" b="1"/>
              <a:t>-</a:t>
            </a:r>
            <a:br>
              <a:rPr lang="he-IL" b="1"/>
            </a:br>
            <a:r>
              <a:rPr lang="he-IL" b="1" i="1" u="sng"/>
              <a:t>שאילתה מתואמת </a:t>
            </a:r>
            <a:r>
              <a:rPr lang="en-US" b="1" i="1" u="sng"/>
              <a:t>Correlated subquery)</a:t>
            </a:r>
            <a:r>
              <a:rPr lang="he-IL" b="1" i="1" u="sng"/>
              <a:t>)</a:t>
            </a:r>
            <a:endParaRPr lang="en-US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B2B7EDDE-734E-45AC-8DA2-FB32BA7A5BCD}" type="slidenum">
              <a:rPr lang="he-IL" altLang="en-US" sz="1400"/>
              <a:pPr eaLnBrk="1" hangingPunct="1"/>
              <a:t>3</a:t>
            </a:fld>
            <a:endParaRPr lang="en-US" altLang="en-US" sz="140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altLang="en-US" sz="3600" b="1" i="1" u="sng"/>
              <a:t>שאילתה מתואמת </a:t>
            </a:r>
            <a:r>
              <a:rPr lang="en-US" altLang="en-US" sz="3600" b="1" i="1" u="sng"/>
              <a:t>Correlated subquery)</a:t>
            </a:r>
            <a:r>
              <a:rPr lang="he-IL" altLang="en-US" sz="3600" b="1" i="1" u="sng"/>
              <a:t>)</a:t>
            </a:r>
            <a:endParaRPr lang="en-US" altLang="en-US" sz="3600" b="1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>
              <a:buFontTx/>
              <a:buNone/>
            </a:pPr>
            <a:endParaRPr lang="he-IL" altLang="en-US" sz="800"/>
          </a:p>
          <a:p>
            <a:pPr>
              <a:buSzPct val="75000"/>
            </a:pPr>
            <a:r>
              <a:rPr lang="he-IL" altLang="en-US" sz="2000"/>
              <a:t>שאילתה מקוננת (הפנימית) שאינה יכולה להתבצע באופן עצמאי, אלא תלויה בשאילתה החיצונית.  </a:t>
            </a:r>
          </a:p>
          <a:p>
            <a:pPr>
              <a:buSzPct val="75000"/>
            </a:pPr>
            <a:r>
              <a:rPr lang="he-IL" altLang="en-US" sz="2000"/>
              <a:t>זה קורה כאשר תנאי בפקודת  </a:t>
            </a:r>
            <a:r>
              <a:rPr lang="en-US" altLang="en-US" sz="2000"/>
              <a:t>where</a:t>
            </a:r>
            <a:r>
              <a:rPr lang="he-IL" altLang="en-US" sz="2000"/>
              <a:t> של השאילתה המקוננת מתייחס לשדה כלשהו של טבלה שמופיעה בשאילתה החיצונית. </a:t>
            </a:r>
          </a:p>
          <a:p>
            <a:pPr>
              <a:lnSpc>
                <a:spcPct val="95000"/>
              </a:lnSpc>
              <a:buSzPct val="75000"/>
            </a:pPr>
            <a:r>
              <a:rPr lang="he-IL" altLang="en-US" sz="2000"/>
              <a:t>כלומר: השאילתה הפנימית מתבצעת כל פעם עבור כל רשומה בשאילתה החיצונית.</a:t>
            </a:r>
            <a:endParaRPr lang="en-US" altLang="en-US" sz="2000"/>
          </a:p>
        </p:txBody>
      </p:sp>
    </p:spTree>
    <p:extLst>
      <p:ext uri="{BB962C8B-B14F-4D97-AF65-F5344CB8AC3E}">
        <p14:creationId xmlns:p14="http://schemas.microsoft.com/office/powerpoint/2010/main" val="611242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844166F8-8570-445C-AC21-10153B031CC9}" type="slidenum">
              <a:rPr lang="he-IL" altLang="en-US" sz="1400"/>
              <a:pPr eaLnBrk="1" hangingPunct="1"/>
              <a:t>4</a:t>
            </a:fld>
            <a:endParaRPr lang="en-US" altLang="en-US" sz="140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altLang="en-US" sz="3600" b="1" i="1" u="sng"/>
              <a:t>שאילתה מתואמת </a:t>
            </a:r>
            <a:r>
              <a:rPr lang="en-US" altLang="en-US" sz="3600" b="1" i="1" u="sng"/>
              <a:t>Correlated subquery)</a:t>
            </a:r>
            <a:r>
              <a:rPr lang="he-IL" altLang="en-US" sz="3600" b="1" i="1" u="sng"/>
              <a:t>)</a:t>
            </a:r>
            <a:endParaRPr lang="en-US" altLang="en-US" sz="3600" b="1"/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ctr">
              <a:buFontTx/>
              <a:buNone/>
              <a:defRPr/>
            </a:pPr>
            <a:r>
              <a:rPr lang="en-US" sz="2000" b="1" u="sng" dirty="0"/>
              <a:t>EXISTS</a:t>
            </a:r>
          </a:p>
          <a:p>
            <a:pPr>
              <a:buFontTx/>
              <a:buNone/>
              <a:defRPr/>
            </a:pPr>
            <a:endParaRPr lang="he-IL" sz="800" dirty="0"/>
          </a:p>
          <a:p>
            <a:pPr>
              <a:lnSpc>
                <a:spcPct val="90000"/>
              </a:lnSpc>
              <a:buClr>
                <a:schemeClr val="accent2"/>
              </a:buClr>
              <a:buSzPct val="85000"/>
              <a:buFontTx/>
              <a:buNone/>
              <a:defRPr/>
            </a:pPr>
            <a:r>
              <a:rPr lang="he-IL" sz="2000" b="1" dirty="0">
                <a:solidFill>
                  <a:srgbClr val="000000"/>
                </a:solidFill>
                <a:cs typeface="David" pitchFamily="2" charset="-79"/>
              </a:rPr>
              <a:t>בודקת אם התוצאה של השאילתה המקוננת המתואמת </a:t>
            </a:r>
            <a:r>
              <a:rPr lang="he-IL" sz="20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David" pitchFamily="2" charset="-79"/>
              </a:rPr>
              <a:t>ריקה</a:t>
            </a:r>
            <a:r>
              <a:rPr lang="he-IL" sz="2000" b="1" dirty="0">
                <a:solidFill>
                  <a:srgbClr val="000000"/>
                </a:solidFill>
                <a:cs typeface="David" pitchFamily="2" charset="-79"/>
              </a:rPr>
              <a:t> (לא כוללת רשומות) או לא ( כן כוללת רשומות). </a:t>
            </a:r>
            <a:endParaRPr lang="en-US" sz="2000" b="1" dirty="0">
              <a:solidFill>
                <a:srgbClr val="000000"/>
              </a:solidFill>
              <a:cs typeface="David" pitchFamily="2" charset="-79"/>
            </a:endParaRPr>
          </a:p>
          <a:p>
            <a:pPr>
              <a:lnSpc>
                <a:spcPct val="90000"/>
              </a:lnSpc>
              <a:buClr>
                <a:schemeClr val="accent2"/>
              </a:buClr>
              <a:buSzPct val="85000"/>
              <a:defRPr/>
            </a:pPr>
            <a:r>
              <a:rPr lang="en-US" sz="2000" b="1" dirty="0">
                <a:cs typeface="David" pitchFamily="2" charset="-79"/>
              </a:rPr>
              <a:t>Exist</a:t>
            </a:r>
            <a:r>
              <a:rPr lang="he-IL" sz="2000" b="1" dirty="0">
                <a:solidFill>
                  <a:srgbClr val="000000"/>
                </a:solidFill>
                <a:cs typeface="David" pitchFamily="2" charset="-79"/>
              </a:rPr>
              <a:t> - </a:t>
            </a:r>
            <a:r>
              <a:rPr lang="he-IL" sz="1800" b="1" dirty="0">
                <a:solidFill>
                  <a:srgbClr val="000000"/>
                </a:solidFill>
                <a:cs typeface="David" pitchFamily="2" charset="-79"/>
              </a:rPr>
              <a:t>מחזיר  </a:t>
            </a:r>
            <a:r>
              <a:rPr lang="en-US" sz="1800" b="1" dirty="0">
                <a:solidFill>
                  <a:srgbClr val="000000"/>
                </a:solidFill>
                <a:cs typeface="David" pitchFamily="2" charset="-79"/>
              </a:rPr>
              <a:t>True</a:t>
            </a:r>
            <a:r>
              <a:rPr lang="he-IL" sz="1800" b="1" dirty="0">
                <a:solidFill>
                  <a:srgbClr val="000000"/>
                </a:solidFill>
                <a:cs typeface="David" pitchFamily="2" charset="-79"/>
              </a:rPr>
              <a:t> </a:t>
            </a:r>
            <a:r>
              <a:rPr lang="he-IL" sz="1800" b="1" dirty="0">
                <a:solidFill>
                  <a:srgbClr val="0033CC"/>
                </a:solidFill>
                <a:cs typeface="David" pitchFamily="2" charset="-79"/>
              </a:rPr>
              <a:t>אם </a:t>
            </a:r>
            <a:r>
              <a:rPr lang="he-IL" sz="18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David" pitchFamily="2" charset="-79"/>
              </a:rPr>
              <a:t>לא</a:t>
            </a:r>
            <a:r>
              <a:rPr lang="he-IL" sz="1800" b="1" dirty="0">
                <a:solidFill>
                  <a:srgbClr val="0033CC"/>
                </a:solidFill>
                <a:cs typeface="David" pitchFamily="2" charset="-79"/>
              </a:rPr>
              <a:t> ריקה, כלומר קיימת</a:t>
            </a:r>
            <a:r>
              <a:rPr lang="he-IL" sz="1800" b="1" dirty="0">
                <a:solidFill>
                  <a:srgbClr val="000000"/>
                </a:solidFill>
                <a:cs typeface="David" pitchFamily="2" charset="-79"/>
              </a:rPr>
              <a:t> </a:t>
            </a:r>
            <a:r>
              <a:rPr lang="he-IL" sz="1800" b="1" dirty="0">
                <a:solidFill>
                  <a:srgbClr val="0033CC"/>
                </a:solidFill>
                <a:cs typeface="David" pitchFamily="2" charset="-79"/>
              </a:rPr>
              <a:t>לפחות רשומה אחת </a:t>
            </a:r>
            <a:r>
              <a:rPr lang="he-IL" sz="1800" b="1" dirty="0">
                <a:solidFill>
                  <a:srgbClr val="000000"/>
                </a:solidFill>
                <a:cs typeface="David" pitchFamily="2" charset="-79"/>
              </a:rPr>
              <a:t>בתוצאה הפנימית.</a:t>
            </a:r>
            <a:r>
              <a:rPr lang="he-IL" sz="2000" b="1" dirty="0">
                <a:solidFill>
                  <a:srgbClr val="000000"/>
                </a:solidFill>
                <a:cs typeface="David" pitchFamily="2" charset="-79"/>
              </a:rPr>
              <a:t> </a:t>
            </a:r>
          </a:p>
          <a:p>
            <a:pPr>
              <a:lnSpc>
                <a:spcPct val="90000"/>
              </a:lnSpc>
              <a:buClr>
                <a:schemeClr val="accent2"/>
              </a:buClr>
              <a:buSzPct val="85000"/>
              <a:defRPr/>
            </a:pPr>
            <a:r>
              <a:rPr lang="en-US" sz="2000" b="1" dirty="0">
                <a:cs typeface="David" pitchFamily="2" charset="-79"/>
              </a:rPr>
              <a:t>Not Exist</a:t>
            </a:r>
            <a:r>
              <a:rPr lang="he-IL" sz="2000" b="1" dirty="0">
                <a:solidFill>
                  <a:srgbClr val="000000"/>
                </a:solidFill>
                <a:cs typeface="David" pitchFamily="2" charset="-79"/>
              </a:rPr>
              <a:t> - </a:t>
            </a:r>
            <a:r>
              <a:rPr lang="he-IL" sz="1800" b="1" dirty="0">
                <a:solidFill>
                  <a:srgbClr val="000000"/>
                </a:solidFill>
                <a:cs typeface="David" pitchFamily="2" charset="-79"/>
              </a:rPr>
              <a:t>מחזיר </a:t>
            </a:r>
            <a:r>
              <a:rPr lang="en-US" sz="1800" b="1" dirty="0">
                <a:solidFill>
                  <a:srgbClr val="000000"/>
                </a:solidFill>
                <a:cs typeface="David" pitchFamily="2" charset="-79"/>
              </a:rPr>
              <a:t>True</a:t>
            </a:r>
            <a:r>
              <a:rPr lang="he-IL" sz="1800" b="1" dirty="0">
                <a:solidFill>
                  <a:srgbClr val="000000"/>
                </a:solidFill>
                <a:cs typeface="David" pitchFamily="2" charset="-79"/>
              </a:rPr>
              <a:t> </a:t>
            </a:r>
            <a:r>
              <a:rPr lang="he-IL" sz="1800" b="1" dirty="0">
                <a:solidFill>
                  <a:srgbClr val="0033CC"/>
                </a:solidFill>
                <a:cs typeface="David" pitchFamily="2" charset="-79"/>
              </a:rPr>
              <a:t>אם</a:t>
            </a:r>
            <a:r>
              <a:rPr lang="he-IL" sz="1800" b="1" dirty="0">
                <a:solidFill>
                  <a:srgbClr val="000000"/>
                </a:solidFill>
                <a:cs typeface="David" pitchFamily="2" charset="-79"/>
              </a:rPr>
              <a:t> </a:t>
            </a:r>
            <a:r>
              <a:rPr lang="he-IL" sz="1800" b="1" dirty="0">
                <a:solidFill>
                  <a:srgbClr val="FF0000"/>
                </a:solidFill>
                <a:cs typeface="David" pitchFamily="2" charset="-79"/>
              </a:rPr>
              <a:t>לא</a:t>
            </a:r>
            <a:r>
              <a:rPr lang="he-IL" sz="1800" b="1" dirty="0">
                <a:solidFill>
                  <a:srgbClr val="0033CC"/>
                </a:solidFill>
                <a:cs typeface="David" pitchFamily="2" charset="-79"/>
              </a:rPr>
              <a:t> קיימת</a:t>
            </a:r>
            <a:r>
              <a:rPr lang="he-IL" sz="1800" b="1" dirty="0">
                <a:solidFill>
                  <a:srgbClr val="000000"/>
                </a:solidFill>
                <a:cs typeface="David" pitchFamily="2" charset="-79"/>
              </a:rPr>
              <a:t> </a:t>
            </a:r>
            <a:r>
              <a:rPr lang="he-IL" sz="1800" b="1" dirty="0">
                <a:solidFill>
                  <a:srgbClr val="0033CC"/>
                </a:solidFill>
                <a:cs typeface="David" pitchFamily="2" charset="-79"/>
              </a:rPr>
              <a:t>אף רשומה</a:t>
            </a:r>
            <a:r>
              <a:rPr lang="he-IL" sz="1800" b="1" dirty="0">
                <a:solidFill>
                  <a:srgbClr val="000000"/>
                </a:solidFill>
                <a:cs typeface="David" pitchFamily="2" charset="-79"/>
              </a:rPr>
              <a:t> בתוצאה הפנימית.</a:t>
            </a:r>
            <a:r>
              <a:rPr lang="he-IL" sz="2000" b="1" dirty="0">
                <a:solidFill>
                  <a:srgbClr val="000000"/>
                </a:solidFill>
                <a:cs typeface="David" pitchFamily="2" charset="-79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12956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7586DBA2-F4A8-4133-A00C-98085A870CEC}" type="slidenum">
              <a:rPr lang="he-IL" altLang="en-US" sz="1400"/>
              <a:pPr eaLnBrk="1" hangingPunct="1"/>
              <a:t>5</a:t>
            </a:fld>
            <a:endParaRPr lang="en-US" altLang="en-US" sz="140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altLang="en-US" sz="3600" b="1" i="1" u="sng"/>
              <a:t>שאילתה מתואמת </a:t>
            </a:r>
            <a:r>
              <a:rPr lang="en-US" altLang="en-US" sz="3600" b="1" i="1" u="sng"/>
              <a:t>Correlated subquery)</a:t>
            </a:r>
            <a:r>
              <a:rPr lang="he-IL" altLang="en-US" sz="3600" b="1" i="1" u="sng"/>
              <a:t>)</a:t>
            </a:r>
            <a:endParaRPr lang="en-US" altLang="en-US" sz="3600" b="1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ctr">
              <a:buFontTx/>
              <a:buNone/>
              <a:defRPr/>
            </a:pPr>
            <a:r>
              <a:rPr lang="en-US" sz="2000" b="1" u="sng" dirty="0"/>
              <a:t>EXISTS</a:t>
            </a:r>
          </a:p>
          <a:p>
            <a:pPr>
              <a:buFontTx/>
              <a:buNone/>
              <a:defRPr/>
            </a:pPr>
            <a:endParaRPr lang="he-IL" sz="600" dirty="0"/>
          </a:p>
          <a:p>
            <a:pPr>
              <a:defRPr/>
            </a:pPr>
            <a:r>
              <a:rPr lang="he-IL" sz="1800" dirty="0"/>
              <a:t>למשל:</a:t>
            </a:r>
          </a:p>
          <a:p>
            <a:pPr>
              <a:buFontTx/>
              <a:buNone/>
              <a:defRPr/>
            </a:pPr>
            <a:r>
              <a:rPr lang="he-IL" sz="1800" dirty="0"/>
              <a:t> 	- </a:t>
            </a:r>
            <a:r>
              <a:rPr lang="he-IL" sz="1400" dirty="0"/>
              <a:t>לקבל את כל העובדים במחלקה שנמצאת בעיר </a:t>
            </a:r>
            <a:r>
              <a:rPr lang="en-US" sz="1400" dirty="0"/>
              <a:t>DALLAS</a:t>
            </a:r>
            <a:r>
              <a:rPr lang="he-IL" sz="1400" dirty="0"/>
              <a:t>.</a:t>
            </a:r>
          </a:p>
          <a:p>
            <a:pPr algn="l" rtl="0">
              <a:buFontTx/>
              <a:buNone/>
              <a:defRPr/>
            </a:pPr>
            <a:r>
              <a:rPr lang="en-US" sz="1400" dirty="0"/>
              <a:t>SELECT </a:t>
            </a:r>
            <a:r>
              <a:rPr lang="en-US" sz="1400" dirty="0" err="1"/>
              <a:t>deptno</a:t>
            </a:r>
            <a:r>
              <a:rPr lang="en-US" sz="1400" dirty="0"/>
              <a:t>, </a:t>
            </a:r>
            <a:r>
              <a:rPr lang="en-US" sz="1400" dirty="0" err="1"/>
              <a:t>ename</a:t>
            </a:r>
            <a:endParaRPr lang="en-US" sz="1400" dirty="0"/>
          </a:p>
          <a:p>
            <a:pPr algn="l" rtl="0">
              <a:buFontTx/>
              <a:buNone/>
              <a:defRPr/>
            </a:pPr>
            <a:r>
              <a:rPr lang="en-US" sz="1400" dirty="0"/>
              <a:t>FROM </a:t>
            </a:r>
            <a:r>
              <a:rPr lang="en-US" sz="1400" dirty="0" err="1"/>
              <a:t>emp</a:t>
            </a:r>
            <a:r>
              <a:rPr lang="en-US" sz="1400" dirty="0"/>
              <a:t> e</a:t>
            </a:r>
          </a:p>
          <a:p>
            <a:pPr algn="l" rtl="0">
              <a:buFontTx/>
              <a:buNone/>
              <a:defRPr/>
            </a:pPr>
            <a:r>
              <a:rPr lang="en-US" sz="1400" dirty="0"/>
              <a:t>WHERE EXISTS (</a:t>
            </a:r>
            <a:r>
              <a:rPr lang="en-US" sz="1400" dirty="0">
                <a:solidFill>
                  <a:schemeClr val="accent6"/>
                </a:solidFill>
              </a:rPr>
              <a:t>SELECT </a:t>
            </a:r>
            <a:r>
              <a:rPr lang="en-US" sz="1400" dirty="0" err="1">
                <a:solidFill>
                  <a:schemeClr val="accent6"/>
                </a:solidFill>
              </a:rPr>
              <a:t>deptno</a:t>
            </a:r>
            <a:endParaRPr lang="en-US" sz="1400" dirty="0">
              <a:solidFill>
                <a:schemeClr val="accent6"/>
              </a:solidFill>
            </a:endParaRPr>
          </a:p>
          <a:p>
            <a:pPr algn="l" rtl="0">
              <a:buFontTx/>
              <a:buNone/>
              <a:defRPr/>
            </a:pPr>
            <a:r>
              <a:rPr lang="en-US" sz="1400" dirty="0">
                <a:solidFill>
                  <a:schemeClr val="accent6"/>
                </a:solidFill>
              </a:rPr>
              <a:t>                              FROM   dept d</a:t>
            </a:r>
          </a:p>
          <a:p>
            <a:pPr algn="l" rtl="0">
              <a:buFontTx/>
              <a:buNone/>
              <a:defRPr/>
            </a:pPr>
            <a:r>
              <a:rPr lang="en-US" sz="1400" dirty="0">
                <a:solidFill>
                  <a:schemeClr val="accent6"/>
                </a:solidFill>
              </a:rPr>
              <a:t>                              WHERE </a:t>
            </a:r>
            <a:r>
              <a:rPr lang="en-US" sz="1400" dirty="0" err="1">
                <a:solidFill>
                  <a:schemeClr val="accent6"/>
                </a:solidFill>
              </a:rPr>
              <a:t>e.deptno</a:t>
            </a:r>
            <a:r>
              <a:rPr lang="en-US" sz="1400" dirty="0">
                <a:solidFill>
                  <a:schemeClr val="accent6"/>
                </a:solidFill>
              </a:rPr>
              <a:t>=</a:t>
            </a:r>
            <a:r>
              <a:rPr lang="en-US" sz="1400" dirty="0" err="1">
                <a:solidFill>
                  <a:schemeClr val="accent6"/>
                </a:solidFill>
              </a:rPr>
              <a:t>d.deptno</a:t>
            </a:r>
            <a:endParaRPr lang="en-US" sz="1400" dirty="0">
              <a:solidFill>
                <a:schemeClr val="accent6"/>
              </a:solidFill>
            </a:endParaRPr>
          </a:p>
          <a:p>
            <a:pPr algn="l" rtl="0">
              <a:buFontTx/>
              <a:buNone/>
              <a:defRPr/>
            </a:pPr>
            <a:r>
              <a:rPr lang="en-US" sz="1400" dirty="0">
                <a:solidFill>
                  <a:schemeClr val="accent6"/>
                </a:solidFill>
              </a:rPr>
              <a:t>                              AND d.loc='DALLAS'</a:t>
            </a:r>
            <a:r>
              <a:rPr lang="en-US" sz="1400" dirty="0"/>
              <a:t>)</a:t>
            </a:r>
          </a:p>
          <a:p>
            <a:pPr algn="l" rtl="0">
              <a:buFontTx/>
              <a:buNone/>
              <a:defRPr/>
            </a:pPr>
            <a:r>
              <a:rPr lang="en-US" sz="1400" dirty="0"/>
              <a:t>ORDER BY </a:t>
            </a:r>
            <a:r>
              <a:rPr lang="en-US" sz="1400" dirty="0" err="1"/>
              <a:t>e.empno</a:t>
            </a:r>
            <a:r>
              <a:rPr lang="en-US" sz="1400" dirty="0"/>
              <a:t>;</a:t>
            </a:r>
            <a:endParaRPr lang="he-IL" sz="1400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975" y="5133975"/>
            <a:ext cx="647700" cy="1295400"/>
          </a:xfrm>
          <a:prstGeom prst="rect">
            <a:avLst/>
          </a:prstGeom>
          <a:noFill/>
          <a:ln w="25400">
            <a:solidFill>
              <a:schemeClr val="accent6"/>
            </a:solidFill>
            <a:miter lim="800000"/>
            <a:headEnd/>
            <a:tailEnd/>
          </a:ln>
          <a:effectLst/>
        </p:spPr>
      </p:pic>
      <p:sp>
        <p:nvSpPr>
          <p:cNvPr id="6150" name="Rectangle 5"/>
          <p:cNvSpPr>
            <a:spLocks noChangeArrowheads="1"/>
          </p:cNvSpPr>
          <p:nvPr/>
        </p:nvSpPr>
        <p:spPr bwMode="auto">
          <a:xfrm>
            <a:off x="4714875" y="5591175"/>
            <a:ext cx="8382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r>
              <a:rPr lang="en-US" altLang="en-US" sz="1400" dirty="0"/>
              <a:t>EXISTS </a:t>
            </a:r>
            <a:endParaRPr lang="he-IL" altLang="en-US" dirty="0"/>
          </a:p>
        </p:txBody>
      </p:sp>
      <p:sp>
        <p:nvSpPr>
          <p:cNvPr id="8" name="Right Arrow 7"/>
          <p:cNvSpPr/>
          <p:nvPr/>
        </p:nvSpPr>
        <p:spPr>
          <a:xfrm>
            <a:off x="6315075" y="5667375"/>
            <a:ext cx="6858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pic>
        <p:nvPicPr>
          <p:cNvPr id="61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275" y="5133975"/>
            <a:ext cx="1228725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676775"/>
            <a:ext cx="3589338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966585" y="3463925"/>
            <a:ext cx="1752600" cy="84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6994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6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6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0" grpId="0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550177C-69E3-4F14-9D77-A26C289F3F01}" type="slidenum">
              <a:rPr lang="he-IL"/>
              <a:pPr/>
              <a:t>6</a:t>
            </a:fld>
            <a:endParaRPr lang="en-US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שאילתה מתואמת </a:t>
            </a:r>
            <a:r>
              <a:rPr lang="en-US" sz="3600" b="1" i="1" u="sng"/>
              <a:t>Correlated subquery)</a:t>
            </a:r>
            <a:r>
              <a:rPr lang="he-IL" sz="3600" b="1" i="1" u="sng"/>
              <a:t>)</a:t>
            </a:r>
            <a:endParaRPr lang="en-US" sz="3600" b="1"/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r>
              <a:rPr lang="he-IL" sz="2000" dirty="0"/>
              <a:t>וזה לעומת שאילתה רגילה :</a:t>
            </a:r>
            <a:endParaRPr lang="en-US" sz="2000" dirty="0"/>
          </a:p>
          <a:p>
            <a:pPr algn="l" rtl="0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SELECT </a:t>
            </a:r>
            <a:r>
              <a:rPr lang="en-US" sz="1800" dirty="0" err="1">
                <a:solidFill>
                  <a:schemeClr val="bg1"/>
                </a:solidFill>
              </a:rPr>
              <a:t>e.deptno,e.ename</a:t>
            </a:r>
            <a:endParaRPr lang="en-US" sz="1800" dirty="0">
              <a:solidFill>
                <a:schemeClr val="bg1"/>
              </a:solidFill>
            </a:endParaRPr>
          </a:p>
          <a:p>
            <a:pPr algn="l" rtl="0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FROM </a:t>
            </a:r>
            <a:r>
              <a:rPr lang="en-US" sz="1800" dirty="0" err="1">
                <a:solidFill>
                  <a:schemeClr val="bg1"/>
                </a:solidFill>
              </a:rPr>
              <a:t>emp</a:t>
            </a:r>
            <a:r>
              <a:rPr lang="en-US" sz="1800" dirty="0">
                <a:solidFill>
                  <a:schemeClr val="bg1"/>
                </a:solidFill>
              </a:rPr>
              <a:t> e , </a:t>
            </a:r>
            <a:r>
              <a:rPr lang="en-US" sz="1800" dirty="0" err="1">
                <a:solidFill>
                  <a:schemeClr val="bg1"/>
                </a:solidFill>
              </a:rPr>
              <a:t>dept</a:t>
            </a:r>
            <a:r>
              <a:rPr lang="en-US" sz="1800" dirty="0">
                <a:solidFill>
                  <a:schemeClr val="bg1"/>
                </a:solidFill>
              </a:rPr>
              <a:t> d</a:t>
            </a:r>
          </a:p>
          <a:p>
            <a:pPr algn="l" rtl="0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WHERE  </a:t>
            </a:r>
            <a:r>
              <a:rPr lang="en-US" sz="1800" dirty="0" err="1">
                <a:solidFill>
                  <a:schemeClr val="bg1"/>
                </a:solidFill>
              </a:rPr>
              <a:t>e.deptno</a:t>
            </a:r>
            <a:r>
              <a:rPr lang="en-US" sz="1800" dirty="0">
                <a:solidFill>
                  <a:schemeClr val="bg1"/>
                </a:solidFill>
              </a:rPr>
              <a:t>=</a:t>
            </a:r>
            <a:r>
              <a:rPr lang="en-US" sz="1800" dirty="0" err="1">
                <a:solidFill>
                  <a:schemeClr val="bg1"/>
                </a:solidFill>
              </a:rPr>
              <a:t>d.deptno</a:t>
            </a:r>
            <a:r>
              <a:rPr lang="en-US" sz="1800" dirty="0">
                <a:solidFill>
                  <a:schemeClr val="bg1"/>
                </a:solidFill>
              </a:rPr>
              <a:t>  </a:t>
            </a:r>
          </a:p>
          <a:p>
            <a:pPr algn="l" rtl="0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AND </a:t>
            </a:r>
            <a:r>
              <a:rPr lang="en-US" sz="1800" dirty="0" err="1">
                <a:solidFill>
                  <a:schemeClr val="bg1"/>
                </a:solidFill>
              </a:rPr>
              <a:t>d.loc</a:t>
            </a:r>
            <a:r>
              <a:rPr lang="en-US" sz="1800" dirty="0">
                <a:solidFill>
                  <a:schemeClr val="bg1"/>
                </a:solidFill>
              </a:rPr>
              <a:t>= 'DALLAS'</a:t>
            </a:r>
          </a:p>
          <a:p>
            <a:pPr algn="l" rtl="0">
              <a:buFontTx/>
              <a:buNone/>
            </a:pPr>
            <a:r>
              <a:rPr lang="en-US" sz="1800" dirty="0">
                <a:solidFill>
                  <a:schemeClr val="bg1"/>
                </a:solidFill>
              </a:rPr>
              <a:t>ORDER BY </a:t>
            </a:r>
            <a:r>
              <a:rPr lang="en-US" sz="1800" dirty="0" err="1">
                <a:solidFill>
                  <a:schemeClr val="bg1"/>
                </a:solidFill>
              </a:rPr>
              <a:t>e.empno</a:t>
            </a:r>
            <a:r>
              <a:rPr lang="en-US" sz="1800" dirty="0">
                <a:solidFill>
                  <a:schemeClr val="bg1"/>
                </a:solidFill>
              </a:rPr>
              <a:t>;</a:t>
            </a:r>
          </a:p>
          <a:p>
            <a:pPr>
              <a:buFontTx/>
              <a:buNone/>
            </a:pPr>
            <a:endParaRPr lang="he-IL" sz="1800" dirty="0"/>
          </a:p>
          <a:p>
            <a:pPr algn="ctr">
              <a:buFontTx/>
              <a:buNone/>
            </a:pPr>
            <a:endParaRPr lang="en-US" sz="1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53F2440E-7722-47F7-B141-7B09A7494E2E}" type="slidenum">
              <a:rPr lang="he-IL" altLang="en-US" sz="1400"/>
              <a:pPr eaLnBrk="1" hangingPunct="1"/>
              <a:t>7</a:t>
            </a:fld>
            <a:endParaRPr lang="en-US" altLang="en-US" sz="140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altLang="en-US" sz="3600" b="1" i="1" u="sng"/>
              <a:t>שאילתה מתואמת </a:t>
            </a:r>
            <a:r>
              <a:rPr lang="en-US" altLang="en-US" sz="3600" b="1" i="1" u="sng"/>
              <a:t>Correlated subquery)</a:t>
            </a:r>
            <a:r>
              <a:rPr lang="he-IL" altLang="en-US" sz="3600" b="1" i="1" u="sng"/>
              <a:t>)</a:t>
            </a:r>
            <a:endParaRPr lang="en-US" altLang="en-US" sz="3600" b="1"/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6482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altLang="en-US" sz="2000" b="1" i="1" u="sng" dirty="0"/>
              <a:t>NOT EXISTS</a:t>
            </a:r>
            <a:endParaRPr lang="en-US" altLang="en-US" sz="2000" dirty="0"/>
          </a:p>
          <a:p>
            <a:pPr algn="ctr">
              <a:buFontTx/>
              <a:buNone/>
            </a:pPr>
            <a:endParaRPr lang="en-US" altLang="en-US" sz="2000" b="1" u="sng" dirty="0"/>
          </a:p>
          <a:p>
            <a:pPr>
              <a:buFontTx/>
              <a:buNone/>
            </a:pPr>
            <a:endParaRPr lang="he-IL" altLang="en-US" sz="800" dirty="0"/>
          </a:p>
          <a:p>
            <a:r>
              <a:rPr lang="he-IL" altLang="en-US" sz="2000" dirty="0"/>
              <a:t>משמש לצורך בדיקה האם לא קיימות שורות בטבלה שעונות על קריטריון של </a:t>
            </a:r>
            <a:r>
              <a:rPr lang="en-US" altLang="en-US" sz="2000" dirty="0"/>
              <a:t>correlated </a:t>
            </a:r>
            <a:r>
              <a:rPr lang="en-US" altLang="en-US" sz="2000" dirty="0" err="1"/>
              <a:t>subquery</a:t>
            </a:r>
            <a:r>
              <a:rPr lang="he-IL" altLang="en-US" sz="2000" dirty="0"/>
              <a:t>. </a:t>
            </a:r>
          </a:p>
          <a:p>
            <a:r>
              <a:rPr lang="en-US" altLang="en-US" sz="2400" b="1" dirty="0">
                <a:cs typeface="David" panose="020E0502060401010101" pitchFamily="34" charset="-79"/>
              </a:rPr>
              <a:t>Not Exist</a:t>
            </a:r>
            <a:r>
              <a:rPr lang="he-IL" altLang="en-US" sz="2400" b="1" dirty="0">
                <a:solidFill>
                  <a:srgbClr val="000000"/>
                </a:solidFill>
                <a:cs typeface="David" panose="020E0502060401010101" pitchFamily="34" charset="-79"/>
              </a:rPr>
              <a:t> - </a:t>
            </a:r>
            <a:r>
              <a:rPr lang="he-IL" altLang="en-US" sz="2000" b="1" dirty="0">
                <a:solidFill>
                  <a:srgbClr val="000000"/>
                </a:solidFill>
                <a:cs typeface="David" panose="020E0502060401010101" pitchFamily="34" charset="-79"/>
              </a:rPr>
              <a:t>מחזיר </a:t>
            </a:r>
            <a:r>
              <a:rPr lang="en-US" altLang="en-US" sz="2000" b="1" dirty="0">
                <a:solidFill>
                  <a:srgbClr val="000000"/>
                </a:solidFill>
                <a:cs typeface="David" panose="020E0502060401010101" pitchFamily="34" charset="-79"/>
              </a:rPr>
              <a:t>True</a:t>
            </a:r>
            <a:r>
              <a:rPr lang="he-IL" altLang="en-US" sz="2000" b="1" dirty="0">
                <a:solidFill>
                  <a:srgbClr val="000000"/>
                </a:solidFill>
                <a:cs typeface="David" panose="020E0502060401010101" pitchFamily="34" charset="-79"/>
              </a:rPr>
              <a:t> </a:t>
            </a:r>
            <a:r>
              <a:rPr lang="he-IL" altLang="en-US" sz="2000" b="1" dirty="0">
                <a:solidFill>
                  <a:srgbClr val="0033CC"/>
                </a:solidFill>
                <a:cs typeface="David" panose="020E0502060401010101" pitchFamily="34" charset="-79"/>
              </a:rPr>
              <a:t>אם</a:t>
            </a:r>
            <a:r>
              <a:rPr lang="he-IL" altLang="en-US" sz="2000" b="1" dirty="0">
                <a:solidFill>
                  <a:srgbClr val="000000"/>
                </a:solidFill>
                <a:cs typeface="David" panose="020E0502060401010101" pitchFamily="34" charset="-79"/>
              </a:rPr>
              <a:t> </a:t>
            </a:r>
            <a:r>
              <a:rPr lang="he-IL" altLang="en-US" sz="2000" b="1" dirty="0">
                <a:solidFill>
                  <a:srgbClr val="FF0000"/>
                </a:solidFill>
                <a:cs typeface="David" panose="020E0502060401010101" pitchFamily="34" charset="-79"/>
              </a:rPr>
              <a:t>לא</a:t>
            </a:r>
            <a:r>
              <a:rPr lang="he-IL" altLang="en-US" sz="2000" b="1" dirty="0">
                <a:solidFill>
                  <a:srgbClr val="0033CC"/>
                </a:solidFill>
                <a:cs typeface="David" panose="020E0502060401010101" pitchFamily="34" charset="-79"/>
              </a:rPr>
              <a:t> קיימת</a:t>
            </a:r>
            <a:r>
              <a:rPr lang="he-IL" altLang="en-US" sz="2000" b="1" dirty="0">
                <a:solidFill>
                  <a:srgbClr val="000000"/>
                </a:solidFill>
                <a:cs typeface="David" panose="020E0502060401010101" pitchFamily="34" charset="-79"/>
              </a:rPr>
              <a:t> </a:t>
            </a:r>
            <a:r>
              <a:rPr lang="he-IL" altLang="en-US" sz="2000" b="1" dirty="0">
                <a:solidFill>
                  <a:srgbClr val="0033CC"/>
                </a:solidFill>
                <a:cs typeface="David" panose="020E0502060401010101" pitchFamily="34" charset="-79"/>
              </a:rPr>
              <a:t>אף רשומה</a:t>
            </a:r>
            <a:r>
              <a:rPr lang="he-IL" altLang="en-US" sz="2000" b="1" dirty="0">
                <a:solidFill>
                  <a:srgbClr val="000000"/>
                </a:solidFill>
                <a:cs typeface="David" panose="020E0502060401010101" pitchFamily="34" charset="-79"/>
              </a:rPr>
              <a:t> בתוצאה הפנימית.</a:t>
            </a:r>
            <a:r>
              <a:rPr lang="he-IL" altLang="en-US" sz="2400" b="1" dirty="0">
                <a:solidFill>
                  <a:srgbClr val="000000"/>
                </a:solidFill>
                <a:cs typeface="David" panose="020E0502060401010101" pitchFamily="34" charset="-79"/>
              </a:rPr>
              <a:t> </a:t>
            </a:r>
            <a:endParaRPr lang="he-IL" altLang="en-US" sz="2000" dirty="0"/>
          </a:p>
          <a:p>
            <a:pPr>
              <a:buFontTx/>
              <a:buNone/>
            </a:pPr>
            <a:r>
              <a:rPr lang="he-IL" altLang="en-US" sz="2000" dirty="0"/>
              <a:t>	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574210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C6AA715-4F8C-4321-BDF0-3E6EE66620AC}" type="slidenum">
              <a:rPr lang="he-IL"/>
              <a:pPr/>
              <a:t>8</a:t>
            </a:fld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שאילתה מתואמת </a:t>
            </a:r>
            <a:r>
              <a:rPr lang="en-US" sz="3600" b="1" i="1" u="sng"/>
              <a:t>Correlated subquery)</a:t>
            </a:r>
            <a:r>
              <a:rPr lang="he-IL" sz="3600" b="1" i="1" u="sng"/>
              <a:t>)</a:t>
            </a:r>
            <a:endParaRPr lang="en-US" sz="3600" b="1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ctr">
              <a:buFontTx/>
              <a:buNone/>
              <a:defRPr/>
            </a:pPr>
            <a:r>
              <a:rPr lang="en-US" sz="2000" b="1" i="1" u="sng" dirty="0"/>
              <a:t>NOT EXISTS</a:t>
            </a:r>
            <a:endParaRPr lang="en-US" sz="2000" dirty="0"/>
          </a:p>
          <a:p>
            <a:pPr>
              <a:buFontTx/>
              <a:buNone/>
              <a:defRPr/>
            </a:pPr>
            <a:endParaRPr lang="he-IL" sz="600" dirty="0"/>
          </a:p>
          <a:p>
            <a:pPr marL="0" indent="0">
              <a:buNone/>
              <a:defRPr/>
            </a:pPr>
            <a:r>
              <a:rPr lang="he-IL" sz="2000" dirty="0"/>
              <a:t>- </a:t>
            </a:r>
            <a:r>
              <a:rPr lang="he-IL" sz="1400" dirty="0"/>
              <a:t>לקבל רשימת מחלקות אשר אין להם אף עובד:</a:t>
            </a:r>
          </a:p>
          <a:p>
            <a:pPr algn="l" rtl="0">
              <a:buFontTx/>
              <a:buNone/>
              <a:defRPr/>
            </a:pPr>
            <a:r>
              <a:rPr lang="en-US" sz="1400" dirty="0">
                <a:solidFill>
                  <a:schemeClr val="bg1"/>
                </a:solidFill>
              </a:rPr>
              <a:t>SELECT </a:t>
            </a:r>
            <a:r>
              <a:rPr lang="en-US" sz="1400" dirty="0" err="1">
                <a:solidFill>
                  <a:schemeClr val="bg1"/>
                </a:solidFill>
              </a:rPr>
              <a:t>d.dname</a:t>
            </a:r>
            <a:endParaRPr lang="en-US" sz="1400" dirty="0">
              <a:solidFill>
                <a:schemeClr val="bg1"/>
              </a:solidFill>
            </a:endParaRPr>
          </a:p>
          <a:p>
            <a:pPr algn="l" rtl="0">
              <a:buFontTx/>
              <a:buNone/>
              <a:defRPr/>
            </a:pPr>
            <a:r>
              <a:rPr lang="en-US" sz="1400" dirty="0">
                <a:solidFill>
                  <a:schemeClr val="bg1"/>
                </a:solidFill>
              </a:rPr>
              <a:t>FROM dept d</a:t>
            </a:r>
          </a:p>
          <a:p>
            <a:pPr algn="l" rtl="0">
              <a:buFontTx/>
              <a:buNone/>
              <a:defRPr/>
            </a:pPr>
            <a:r>
              <a:rPr lang="en-US" sz="1400" dirty="0">
                <a:solidFill>
                  <a:schemeClr val="bg1"/>
                </a:solidFill>
              </a:rPr>
              <a:t>WHERE NOT EXISTS </a:t>
            </a:r>
            <a:r>
              <a:rPr lang="en-US" sz="1400" dirty="0"/>
              <a:t>(</a:t>
            </a:r>
            <a:r>
              <a:rPr lang="en-US" sz="1400" dirty="0">
                <a:solidFill>
                  <a:schemeClr val="accent6"/>
                </a:solidFill>
              </a:rPr>
              <a:t>SELECT </a:t>
            </a:r>
            <a:r>
              <a:rPr lang="en-US" sz="1400" dirty="0" err="1">
                <a:solidFill>
                  <a:schemeClr val="accent6"/>
                </a:solidFill>
              </a:rPr>
              <a:t>e.ename</a:t>
            </a:r>
            <a:endParaRPr lang="en-US" sz="1400" dirty="0">
              <a:solidFill>
                <a:schemeClr val="accent6"/>
              </a:solidFill>
            </a:endParaRPr>
          </a:p>
          <a:p>
            <a:pPr algn="l" rtl="0">
              <a:buFontTx/>
              <a:buNone/>
              <a:defRPr/>
            </a:pPr>
            <a:r>
              <a:rPr lang="en-US" sz="1400" dirty="0">
                <a:solidFill>
                  <a:schemeClr val="accent6"/>
                </a:solidFill>
              </a:rPr>
              <a:t>                                        FROM   </a:t>
            </a:r>
            <a:r>
              <a:rPr lang="en-US" sz="1400" dirty="0" err="1">
                <a:solidFill>
                  <a:schemeClr val="accent6"/>
                </a:solidFill>
              </a:rPr>
              <a:t>emp</a:t>
            </a:r>
            <a:r>
              <a:rPr lang="en-US" sz="1400" dirty="0">
                <a:solidFill>
                  <a:schemeClr val="accent6"/>
                </a:solidFill>
              </a:rPr>
              <a:t> e</a:t>
            </a:r>
          </a:p>
          <a:p>
            <a:pPr algn="l" rtl="0">
              <a:buFontTx/>
              <a:buNone/>
              <a:defRPr/>
            </a:pPr>
            <a:r>
              <a:rPr lang="en-US" sz="1400" dirty="0">
                <a:solidFill>
                  <a:schemeClr val="accent6"/>
                </a:solidFill>
              </a:rPr>
              <a:t>                                        WHERE </a:t>
            </a:r>
            <a:r>
              <a:rPr lang="en-US" sz="1400" dirty="0" err="1">
                <a:solidFill>
                  <a:schemeClr val="accent6"/>
                </a:solidFill>
              </a:rPr>
              <a:t>e.deptno</a:t>
            </a:r>
            <a:r>
              <a:rPr lang="en-US" sz="1400" dirty="0">
                <a:solidFill>
                  <a:schemeClr val="accent6"/>
                </a:solidFill>
              </a:rPr>
              <a:t>=</a:t>
            </a:r>
            <a:r>
              <a:rPr lang="en-US" sz="1400" dirty="0" err="1">
                <a:solidFill>
                  <a:schemeClr val="accent6"/>
                </a:solidFill>
              </a:rPr>
              <a:t>d.deptno</a:t>
            </a:r>
            <a:r>
              <a:rPr lang="en-US" sz="1400" dirty="0">
                <a:solidFill>
                  <a:schemeClr val="bg1"/>
                </a:solidFill>
              </a:rPr>
              <a:t>)</a:t>
            </a:r>
            <a:r>
              <a:rPr lang="en-US" sz="1400" dirty="0"/>
              <a:t>;</a:t>
            </a:r>
          </a:p>
        </p:txBody>
      </p: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2449513" y="5443537"/>
            <a:ext cx="8382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 dirty="0"/>
              <a:t>NOT EXISTS </a:t>
            </a:r>
            <a:endParaRPr lang="he-IL" dirty="0"/>
          </a:p>
        </p:txBody>
      </p:sp>
      <p:sp>
        <p:nvSpPr>
          <p:cNvPr id="8" name="Right Arrow 7"/>
          <p:cNvSpPr/>
          <p:nvPr/>
        </p:nvSpPr>
        <p:spPr>
          <a:xfrm>
            <a:off x="6019800" y="5553075"/>
            <a:ext cx="6858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7713" y="4681537"/>
            <a:ext cx="2627312" cy="1871663"/>
          </a:xfrm>
          <a:prstGeom prst="rect">
            <a:avLst/>
          </a:prstGeom>
          <a:noFill/>
          <a:ln w="25400">
            <a:solidFill>
              <a:schemeClr val="accent6"/>
            </a:solidFill>
            <a:miter lim="800000"/>
            <a:headEnd/>
            <a:tailEnd/>
          </a:ln>
          <a:effectLst/>
        </p:spPr>
      </p:pic>
      <p:pic>
        <p:nvPicPr>
          <p:cNvPr id="112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81800" y="5367337"/>
            <a:ext cx="8096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7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96913" y="5138737"/>
            <a:ext cx="1752600" cy="84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2819400"/>
            <a:ext cx="3276123" cy="1782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1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500"/>
                                        <p:tgtEl>
                                          <p:spTgt spid="11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9" grpId="0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C6AA715-4F8C-4321-BDF0-3E6EE66620AC}" type="slidenum">
              <a:rPr lang="he-IL"/>
              <a:pPr/>
              <a:t>9</a:t>
            </a:fld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שאילתה מתואמת </a:t>
            </a:r>
            <a:r>
              <a:rPr lang="en-US" sz="3600" b="1" i="1" u="sng"/>
              <a:t>Correlated subquery)</a:t>
            </a:r>
            <a:r>
              <a:rPr lang="he-IL" sz="3600" b="1" i="1" u="sng"/>
              <a:t>)</a:t>
            </a:r>
            <a:endParaRPr lang="en-US" sz="3600" b="1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ctr">
              <a:buFontTx/>
              <a:buNone/>
              <a:defRPr/>
            </a:pPr>
            <a:r>
              <a:rPr lang="en-US" sz="2000" b="1" i="1" u="sng" dirty="0"/>
              <a:t>NOT EXISTS</a:t>
            </a:r>
            <a:endParaRPr lang="en-US" sz="2000" dirty="0"/>
          </a:p>
          <a:p>
            <a:pPr>
              <a:buFontTx/>
              <a:buNone/>
              <a:defRPr/>
            </a:pPr>
            <a:endParaRPr lang="he-IL" sz="600" dirty="0"/>
          </a:p>
          <a:p>
            <a:pPr>
              <a:defRPr/>
            </a:pPr>
            <a:r>
              <a:rPr lang="he-IL" sz="1600" dirty="0"/>
              <a:t>דוגמא נוספת:</a:t>
            </a:r>
          </a:p>
          <a:p>
            <a:pPr>
              <a:buFontTx/>
              <a:buNone/>
              <a:defRPr/>
            </a:pPr>
            <a:r>
              <a:rPr lang="he-IL" sz="2000" dirty="0"/>
              <a:t> 	- </a:t>
            </a:r>
            <a:r>
              <a:rPr lang="he-IL" sz="1400" dirty="0"/>
              <a:t>לקבל רשימת עובדים אשר עובדים בכל מקום חוץ מעיר </a:t>
            </a:r>
            <a:r>
              <a:rPr lang="en-US" sz="1400" dirty="0"/>
              <a:t>CHICAGO</a:t>
            </a:r>
          </a:p>
          <a:p>
            <a:pPr algn="l" rtl="0">
              <a:buFontTx/>
              <a:buNone/>
              <a:defRPr/>
            </a:pPr>
            <a:r>
              <a:rPr lang="en-US" sz="1400" dirty="0"/>
              <a:t>SELECT </a:t>
            </a:r>
            <a:r>
              <a:rPr lang="en-US" sz="1400" dirty="0" err="1"/>
              <a:t>e.deptno,e.ename</a:t>
            </a:r>
            <a:r>
              <a:rPr lang="en-US" sz="1400" dirty="0"/>
              <a:t> </a:t>
            </a:r>
          </a:p>
          <a:p>
            <a:pPr algn="l" rtl="0">
              <a:buFontTx/>
              <a:buNone/>
              <a:defRPr/>
            </a:pPr>
            <a:r>
              <a:rPr lang="en-US" sz="1400" dirty="0"/>
              <a:t>FROM </a:t>
            </a:r>
            <a:r>
              <a:rPr lang="en-US" sz="1400" dirty="0" err="1"/>
              <a:t>emp</a:t>
            </a:r>
            <a:r>
              <a:rPr lang="en-US" sz="1400" dirty="0"/>
              <a:t> e </a:t>
            </a:r>
          </a:p>
          <a:p>
            <a:pPr algn="l" rtl="0">
              <a:buFontTx/>
              <a:buNone/>
              <a:defRPr/>
            </a:pPr>
            <a:r>
              <a:rPr lang="en-US" sz="1400" dirty="0"/>
              <a:t>WHERE NOT EXISTS (SELECT * FROM </a:t>
            </a:r>
            <a:r>
              <a:rPr lang="en-US" sz="1400" dirty="0" err="1"/>
              <a:t>dept</a:t>
            </a:r>
            <a:r>
              <a:rPr lang="en-US" sz="1400" dirty="0"/>
              <a:t> d </a:t>
            </a:r>
          </a:p>
          <a:p>
            <a:pPr algn="l" rtl="0">
              <a:buFontTx/>
              <a:buNone/>
              <a:defRPr/>
            </a:pPr>
            <a:r>
              <a:rPr lang="en-US" sz="1400" dirty="0"/>
              <a:t>			WHERE </a:t>
            </a:r>
            <a:r>
              <a:rPr lang="en-US" sz="1400" dirty="0" err="1"/>
              <a:t>e.deptno</a:t>
            </a:r>
            <a:r>
              <a:rPr lang="en-US" sz="1400" dirty="0"/>
              <a:t>=</a:t>
            </a:r>
            <a:r>
              <a:rPr lang="en-US" sz="1400" dirty="0" err="1"/>
              <a:t>d.deptno</a:t>
            </a:r>
            <a:r>
              <a:rPr lang="en-US" sz="1400" dirty="0"/>
              <a:t> </a:t>
            </a:r>
          </a:p>
          <a:p>
            <a:pPr algn="l" rtl="0">
              <a:buFontTx/>
              <a:buNone/>
              <a:defRPr/>
            </a:pPr>
            <a:r>
              <a:rPr lang="en-US" sz="1400" dirty="0"/>
              <a:t>			AND </a:t>
            </a:r>
            <a:r>
              <a:rPr lang="en-US" sz="1400" dirty="0" err="1"/>
              <a:t>d.loc</a:t>
            </a:r>
            <a:r>
              <a:rPr lang="en-US" sz="1400" dirty="0"/>
              <a:t>= 'CHICAGO');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9663" y="4231301"/>
            <a:ext cx="1266825" cy="19716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389" y="4313765"/>
            <a:ext cx="3556266" cy="19346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3610572" y="5029200"/>
            <a:ext cx="8382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 dirty="0"/>
              <a:t>NOT EXISTS</a:t>
            </a:r>
            <a:endParaRPr lang="he-IL" dirty="0"/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19361" y="4782608"/>
            <a:ext cx="1752600" cy="84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ight Arrow 8"/>
          <p:cNvSpPr/>
          <p:nvPr/>
        </p:nvSpPr>
        <p:spPr>
          <a:xfrm>
            <a:off x="6324361" y="5204882"/>
            <a:ext cx="685800" cy="1524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cxnSp>
        <p:nvCxnSpPr>
          <p:cNvPr id="4" name="Straight Connector 3"/>
          <p:cNvCxnSpPr>
            <a:endCxn id="8" idx="3"/>
          </p:cNvCxnSpPr>
          <p:nvPr/>
        </p:nvCxnSpPr>
        <p:spPr>
          <a:xfrm>
            <a:off x="4419361" y="5029200"/>
            <a:ext cx="1752600" cy="1756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8" idx="1"/>
          </p:cNvCxnSpPr>
          <p:nvPr/>
        </p:nvCxnSpPr>
        <p:spPr>
          <a:xfrm flipV="1">
            <a:off x="4419361" y="5029200"/>
            <a:ext cx="1676639" cy="17568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4419361" y="5553075"/>
            <a:ext cx="167663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42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40519BC-AC37-4667-9D0A-9AFB1287B773}" type="slidenum">
              <a:rPr lang="he-IL"/>
              <a:pPr/>
              <a:t>10</a:t>
            </a:fld>
            <a:endParaRPr lang="en-US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שאילתה מתואמת </a:t>
            </a:r>
            <a:r>
              <a:rPr lang="en-US" sz="3600" b="1" i="1" u="sng"/>
              <a:t>Correlated subquery)</a:t>
            </a:r>
            <a:r>
              <a:rPr lang="he-IL" sz="3600" b="1" i="1" u="sng"/>
              <a:t>)</a:t>
            </a:r>
            <a:endParaRPr lang="en-US" sz="3600" b="1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ctr">
              <a:buFontTx/>
              <a:buNone/>
              <a:defRPr/>
            </a:pPr>
            <a:r>
              <a:rPr lang="en-US" sz="2000" b="1" i="1" u="sng" dirty="0"/>
              <a:t>ALL</a:t>
            </a:r>
            <a:endParaRPr lang="en-US" sz="2000" dirty="0"/>
          </a:p>
          <a:p>
            <a:pPr>
              <a:buFontTx/>
              <a:buNone/>
              <a:defRPr/>
            </a:pPr>
            <a:endParaRPr lang="he-IL" sz="600" dirty="0"/>
          </a:p>
          <a:p>
            <a:pPr>
              <a:buFontTx/>
              <a:buNone/>
            </a:pPr>
            <a:r>
              <a:rPr lang="he-IL" sz="1400" dirty="0"/>
              <a:t>	דוגמא נוספת:</a:t>
            </a:r>
          </a:p>
          <a:p>
            <a:pPr>
              <a:buFontTx/>
              <a:buNone/>
            </a:pPr>
            <a:r>
              <a:rPr lang="he-IL" sz="1400" dirty="0"/>
              <a:t> 	- </a:t>
            </a:r>
            <a:r>
              <a:rPr lang="he-IL" sz="1100" dirty="0"/>
              <a:t>לקבל נתונים על העובדים שמשתכרים יותר מכל ה-</a:t>
            </a:r>
            <a:r>
              <a:rPr lang="en-US" sz="1100" dirty="0"/>
              <a:t>SALESMAN</a:t>
            </a:r>
            <a:r>
              <a:rPr lang="he-IL" sz="1100" dirty="0"/>
              <a:t>:</a:t>
            </a:r>
            <a:endParaRPr lang="en-US" sz="1400" dirty="0">
              <a:solidFill>
                <a:schemeClr val="bg1"/>
              </a:solidFill>
            </a:endParaRPr>
          </a:p>
          <a:p>
            <a:pPr algn="l" rtl="0">
              <a:buFontTx/>
              <a:buNone/>
              <a:defRPr/>
            </a:pPr>
            <a:r>
              <a:rPr lang="en-US" sz="1400" dirty="0">
                <a:solidFill>
                  <a:schemeClr val="bg1"/>
                </a:solidFill>
              </a:rPr>
              <a:t>SELECT *</a:t>
            </a:r>
          </a:p>
          <a:p>
            <a:pPr algn="l" rtl="0">
              <a:buFontTx/>
              <a:buNone/>
              <a:defRPr/>
            </a:pPr>
            <a:r>
              <a:rPr lang="en-US" sz="1400" dirty="0">
                <a:solidFill>
                  <a:schemeClr val="bg1"/>
                </a:solidFill>
              </a:rPr>
              <a:t>FROM </a:t>
            </a:r>
            <a:r>
              <a:rPr lang="en-US" sz="1400" dirty="0" err="1">
                <a:solidFill>
                  <a:schemeClr val="bg1"/>
                </a:solidFill>
              </a:rPr>
              <a:t>emp</a:t>
            </a:r>
            <a:endParaRPr lang="en-US" sz="1400" dirty="0">
              <a:solidFill>
                <a:schemeClr val="bg1"/>
              </a:solidFill>
            </a:endParaRPr>
          </a:p>
          <a:p>
            <a:pPr algn="l" rtl="0">
              <a:buFontTx/>
              <a:buNone/>
              <a:defRPr/>
            </a:pPr>
            <a:r>
              <a:rPr lang="en-US" sz="1400" dirty="0">
                <a:solidFill>
                  <a:schemeClr val="bg1"/>
                </a:solidFill>
              </a:rPr>
              <a:t>WHERE  </a:t>
            </a:r>
            <a:r>
              <a:rPr lang="en-US" sz="1400" dirty="0" err="1">
                <a:solidFill>
                  <a:schemeClr val="bg1"/>
                </a:solidFill>
              </a:rPr>
              <a:t>sal</a:t>
            </a:r>
            <a:r>
              <a:rPr lang="en-US" sz="1400" dirty="0">
                <a:solidFill>
                  <a:schemeClr val="bg1"/>
                </a:solidFill>
              </a:rPr>
              <a:t>&gt; ALL (</a:t>
            </a:r>
            <a:r>
              <a:rPr lang="en-US" sz="1400" dirty="0">
                <a:solidFill>
                  <a:schemeClr val="accent6"/>
                </a:solidFill>
              </a:rPr>
              <a:t>SELECT  </a:t>
            </a:r>
            <a:r>
              <a:rPr lang="en-US" sz="1400" dirty="0" err="1">
                <a:solidFill>
                  <a:schemeClr val="accent6"/>
                </a:solidFill>
              </a:rPr>
              <a:t>sal</a:t>
            </a:r>
            <a:r>
              <a:rPr lang="en-US" sz="1400" dirty="0">
                <a:solidFill>
                  <a:schemeClr val="accent6"/>
                </a:solidFill>
              </a:rPr>
              <a:t>  FROM  </a:t>
            </a:r>
            <a:r>
              <a:rPr lang="en-US" sz="1400" dirty="0" err="1">
                <a:solidFill>
                  <a:schemeClr val="accent6"/>
                </a:solidFill>
              </a:rPr>
              <a:t>emp</a:t>
            </a:r>
            <a:r>
              <a:rPr lang="en-US" sz="1400" dirty="0">
                <a:solidFill>
                  <a:schemeClr val="accent6"/>
                </a:solidFill>
              </a:rPr>
              <a:t> where job='SALESMAN'</a:t>
            </a:r>
            <a:r>
              <a:rPr lang="en-US" sz="1400" dirty="0">
                <a:solidFill>
                  <a:schemeClr val="bg1"/>
                </a:solidFill>
              </a:rPr>
              <a:t>);</a:t>
            </a:r>
          </a:p>
        </p:txBody>
      </p:sp>
      <p:sp>
        <p:nvSpPr>
          <p:cNvPr id="15365" name="Rectangle 5"/>
          <p:cNvSpPr>
            <a:spLocks noChangeArrowheads="1"/>
          </p:cNvSpPr>
          <p:nvPr/>
        </p:nvSpPr>
        <p:spPr bwMode="auto">
          <a:xfrm>
            <a:off x="3744913" y="5181600"/>
            <a:ext cx="8382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/>
              <a:t>&gt;ALL</a:t>
            </a:r>
            <a:endParaRPr lang="he-IL"/>
          </a:p>
        </p:txBody>
      </p:sp>
      <p:sp>
        <p:nvSpPr>
          <p:cNvPr id="8" name="Right Arrow 7"/>
          <p:cNvSpPr/>
          <p:nvPr/>
        </p:nvSpPr>
        <p:spPr>
          <a:xfrm>
            <a:off x="5018088" y="5214938"/>
            <a:ext cx="392112" cy="1952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95800" y="4800600"/>
            <a:ext cx="438150" cy="1057275"/>
          </a:xfrm>
          <a:prstGeom prst="rect">
            <a:avLst/>
          </a:prstGeom>
          <a:noFill/>
          <a:ln w="25400">
            <a:solidFill>
              <a:schemeClr val="accent6"/>
            </a:solidFill>
            <a:miter lim="800000"/>
            <a:headEnd/>
            <a:tailEnd/>
          </a:ln>
          <a:effectLst/>
        </p:spPr>
      </p:pic>
      <p:pic>
        <p:nvPicPr>
          <p:cNvPr id="15368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4800" y="4038600"/>
            <a:ext cx="3589338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9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486400" y="4572000"/>
            <a:ext cx="3313113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5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5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9D9E74A-561D-49EF-8D38-7C25AA089741}" type="slidenum">
              <a:rPr lang="he-IL"/>
              <a:pPr/>
              <a:t>11</a:t>
            </a:fld>
            <a:endParaRPr lang="en-US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שאילתה מתואמת </a:t>
            </a:r>
            <a:r>
              <a:rPr lang="en-US" sz="3600" b="1" i="1" u="sng"/>
              <a:t>Correlated subquery)</a:t>
            </a:r>
            <a:r>
              <a:rPr lang="he-IL" sz="3600" b="1" i="1" u="sng"/>
              <a:t>)</a:t>
            </a:r>
            <a:endParaRPr lang="en-US" sz="3600" b="1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ctr">
              <a:buFontTx/>
              <a:buNone/>
              <a:defRPr/>
            </a:pPr>
            <a:r>
              <a:rPr lang="en-US" sz="2000" b="1" i="1" u="sng" dirty="0"/>
              <a:t>ANY</a:t>
            </a:r>
          </a:p>
          <a:p>
            <a:pPr>
              <a:buFontTx/>
              <a:buNone/>
              <a:defRPr/>
            </a:pPr>
            <a:endParaRPr lang="he-IL" sz="800" dirty="0"/>
          </a:p>
          <a:p>
            <a:pPr>
              <a:defRPr/>
            </a:pPr>
            <a:r>
              <a:rPr lang="he-IL" sz="2000" dirty="0"/>
              <a:t>משמש לצורך השוואת קבוצת ערכים מול קבוצת ערכים, ניתן להשתמש באופרטורים הבאים: &lt;,&gt;,=</a:t>
            </a:r>
          </a:p>
          <a:p>
            <a:pPr>
              <a:buFontTx/>
              <a:buNone/>
              <a:defRPr/>
            </a:pPr>
            <a:r>
              <a:rPr lang="he-IL" sz="2000" dirty="0"/>
              <a:t>	למשל:</a:t>
            </a:r>
          </a:p>
          <a:p>
            <a:pPr>
              <a:buFontTx/>
              <a:buNone/>
              <a:defRPr/>
            </a:pPr>
            <a:r>
              <a:rPr lang="he-IL" sz="2000" dirty="0"/>
              <a:t> 	- </a:t>
            </a:r>
            <a:r>
              <a:rPr lang="he-IL" sz="1600" dirty="0"/>
              <a:t>לקבל נתונים על מחשבים ניידים אשר המחיר שלהם נמוך מהמחיר של מחשב אישי כלשהוא:</a:t>
            </a:r>
            <a:endParaRPr lang="en-US" sz="1600" dirty="0"/>
          </a:p>
          <a:p>
            <a:pPr>
              <a:buFontTx/>
              <a:buNone/>
              <a:defRPr/>
            </a:pPr>
            <a:endParaRPr lang="he-IL" sz="1600" dirty="0"/>
          </a:p>
          <a:p>
            <a:pPr>
              <a:buFontTx/>
              <a:buNone/>
              <a:defRPr/>
            </a:pPr>
            <a:endParaRPr lang="he-IL" sz="800" dirty="0"/>
          </a:p>
          <a:p>
            <a:pPr algn="l" rtl="0">
              <a:buFontTx/>
              <a:buNone/>
              <a:defRPr/>
            </a:pPr>
            <a:r>
              <a:rPr lang="en-US" sz="1800" dirty="0">
                <a:solidFill>
                  <a:schemeClr val="bg1"/>
                </a:solidFill>
              </a:rPr>
              <a:t>SELECT *</a:t>
            </a:r>
          </a:p>
          <a:p>
            <a:pPr algn="l" rtl="0">
              <a:buFontTx/>
              <a:buNone/>
              <a:defRPr/>
            </a:pPr>
            <a:r>
              <a:rPr lang="en-US" sz="1800" dirty="0">
                <a:solidFill>
                  <a:schemeClr val="bg1"/>
                </a:solidFill>
              </a:rPr>
              <a:t>FROM  Laptop</a:t>
            </a:r>
          </a:p>
          <a:p>
            <a:pPr algn="l" rtl="0">
              <a:buFontTx/>
              <a:buNone/>
              <a:defRPr/>
            </a:pPr>
            <a:r>
              <a:rPr lang="en-US" sz="1800" dirty="0">
                <a:solidFill>
                  <a:schemeClr val="bg1"/>
                </a:solidFill>
              </a:rPr>
              <a:t>WHERE  price &lt; ANY (SELECT  price  FROM  PC);</a:t>
            </a:r>
          </a:p>
          <a:p>
            <a:pPr lvl="1" algn="l" rtl="0">
              <a:buFontTx/>
              <a:buNone/>
              <a:defRPr/>
            </a:pPr>
            <a:r>
              <a:rPr lang="en-US" sz="1600" dirty="0">
                <a:ea typeface="+mn-ea"/>
                <a:cs typeface="+mn-cs"/>
              </a:rPr>
              <a:t>(150,250)&lt;ANY(100,200)   -----</a:t>
            </a:r>
            <a:r>
              <a:rPr lang="en-US" sz="1600" dirty="0">
                <a:ea typeface="+mn-ea"/>
                <a:cs typeface="+mn-cs"/>
                <a:sym typeface="Wingdings"/>
              </a:rPr>
              <a:t></a:t>
            </a:r>
            <a:r>
              <a:rPr lang="en-US" sz="1600" dirty="0">
                <a:ea typeface="+mn-ea"/>
                <a:cs typeface="+mn-cs"/>
              </a:rPr>
              <a:t>  (150)</a:t>
            </a:r>
          </a:p>
          <a:p>
            <a:pPr lvl="1" algn="l" rtl="0">
              <a:buFontTx/>
              <a:buNone/>
              <a:defRPr/>
            </a:pPr>
            <a:r>
              <a:rPr lang="en-US" sz="1600" dirty="0">
                <a:ea typeface="+mn-ea"/>
                <a:cs typeface="+mn-cs"/>
              </a:rPr>
              <a:t>(150,250)&gt;ANY(100,200)   -----</a:t>
            </a:r>
            <a:r>
              <a:rPr lang="en-US" sz="1600" dirty="0">
                <a:ea typeface="+mn-ea"/>
                <a:cs typeface="+mn-cs"/>
                <a:sym typeface="Wingdings"/>
              </a:rPr>
              <a:t></a:t>
            </a:r>
            <a:r>
              <a:rPr lang="en-US" sz="1600" dirty="0">
                <a:ea typeface="+mn-ea"/>
                <a:cs typeface="+mn-cs"/>
              </a:rPr>
              <a:t>  (150,250)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7FB2ED-27F3-43B7-AA2F-DD668835A2D5}" type="slidenum">
              <a:rPr lang="he-IL"/>
              <a:pPr/>
              <a:t>12</a:t>
            </a:fld>
            <a:endParaRPr lang="en-US" dirty="0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שאילתה מתואמת </a:t>
            </a:r>
            <a:r>
              <a:rPr lang="en-US" sz="3600" b="1" i="1" u="sng"/>
              <a:t>Correlated subquery)</a:t>
            </a:r>
            <a:r>
              <a:rPr lang="he-IL" sz="3600" b="1" i="1" u="sng"/>
              <a:t>)</a:t>
            </a:r>
            <a:endParaRPr lang="en-US" sz="3600" b="1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153400" cy="44196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sz="2000" b="1" i="1" u="sng" dirty="0"/>
              <a:t>ANY</a:t>
            </a:r>
          </a:p>
          <a:p>
            <a:pPr>
              <a:buFontTx/>
              <a:buNone/>
            </a:pPr>
            <a:endParaRPr lang="he-IL" sz="800" dirty="0"/>
          </a:p>
          <a:p>
            <a:r>
              <a:rPr lang="he-IL" sz="2000" dirty="0"/>
              <a:t>דוגמא נוספת:</a:t>
            </a:r>
          </a:p>
          <a:p>
            <a:pPr>
              <a:buFontTx/>
              <a:buNone/>
            </a:pPr>
            <a:r>
              <a:rPr lang="he-IL" sz="2000" dirty="0"/>
              <a:t>	- </a:t>
            </a:r>
            <a:r>
              <a:rPr lang="he-IL" sz="1600" dirty="0"/>
              <a:t>לקבל נתונים על העובדים שהם לא פקידים, שמשתכרים פחות מאחד הפקידים : </a:t>
            </a:r>
            <a:endParaRPr lang="en-US" sz="1600" dirty="0"/>
          </a:p>
          <a:p>
            <a:pPr algn="l" rtl="0">
              <a:buFontTx/>
              <a:buNone/>
            </a:pPr>
            <a:r>
              <a:rPr lang="en-US" sz="1600" dirty="0"/>
              <a:t>SELECT * FROM </a:t>
            </a:r>
            <a:r>
              <a:rPr lang="en-US" sz="1600" dirty="0" err="1"/>
              <a:t>emp</a:t>
            </a:r>
            <a:r>
              <a:rPr lang="en-US" sz="1600" dirty="0"/>
              <a:t> </a:t>
            </a:r>
          </a:p>
          <a:p>
            <a:pPr algn="l" rtl="0">
              <a:buFontTx/>
              <a:buNone/>
            </a:pPr>
            <a:r>
              <a:rPr lang="en-US" sz="1600" dirty="0"/>
              <a:t>WHERE </a:t>
            </a:r>
            <a:r>
              <a:rPr lang="en-US" sz="1600" dirty="0" err="1"/>
              <a:t>sal</a:t>
            </a:r>
            <a:r>
              <a:rPr lang="en-US" sz="1600" dirty="0"/>
              <a:t>&lt; ANY (SELECT </a:t>
            </a:r>
            <a:r>
              <a:rPr lang="en-US" sz="1600" dirty="0" err="1"/>
              <a:t>sal</a:t>
            </a:r>
            <a:r>
              <a:rPr lang="en-US" sz="1600" dirty="0"/>
              <a:t> FROM </a:t>
            </a:r>
            <a:r>
              <a:rPr lang="en-US" sz="1600" dirty="0" err="1"/>
              <a:t>emp</a:t>
            </a:r>
            <a:r>
              <a:rPr lang="en-US" sz="1600" dirty="0"/>
              <a:t> where job='CLERK') </a:t>
            </a:r>
          </a:p>
          <a:p>
            <a:pPr algn="l" rtl="0">
              <a:buFontTx/>
              <a:buNone/>
            </a:pPr>
            <a:r>
              <a:rPr lang="en-US" sz="1600" dirty="0"/>
              <a:t>AND job &lt;&gt; 'CLERK' ;</a:t>
            </a:r>
            <a:r>
              <a:rPr lang="he-IL" sz="2000" b="1" i="1" dirty="0"/>
              <a:t> </a:t>
            </a:r>
            <a:endParaRPr lang="en-US" sz="2000" dirty="0"/>
          </a:p>
          <a:p>
            <a:pPr>
              <a:buFontTx/>
              <a:buNone/>
            </a:pPr>
            <a:endParaRPr lang="en-US" sz="1600" dirty="0"/>
          </a:p>
          <a:p>
            <a:pPr>
              <a:buFontTx/>
              <a:buNone/>
            </a:pPr>
            <a:endParaRPr lang="he-IL" sz="1600" dirty="0"/>
          </a:p>
          <a:p>
            <a:pPr>
              <a:buFontTx/>
              <a:buNone/>
            </a:pPr>
            <a:endParaRPr lang="he-IL" sz="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910262"/>
            <a:ext cx="4619625" cy="6762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599" y="4269311"/>
            <a:ext cx="476250" cy="1085850"/>
          </a:xfrm>
          <a:prstGeom prst="rect">
            <a:avLst/>
          </a:prstGeom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04800" y="4038600"/>
            <a:ext cx="3589338" cy="1952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ight Arrow 7"/>
          <p:cNvSpPr/>
          <p:nvPr/>
        </p:nvSpPr>
        <p:spPr>
          <a:xfrm>
            <a:off x="4114800" y="4819650"/>
            <a:ext cx="1458912" cy="20955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  <p:sp>
        <p:nvSpPr>
          <p:cNvPr id="9" name="Right Arrow 8"/>
          <p:cNvSpPr/>
          <p:nvPr/>
        </p:nvSpPr>
        <p:spPr>
          <a:xfrm rot="5400000">
            <a:off x="6326584" y="5603970"/>
            <a:ext cx="472281" cy="9159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>
              <a:defRPr/>
            </a:pP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65327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77FB2ED-27F3-43B7-AA2F-DD668835A2D5}" type="slidenum">
              <a:rPr lang="he-IL"/>
              <a:pPr/>
              <a:t>13</a:t>
            </a:fld>
            <a:endParaRPr 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he-IL" sz="3600" b="1" i="1" u="sng"/>
              <a:t>שאילתה מתואמת </a:t>
            </a:r>
            <a:r>
              <a:rPr lang="en-US" sz="3600" b="1" i="1" u="sng"/>
              <a:t>Correlated subquery)</a:t>
            </a:r>
            <a:r>
              <a:rPr lang="he-IL" sz="3600" b="1" i="1" u="sng"/>
              <a:t>)</a:t>
            </a:r>
            <a:endParaRPr lang="en-US" sz="3600" b="1"/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0"/>
            <a:ext cx="8153400" cy="4419600"/>
          </a:xfrm>
        </p:spPr>
        <p:txBody>
          <a:bodyPr/>
          <a:lstStyle/>
          <a:p>
            <a:pPr algn="ctr">
              <a:buFontTx/>
              <a:buNone/>
            </a:pPr>
            <a:r>
              <a:rPr lang="en-US" sz="2000" b="1" i="1" u="sng" dirty="0"/>
              <a:t>ANY</a:t>
            </a:r>
          </a:p>
          <a:p>
            <a:pPr>
              <a:buFontTx/>
              <a:buNone/>
            </a:pPr>
            <a:endParaRPr lang="he-IL" sz="800" dirty="0"/>
          </a:p>
          <a:p>
            <a:r>
              <a:rPr lang="he-IL" sz="2000" dirty="0"/>
              <a:t>דוגמא נוספת:</a:t>
            </a:r>
          </a:p>
          <a:p>
            <a:pPr>
              <a:buFontTx/>
              <a:buNone/>
            </a:pPr>
            <a:r>
              <a:rPr lang="he-IL" sz="2000" dirty="0"/>
              <a:t>	- </a:t>
            </a:r>
            <a:r>
              <a:rPr lang="he-IL" sz="1600" dirty="0"/>
              <a:t>לקבל רשימת סרטים שבהן אותו שם של הסרט מופיע יותר מפעם אחד (שנת הסרט כמובן שונה)</a:t>
            </a:r>
            <a:endParaRPr lang="en-US" sz="1600" dirty="0"/>
          </a:p>
          <a:p>
            <a:pPr>
              <a:buFontTx/>
              <a:buNone/>
            </a:pPr>
            <a:endParaRPr lang="en-US" sz="1600" dirty="0"/>
          </a:p>
          <a:p>
            <a:pPr algn="l" rtl="0">
              <a:buNone/>
            </a:pPr>
            <a:r>
              <a:rPr lang="en-US" sz="2000" dirty="0">
                <a:solidFill>
                  <a:schemeClr val="bg1"/>
                </a:solidFill>
              </a:rPr>
              <a:t>SELECT DISTINCT(title)</a:t>
            </a:r>
          </a:p>
          <a:p>
            <a:pPr algn="l" rtl="0">
              <a:buFontTx/>
              <a:buNone/>
            </a:pPr>
            <a:r>
              <a:rPr lang="en-US" sz="2000" dirty="0">
                <a:solidFill>
                  <a:schemeClr val="bg1"/>
                </a:solidFill>
              </a:rPr>
              <a:t>FROM  Movie old</a:t>
            </a:r>
          </a:p>
          <a:p>
            <a:pPr algn="l" rtl="0">
              <a:buFontTx/>
              <a:buNone/>
            </a:pPr>
            <a:r>
              <a:rPr lang="en-US" sz="2000" dirty="0">
                <a:solidFill>
                  <a:schemeClr val="bg1"/>
                </a:solidFill>
              </a:rPr>
              <a:t>WHERE  year</a:t>
            </a:r>
            <a:r>
              <a:rPr lang="he-IL" sz="2000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&lt; ANY (SELECT  year  FROM  Movie WHERE title=</a:t>
            </a:r>
            <a:r>
              <a:rPr lang="en-US" sz="2000" dirty="0" err="1">
                <a:solidFill>
                  <a:schemeClr val="bg1"/>
                </a:solidFill>
              </a:rPr>
              <a:t>old.title</a:t>
            </a:r>
            <a:r>
              <a:rPr lang="en-US" sz="2000" dirty="0">
                <a:solidFill>
                  <a:schemeClr val="bg1"/>
                </a:solidFill>
              </a:rPr>
              <a:t>);</a:t>
            </a:r>
          </a:p>
          <a:p>
            <a:pPr algn="l" rtl="0">
              <a:buFontTx/>
              <a:buNone/>
            </a:pPr>
            <a:r>
              <a:rPr lang="he-IL" sz="2000" b="1" i="1" dirty="0"/>
              <a:t> </a:t>
            </a:r>
            <a:endParaRPr lang="en-US" sz="2000" dirty="0"/>
          </a:p>
          <a:p>
            <a:pPr>
              <a:buFontTx/>
              <a:buNone/>
            </a:pPr>
            <a:endParaRPr lang="en-US" sz="1600" dirty="0"/>
          </a:p>
          <a:p>
            <a:pPr>
              <a:buFontTx/>
              <a:buNone/>
            </a:pPr>
            <a:endParaRPr lang="he-IL" sz="1600" dirty="0"/>
          </a:p>
          <a:p>
            <a:pPr>
              <a:buFontTx/>
              <a:buNone/>
            </a:pPr>
            <a:endParaRPr lang="he-IL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u="sng" dirty="0"/>
              <a:t>שאלה ממבחן</a:t>
            </a:r>
            <a:endParaRPr lang="en-US" u="sn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FC08-59AB-4B40-8284-979DDB6F58E8}" type="slidenum">
              <a:rPr lang="he-IL" smtClean="0"/>
              <a:pPr/>
              <a:t>14</a:t>
            </a:fld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752600"/>
            <a:ext cx="7772400" cy="2510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658" y="4411662"/>
            <a:ext cx="7932742" cy="153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50944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u="sng" dirty="0"/>
              <a:t>שלב א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sz="2400" dirty="0"/>
              <a:t>נמצא את מספר הקטגוריות שקיימות בארץ מסוימת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FC08-59AB-4B40-8284-979DDB6F58E8}" type="slidenum">
              <a:rPr lang="he-IL" smtClean="0"/>
              <a:pPr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5800" y="3049012"/>
            <a:ext cx="73152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l" rtl="0"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ea typeface="Times New Roman" panose="02020603050405020304" pitchFamily="18" charset="0"/>
              </a:rPr>
              <a:t>select count (distinct cat)</a:t>
            </a:r>
            <a:endParaRPr lang="en-US" dirty="0">
              <a:ea typeface="Times New Roman" panose="02020603050405020304" pitchFamily="18" charset="0"/>
            </a:endParaRPr>
          </a:p>
          <a:p>
            <a:pPr marL="457200" algn="l" rtl="0"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ea typeface="Times New Roman" panose="02020603050405020304" pitchFamily="18" charset="0"/>
              </a:rPr>
              <a:t>	from  Books b, Library in, </a:t>
            </a:r>
            <a:r>
              <a:rPr lang="en-US" dirty="0" err="1">
                <a:solidFill>
                  <a:srgbClr val="0000FF"/>
                </a:solidFill>
                <a:ea typeface="Times New Roman" panose="02020603050405020304" pitchFamily="18" charset="0"/>
              </a:rPr>
              <a:t>Lib_Books</a:t>
            </a:r>
            <a:r>
              <a:rPr lang="en-US" dirty="0">
                <a:solidFill>
                  <a:srgbClr val="0000FF"/>
                </a:solidFill>
                <a:ea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0000FF"/>
                </a:solidFill>
                <a:ea typeface="Times New Roman" panose="02020603050405020304" pitchFamily="18" charset="0"/>
              </a:rPr>
              <a:t>lb</a:t>
            </a:r>
            <a:r>
              <a:rPr lang="en-US" dirty="0">
                <a:ea typeface="Times New Roman" panose="02020603050405020304" pitchFamily="18" charset="0"/>
              </a:rPr>
              <a:t> </a:t>
            </a:r>
          </a:p>
          <a:p>
            <a:pPr marL="457200" algn="l" rtl="0">
              <a:spcAft>
                <a:spcPts val="0"/>
              </a:spcAft>
            </a:pPr>
            <a:r>
              <a:rPr lang="en-US" dirty="0">
                <a:solidFill>
                  <a:srgbClr val="0000FF"/>
                </a:solidFill>
                <a:ea typeface="Times New Roman" panose="02020603050405020304" pitchFamily="18" charset="0"/>
              </a:rPr>
              <a:t>      where </a:t>
            </a:r>
            <a:r>
              <a:rPr lang="en-US" dirty="0" err="1">
                <a:solidFill>
                  <a:srgbClr val="0000FF"/>
                </a:solidFill>
                <a:ea typeface="Times New Roman" panose="02020603050405020304" pitchFamily="18" charset="0"/>
              </a:rPr>
              <a:t>in.lID</a:t>
            </a:r>
            <a:r>
              <a:rPr lang="en-US" dirty="0">
                <a:solidFill>
                  <a:srgbClr val="0000FF"/>
                </a:solidFill>
                <a:ea typeface="Times New Roman" panose="02020603050405020304" pitchFamily="18" charset="0"/>
              </a:rPr>
              <a:t>=</a:t>
            </a:r>
            <a:r>
              <a:rPr lang="en-US" dirty="0" err="1">
                <a:solidFill>
                  <a:srgbClr val="0000FF"/>
                </a:solidFill>
                <a:ea typeface="Times New Roman" panose="02020603050405020304" pitchFamily="18" charset="0"/>
              </a:rPr>
              <a:t>lb.lID</a:t>
            </a:r>
            <a:r>
              <a:rPr lang="en-US" dirty="0">
                <a:solidFill>
                  <a:srgbClr val="0000FF"/>
                </a:solidFill>
                <a:ea typeface="Times New Roman" panose="02020603050405020304" pitchFamily="18" charset="0"/>
              </a:rPr>
              <a:t> and </a:t>
            </a:r>
            <a:r>
              <a:rPr lang="en-US" dirty="0" err="1">
                <a:solidFill>
                  <a:srgbClr val="0000FF"/>
                </a:solidFill>
                <a:ea typeface="Times New Roman" panose="02020603050405020304" pitchFamily="18" charset="0"/>
              </a:rPr>
              <a:t>lb.bID</a:t>
            </a:r>
            <a:r>
              <a:rPr lang="en-US" dirty="0">
                <a:solidFill>
                  <a:srgbClr val="0000FF"/>
                </a:solidFill>
                <a:ea typeface="Times New Roman" panose="02020603050405020304" pitchFamily="18" charset="0"/>
              </a:rPr>
              <a:t>=</a:t>
            </a:r>
            <a:r>
              <a:rPr lang="en-US" dirty="0" err="1">
                <a:solidFill>
                  <a:srgbClr val="0000FF"/>
                </a:solidFill>
                <a:ea typeface="Times New Roman" panose="02020603050405020304" pitchFamily="18" charset="0"/>
              </a:rPr>
              <a:t>b.bID</a:t>
            </a:r>
            <a:r>
              <a:rPr lang="en-US" dirty="0">
                <a:solidFill>
                  <a:srgbClr val="0000FF"/>
                </a:solidFill>
                <a:ea typeface="Times New Roman" panose="02020603050405020304" pitchFamily="18" charset="0"/>
              </a:rPr>
              <a:t> </a:t>
            </a:r>
            <a:endParaRPr lang="en-US" dirty="0">
              <a:ea typeface="Times New Roman" panose="02020603050405020304" pitchFamily="18" charset="0"/>
            </a:endParaRPr>
          </a:p>
          <a:p>
            <a:pPr algn="l" rtl="0"/>
            <a:r>
              <a:rPr lang="en-US" dirty="0">
                <a:solidFill>
                  <a:srgbClr val="0000FF"/>
                </a:solidFill>
                <a:ea typeface="Times New Roman" panose="02020603050405020304" pitchFamily="18" charset="0"/>
              </a:rPr>
              <a:t>            and  </a:t>
            </a:r>
            <a:r>
              <a:rPr lang="en-US" dirty="0" err="1">
                <a:solidFill>
                  <a:srgbClr val="0000FF"/>
                </a:solidFill>
                <a:ea typeface="Times New Roman" panose="02020603050405020304" pitchFamily="18" charset="0"/>
              </a:rPr>
              <a:t>in.country</a:t>
            </a:r>
            <a:r>
              <a:rPr lang="en-US" dirty="0">
                <a:solidFill>
                  <a:srgbClr val="0000FF"/>
                </a:solidFill>
                <a:ea typeface="Times New Roman" panose="02020603050405020304" pitchFamily="18" charset="0"/>
              </a:rPr>
              <a:t> = </a:t>
            </a:r>
            <a:r>
              <a:rPr lang="en-US" dirty="0">
                <a:solidFill>
                  <a:srgbClr val="FF0000"/>
                </a:solidFill>
                <a:ea typeface="Times New Roman" panose="02020603050405020304" pitchFamily="18" charset="0"/>
              </a:rPr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8324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u="sng" dirty="0"/>
              <a:t>שלב ב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sz="2400" dirty="0"/>
              <a:t>את כל הספריות שמספר הקטגוריות שלהן זהה למספר הקטגוריות הקיימות בכל המדינה של אותה ספריה (הספריות העשירות)	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FC08-59AB-4B40-8284-979DDB6F58E8}" type="slidenum">
              <a:rPr lang="he-IL" smtClean="0"/>
              <a:pPr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5800" y="3049012"/>
            <a:ext cx="8077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dirty="0">
                <a:solidFill>
                  <a:srgbClr val="FF0000"/>
                </a:solidFill>
              </a:rPr>
              <a:t>select </a:t>
            </a:r>
            <a:r>
              <a:rPr lang="en-US" dirty="0" err="1">
                <a:solidFill>
                  <a:srgbClr val="FF0000"/>
                </a:solidFill>
              </a:rPr>
              <a:t>out.lID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algn="l" rtl="0"/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he-IL" dirty="0">
                <a:solidFill>
                  <a:srgbClr val="FF0000"/>
                </a:solidFill>
              </a:rPr>
              <a:t>	</a:t>
            </a:r>
            <a:r>
              <a:rPr lang="en-US" dirty="0">
                <a:solidFill>
                  <a:srgbClr val="FF0000"/>
                </a:solidFill>
              </a:rPr>
              <a:t>from  Books as b, Library as out, </a:t>
            </a:r>
            <a:r>
              <a:rPr lang="en-US" dirty="0" err="1">
                <a:solidFill>
                  <a:srgbClr val="FF0000"/>
                </a:solidFill>
              </a:rPr>
              <a:t>Lib_Books</a:t>
            </a:r>
            <a:r>
              <a:rPr lang="en-US" dirty="0">
                <a:solidFill>
                  <a:srgbClr val="FF0000"/>
                </a:solidFill>
              </a:rPr>
              <a:t> as </a:t>
            </a:r>
            <a:r>
              <a:rPr lang="en-US" dirty="0" err="1">
                <a:solidFill>
                  <a:srgbClr val="FF0000"/>
                </a:solidFill>
              </a:rPr>
              <a:t>lb</a:t>
            </a:r>
            <a:endParaRPr lang="en-US" dirty="0">
              <a:solidFill>
                <a:srgbClr val="FF0000"/>
              </a:solidFill>
            </a:endParaRPr>
          </a:p>
          <a:p>
            <a:pPr algn="l" rtl="0"/>
            <a:r>
              <a:rPr lang="he-IL" dirty="0">
                <a:solidFill>
                  <a:srgbClr val="FF0000"/>
                </a:solidFill>
              </a:rPr>
              <a:t>	</a:t>
            </a:r>
            <a:r>
              <a:rPr lang="en-US" dirty="0">
                <a:solidFill>
                  <a:srgbClr val="FF0000"/>
                </a:solidFill>
              </a:rPr>
              <a:t>where </a:t>
            </a:r>
            <a:r>
              <a:rPr lang="en-US" dirty="0" err="1">
                <a:solidFill>
                  <a:srgbClr val="FF0000"/>
                </a:solidFill>
              </a:rPr>
              <a:t>out.lID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dirty="0" err="1">
                <a:solidFill>
                  <a:srgbClr val="FF0000"/>
                </a:solidFill>
              </a:rPr>
              <a:t>lb.lID</a:t>
            </a:r>
            <a:r>
              <a:rPr lang="en-US" dirty="0">
                <a:solidFill>
                  <a:srgbClr val="FF0000"/>
                </a:solidFill>
              </a:rPr>
              <a:t> and </a:t>
            </a:r>
            <a:r>
              <a:rPr lang="en-US" dirty="0" err="1">
                <a:solidFill>
                  <a:srgbClr val="FF0000"/>
                </a:solidFill>
              </a:rPr>
              <a:t>lb.bID</a:t>
            </a:r>
            <a:r>
              <a:rPr lang="en-US" dirty="0">
                <a:solidFill>
                  <a:srgbClr val="FF0000"/>
                </a:solidFill>
              </a:rPr>
              <a:t>=</a:t>
            </a:r>
            <a:r>
              <a:rPr lang="en-US" dirty="0" err="1">
                <a:solidFill>
                  <a:srgbClr val="FF0000"/>
                </a:solidFill>
              </a:rPr>
              <a:t>b.bID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  <a:p>
            <a:pPr algn="l" rtl="0"/>
            <a:r>
              <a:rPr lang="he-IL" dirty="0">
                <a:solidFill>
                  <a:srgbClr val="FF0000"/>
                </a:solidFill>
              </a:rPr>
              <a:t>	</a:t>
            </a:r>
            <a:r>
              <a:rPr lang="en-US" dirty="0">
                <a:solidFill>
                  <a:srgbClr val="FF0000"/>
                </a:solidFill>
              </a:rPr>
              <a:t>group by </a:t>
            </a:r>
            <a:r>
              <a:rPr lang="en-US" dirty="0" err="1">
                <a:solidFill>
                  <a:srgbClr val="FF0000"/>
                </a:solidFill>
              </a:rPr>
              <a:t>out.lID</a:t>
            </a:r>
            <a:r>
              <a:rPr lang="he-IL" dirty="0">
                <a:solidFill>
                  <a:srgbClr val="FF0000"/>
                </a:solidFill>
              </a:rPr>
              <a:t> </a:t>
            </a:r>
          </a:p>
          <a:p>
            <a:pPr algn="l" rtl="0"/>
            <a:r>
              <a:rPr lang="he-IL" dirty="0">
                <a:solidFill>
                  <a:srgbClr val="FF0000"/>
                </a:solidFill>
              </a:rPr>
              <a:t>	</a:t>
            </a:r>
            <a:r>
              <a:rPr lang="en-US" dirty="0">
                <a:solidFill>
                  <a:srgbClr val="FF0000"/>
                </a:solidFill>
              </a:rPr>
              <a:t>having count(distinct cat) = </a:t>
            </a:r>
            <a:r>
              <a:rPr lang="he-IL" sz="2000" dirty="0">
                <a:solidFill>
                  <a:srgbClr val="0000FF"/>
                </a:solidFill>
                <a:ea typeface="Times New Roman" panose="02020603050405020304" pitchFamily="18" charset="0"/>
              </a:rPr>
              <a:t>מספר קטגוריות במדינה של אותה ספריה</a:t>
            </a:r>
            <a:endParaRPr 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848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u="sng" dirty="0"/>
              <a:t>שלב ג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sz="2400" dirty="0"/>
              <a:t>שאילת </a:t>
            </a:r>
            <a:r>
              <a:rPr lang="en-US" sz="2400" dirty="0"/>
              <a:t>update</a:t>
            </a:r>
            <a:r>
              <a:rPr lang="he-IL" sz="2400" dirty="0"/>
              <a:t>	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FC08-59AB-4B40-8284-979DDB6F58E8}" type="slidenum">
              <a:rPr lang="he-IL" smtClean="0"/>
              <a:pPr/>
              <a:t>17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447800" y="3048000"/>
            <a:ext cx="5791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US" dirty="0">
                <a:ea typeface="Times New Roman" panose="02020603050405020304" pitchFamily="18" charset="0"/>
              </a:rPr>
              <a:t>Update </a:t>
            </a:r>
            <a:r>
              <a:rPr lang="en-US" dirty="0" err="1">
                <a:ea typeface="Times New Roman" panose="02020603050405020304" pitchFamily="18" charset="0"/>
              </a:rPr>
              <a:t>Lib_books</a:t>
            </a:r>
            <a:endParaRPr lang="en-US" dirty="0">
              <a:ea typeface="Times New Roman" panose="02020603050405020304" pitchFamily="18" charset="0"/>
            </a:endParaRPr>
          </a:p>
          <a:p>
            <a:pPr algn="l" rtl="0">
              <a:spcAft>
                <a:spcPts val="0"/>
              </a:spcAft>
            </a:pPr>
            <a:r>
              <a:rPr lang="he-IL" dirty="0">
                <a:ea typeface="Times New Roman" panose="02020603050405020304" pitchFamily="18" charset="0"/>
              </a:rPr>
              <a:t>	</a:t>
            </a:r>
            <a:r>
              <a:rPr lang="en-US" dirty="0">
                <a:ea typeface="Times New Roman" panose="02020603050405020304" pitchFamily="18" charset="0"/>
              </a:rPr>
              <a:t>Set  </a:t>
            </a:r>
            <a:r>
              <a:rPr lang="en-US" dirty="0" err="1">
                <a:ea typeface="Times New Roman" panose="02020603050405020304" pitchFamily="18" charset="0"/>
              </a:rPr>
              <a:t>lnum</a:t>
            </a:r>
            <a:r>
              <a:rPr lang="en-US" dirty="0">
                <a:ea typeface="Times New Roman" panose="02020603050405020304" pitchFamily="18" charset="0"/>
              </a:rPr>
              <a:t>=0.9*</a:t>
            </a:r>
            <a:r>
              <a:rPr lang="en-US" dirty="0" err="1">
                <a:ea typeface="Times New Roman" panose="02020603050405020304" pitchFamily="18" charset="0"/>
              </a:rPr>
              <a:t>lnum</a:t>
            </a:r>
            <a:endParaRPr lang="en-US" dirty="0">
              <a:ea typeface="Times New Roman" panose="02020603050405020304" pitchFamily="18" charset="0"/>
            </a:endParaRPr>
          </a:p>
          <a:p>
            <a:pPr algn="l" rtl="0">
              <a:spcAft>
                <a:spcPts val="0"/>
              </a:spcAft>
            </a:pPr>
            <a:r>
              <a:rPr lang="he-IL" dirty="0">
                <a:ea typeface="Times New Roman" panose="02020603050405020304" pitchFamily="18" charset="0"/>
              </a:rPr>
              <a:t>	</a:t>
            </a:r>
            <a:r>
              <a:rPr lang="en-US" dirty="0">
                <a:ea typeface="Times New Roman" panose="02020603050405020304" pitchFamily="18" charset="0"/>
              </a:rPr>
              <a:t>Where </a:t>
            </a:r>
            <a:r>
              <a:rPr lang="en-US" dirty="0" err="1">
                <a:ea typeface="Times New Roman" panose="02020603050405020304" pitchFamily="18" charset="0"/>
              </a:rPr>
              <a:t>lID</a:t>
            </a:r>
            <a:r>
              <a:rPr lang="en-US" dirty="0">
                <a:ea typeface="Times New Roman" panose="02020603050405020304" pitchFamily="18" charset="0"/>
              </a:rPr>
              <a:t> in</a:t>
            </a:r>
            <a:r>
              <a:rPr lang="he-IL" dirty="0">
                <a:ea typeface="Times New Roman" panose="02020603050405020304" pitchFamily="18" charset="0"/>
              </a:rPr>
              <a:t> </a:t>
            </a:r>
            <a:r>
              <a:rPr lang="en-US" dirty="0">
                <a:ea typeface="Times New Roman" panose="02020603050405020304" pitchFamily="18" charset="0"/>
              </a:rPr>
              <a:t> (</a:t>
            </a:r>
            <a:r>
              <a:rPr lang="he-IL" dirty="0">
                <a:solidFill>
                  <a:srgbClr val="FF0000"/>
                </a:solidFill>
                <a:ea typeface="Times New Roman" panose="02020603050405020304" pitchFamily="18" charset="0"/>
              </a:rPr>
              <a:t>ספריות עשירות</a:t>
            </a:r>
            <a:r>
              <a:rPr lang="en-US" dirty="0">
                <a:ea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03225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u="sng" dirty="0"/>
              <a:t>שלב ד</a:t>
            </a:r>
            <a:endParaRPr lang="en-US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sz="2400" dirty="0"/>
              <a:t>שאילתה מלאה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73FC08-59AB-4B40-8284-979DDB6F58E8}" type="slidenum">
              <a:rPr lang="he-IL" smtClean="0"/>
              <a:pPr/>
              <a:t>18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95300" y="2305348"/>
            <a:ext cx="81534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2000" dirty="0"/>
              <a:t>Update </a:t>
            </a:r>
            <a:r>
              <a:rPr lang="en-US" sz="2000" dirty="0" err="1"/>
              <a:t>Lib_books</a:t>
            </a:r>
            <a:endParaRPr lang="en-US" sz="2000" dirty="0"/>
          </a:p>
          <a:p>
            <a:pPr algn="l" rtl="0"/>
            <a:r>
              <a:rPr lang="en-US" sz="2000" dirty="0"/>
              <a:t>Set  </a:t>
            </a:r>
            <a:r>
              <a:rPr lang="en-US" sz="2000" dirty="0" err="1"/>
              <a:t>lnum</a:t>
            </a:r>
            <a:r>
              <a:rPr lang="en-US" sz="2000" dirty="0"/>
              <a:t>=0.9*</a:t>
            </a:r>
            <a:r>
              <a:rPr lang="en-US" sz="2000" dirty="0" err="1"/>
              <a:t>lnum</a:t>
            </a:r>
            <a:endParaRPr lang="en-US" sz="2000" dirty="0"/>
          </a:p>
          <a:p>
            <a:pPr algn="l" rtl="0"/>
            <a:r>
              <a:rPr lang="en-US" sz="2000" dirty="0"/>
              <a:t>Where </a:t>
            </a:r>
            <a:r>
              <a:rPr lang="en-US" sz="2000" dirty="0" err="1"/>
              <a:t>lID</a:t>
            </a:r>
            <a:r>
              <a:rPr lang="en-US" sz="2000" dirty="0"/>
              <a:t> in</a:t>
            </a:r>
          </a:p>
          <a:p>
            <a:pPr algn="l" rtl="0"/>
            <a:r>
              <a:rPr lang="en-US" sz="2000" dirty="0"/>
              <a:t>	(</a:t>
            </a:r>
            <a:r>
              <a:rPr lang="en-US" sz="2000" dirty="0">
                <a:solidFill>
                  <a:srgbClr val="FF0000"/>
                </a:solidFill>
              </a:rPr>
              <a:t>select </a:t>
            </a:r>
            <a:r>
              <a:rPr lang="en-US" sz="2000" dirty="0" err="1">
                <a:solidFill>
                  <a:srgbClr val="FF0000"/>
                </a:solidFill>
              </a:rPr>
              <a:t>out.lID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</a:p>
          <a:p>
            <a:pPr algn="l" rtl="0"/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he-IL" sz="2000" dirty="0">
                <a:solidFill>
                  <a:srgbClr val="FF0000"/>
                </a:solidFill>
              </a:rPr>
              <a:t>	</a:t>
            </a:r>
            <a:r>
              <a:rPr lang="en-US" sz="2000" dirty="0">
                <a:solidFill>
                  <a:srgbClr val="FF0000"/>
                </a:solidFill>
              </a:rPr>
              <a:t>from Books as </a:t>
            </a:r>
            <a:r>
              <a:rPr lang="en-US" sz="2000" dirty="0" err="1">
                <a:solidFill>
                  <a:srgbClr val="FF0000"/>
                </a:solidFill>
              </a:rPr>
              <a:t>b,Library</a:t>
            </a:r>
            <a:r>
              <a:rPr lang="en-US" sz="2000" dirty="0">
                <a:solidFill>
                  <a:srgbClr val="FF0000"/>
                </a:solidFill>
              </a:rPr>
              <a:t> as out , </a:t>
            </a:r>
            <a:r>
              <a:rPr lang="en-US" sz="2000" dirty="0" err="1">
                <a:solidFill>
                  <a:srgbClr val="FF0000"/>
                </a:solidFill>
              </a:rPr>
              <a:t>Lib_Books</a:t>
            </a:r>
            <a:r>
              <a:rPr lang="en-US" sz="2000" dirty="0">
                <a:solidFill>
                  <a:srgbClr val="FF0000"/>
                </a:solidFill>
              </a:rPr>
              <a:t> as </a:t>
            </a:r>
            <a:r>
              <a:rPr lang="en-US" sz="2000" dirty="0" err="1">
                <a:solidFill>
                  <a:srgbClr val="FF0000"/>
                </a:solidFill>
              </a:rPr>
              <a:t>lb</a:t>
            </a:r>
            <a:endParaRPr lang="en-US" sz="2000" dirty="0">
              <a:solidFill>
                <a:srgbClr val="FF0000"/>
              </a:solidFill>
            </a:endParaRPr>
          </a:p>
          <a:p>
            <a:pPr algn="l" rtl="0"/>
            <a:r>
              <a:rPr lang="he-IL" sz="2000" dirty="0">
                <a:solidFill>
                  <a:srgbClr val="FF0000"/>
                </a:solidFill>
              </a:rPr>
              <a:t>	</a:t>
            </a:r>
            <a:r>
              <a:rPr lang="en-US" sz="2000" dirty="0">
                <a:solidFill>
                  <a:srgbClr val="FF0000"/>
                </a:solidFill>
              </a:rPr>
              <a:t>where </a:t>
            </a:r>
            <a:r>
              <a:rPr lang="en-US" sz="2000" dirty="0" err="1">
                <a:solidFill>
                  <a:srgbClr val="FF0000"/>
                </a:solidFill>
              </a:rPr>
              <a:t>out.lID</a:t>
            </a:r>
            <a:r>
              <a:rPr lang="en-US" sz="2000" dirty="0">
                <a:solidFill>
                  <a:srgbClr val="FF0000"/>
                </a:solidFill>
              </a:rPr>
              <a:t>=</a:t>
            </a:r>
            <a:r>
              <a:rPr lang="en-US" sz="2000" dirty="0" err="1">
                <a:solidFill>
                  <a:srgbClr val="FF0000"/>
                </a:solidFill>
              </a:rPr>
              <a:t>lb.lID</a:t>
            </a:r>
            <a:r>
              <a:rPr lang="en-US" sz="2000" dirty="0">
                <a:solidFill>
                  <a:srgbClr val="FF0000"/>
                </a:solidFill>
              </a:rPr>
              <a:t> and </a:t>
            </a:r>
            <a:r>
              <a:rPr lang="en-US" sz="2000" dirty="0" err="1">
                <a:solidFill>
                  <a:srgbClr val="FF0000"/>
                </a:solidFill>
              </a:rPr>
              <a:t>lb.bID</a:t>
            </a:r>
            <a:r>
              <a:rPr lang="en-US" sz="2000" dirty="0">
                <a:solidFill>
                  <a:srgbClr val="FF0000"/>
                </a:solidFill>
              </a:rPr>
              <a:t>=</a:t>
            </a:r>
            <a:r>
              <a:rPr lang="en-US" sz="2000" dirty="0" err="1">
                <a:solidFill>
                  <a:srgbClr val="FF0000"/>
                </a:solidFill>
              </a:rPr>
              <a:t>b.bID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</a:p>
          <a:p>
            <a:pPr algn="l" rtl="0"/>
            <a:r>
              <a:rPr lang="he-IL" sz="2000" dirty="0">
                <a:solidFill>
                  <a:srgbClr val="FF0000"/>
                </a:solidFill>
              </a:rPr>
              <a:t>	</a:t>
            </a:r>
            <a:r>
              <a:rPr lang="en-US" sz="2000" dirty="0">
                <a:solidFill>
                  <a:srgbClr val="FF0000"/>
                </a:solidFill>
              </a:rPr>
              <a:t>group by </a:t>
            </a:r>
            <a:r>
              <a:rPr lang="en-US" sz="2000" dirty="0" err="1">
                <a:solidFill>
                  <a:srgbClr val="FF0000"/>
                </a:solidFill>
              </a:rPr>
              <a:t>out.lID</a:t>
            </a:r>
            <a:endParaRPr lang="en-US" sz="2000" dirty="0">
              <a:solidFill>
                <a:srgbClr val="FF0000"/>
              </a:solidFill>
            </a:endParaRPr>
          </a:p>
          <a:p>
            <a:pPr algn="l" rtl="0"/>
            <a:r>
              <a:rPr lang="he-IL" sz="2000" dirty="0">
                <a:solidFill>
                  <a:srgbClr val="FF0000"/>
                </a:solidFill>
              </a:rPr>
              <a:t>	</a:t>
            </a:r>
            <a:r>
              <a:rPr lang="en-US" sz="2000" dirty="0">
                <a:solidFill>
                  <a:srgbClr val="FF0000"/>
                </a:solidFill>
              </a:rPr>
              <a:t>having count(distinct cat) </a:t>
            </a:r>
            <a:r>
              <a:rPr lang="en-US" sz="2000" dirty="0"/>
              <a:t>= (</a:t>
            </a:r>
            <a:r>
              <a:rPr lang="en-US" sz="2000" dirty="0">
                <a:solidFill>
                  <a:srgbClr val="0000CC"/>
                </a:solidFill>
              </a:rPr>
              <a:t>select count (distinct cat)</a:t>
            </a:r>
          </a:p>
          <a:p>
            <a:pPr algn="l" rtl="0"/>
            <a:r>
              <a:rPr lang="en-US" sz="2000" dirty="0">
                <a:solidFill>
                  <a:srgbClr val="0000CC"/>
                </a:solidFill>
              </a:rPr>
              <a:t>				</a:t>
            </a:r>
            <a:r>
              <a:rPr lang="he-IL" sz="2000" dirty="0">
                <a:solidFill>
                  <a:srgbClr val="0000CC"/>
                </a:solidFill>
              </a:rPr>
              <a:t>   </a:t>
            </a:r>
            <a:r>
              <a:rPr lang="en-US" sz="2000" dirty="0">
                <a:solidFill>
                  <a:srgbClr val="0000CC"/>
                </a:solidFill>
              </a:rPr>
              <a:t>from  Books as </a:t>
            </a:r>
            <a:r>
              <a:rPr lang="en-US" sz="2000" dirty="0" err="1">
                <a:solidFill>
                  <a:srgbClr val="0000CC"/>
                </a:solidFill>
              </a:rPr>
              <a:t>b,Library</a:t>
            </a:r>
            <a:r>
              <a:rPr lang="en-US" sz="2000" dirty="0">
                <a:solidFill>
                  <a:srgbClr val="0000CC"/>
                </a:solidFill>
              </a:rPr>
              <a:t> as in , </a:t>
            </a:r>
            <a:r>
              <a:rPr lang="he-IL" sz="2000" dirty="0">
                <a:solidFill>
                  <a:srgbClr val="0000CC"/>
                </a:solidFill>
              </a:rPr>
              <a:t>					   </a:t>
            </a:r>
            <a:r>
              <a:rPr lang="en-US" sz="2000" dirty="0" err="1">
                <a:solidFill>
                  <a:srgbClr val="0000CC"/>
                </a:solidFill>
              </a:rPr>
              <a:t>Lib_Books</a:t>
            </a:r>
            <a:r>
              <a:rPr lang="en-US" sz="2000" dirty="0">
                <a:solidFill>
                  <a:srgbClr val="0000CC"/>
                </a:solidFill>
              </a:rPr>
              <a:t> as </a:t>
            </a:r>
            <a:r>
              <a:rPr lang="en-US" sz="2000" dirty="0" err="1">
                <a:solidFill>
                  <a:srgbClr val="0000CC"/>
                </a:solidFill>
              </a:rPr>
              <a:t>lb</a:t>
            </a:r>
            <a:endParaRPr lang="en-US" sz="2000" dirty="0">
              <a:solidFill>
                <a:srgbClr val="0000CC"/>
              </a:solidFill>
            </a:endParaRPr>
          </a:p>
          <a:p>
            <a:pPr algn="l" rtl="0"/>
            <a:r>
              <a:rPr lang="he-IL" sz="2000" dirty="0">
                <a:solidFill>
                  <a:srgbClr val="0000CC"/>
                </a:solidFill>
              </a:rPr>
              <a:t>				   </a:t>
            </a:r>
            <a:r>
              <a:rPr lang="en-US" sz="2000" dirty="0">
                <a:solidFill>
                  <a:srgbClr val="0000CC"/>
                </a:solidFill>
              </a:rPr>
              <a:t>where </a:t>
            </a:r>
            <a:r>
              <a:rPr lang="en-US" sz="2000" dirty="0" err="1">
                <a:solidFill>
                  <a:srgbClr val="0000CC"/>
                </a:solidFill>
              </a:rPr>
              <a:t>in.lID</a:t>
            </a:r>
            <a:r>
              <a:rPr lang="en-US" sz="2000" dirty="0">
                <a:solidFill>
                  <a:srgbClr val="0000CC"/>
                </a:solidFill>
              </a:rPr>
              <a:t>=</a:t>
            </a:r>
            <a:r>
              <a:rPr lang="en-US" sz="2000" dirty="0" err="1">
                <a:solidFill>
                  <a:srgbClr val="0000CC"/>
                </a:solidFill>
              </a:rPr>
              <a:t>lb.lID</a:t>
            </a:r>
            <a:r>
              <a:rPr lang="en-US" sz="2000" dirty="0">
                <a:solidFill>
                  <a:srgbClr val="0000CC"/>
                </a:solidFill>
              </a:rPr>
              <a:t> and </a:t>
            </a:r>
            <a:r>
              <a:rPr lang="en-US" sz="2000" dirty="0" err="1">
                <a:solidFill>
                  <a:srgbClr val="0000CC"/>
                </a:solidFill>
              </a:rPr>
              <a:t>lb.bID</a:t>
            </a:r>
            <a:r>
              <a:rPr lang="en-US" sz="2000" dirty="0">
                <a:solidFill>
                  <a:srgbClr val="0000CC"/>
                </a:solidFill>
              </a:rPr>
              <a:t>=</a:t>
            </a:r>
            <a:r>
              <a:rPr lang="en-US" sz="2000" dirty="0" err="1">
                <a:solidFill>
                  <a:srgbClr val="0000CC"/>
                </a:solidFill>
              </a:rPr>
              <a:t>b.bID</a:t>
            </a:r>
            <a:r>
              <a:rPr lang="en-US" sz="2000" dirty="0">
                <a:solidFill>
                  <a:srgbClr val="0000CC"/>
                </a:solidFill>
              </a:rPr>
              <a:t> </a:t>
            </a:r>
          </a:p>
          <a:p>
            <a:pPr algn="l" rtl="0"/>
            <a:r>
              <a:rPr lang="he-IL" sz="2000" dirty="0">
                <a:solidFill>
                  <a:srgbClr val="0000CC"/>
                </a:solidFill>
              </a:rPr>
              <a:t>				   </a:t>
            </a:r>
            <a:r>
              <a:rPr lang="en-US" sz="2000" dirty="0">
                <a:solidFill>
                  <a:srgbClr val="0000CC"/>
                </a:solidFill>
              </a:rPr>
              <a:t>and  </a:t>
            </a:r>
            <a:r>
              <a:rPr lang="en-US" sz="2000" dirty="0" err="1">
                <a:solidFill>
                  <a:srgbClr val="0000CC"/>
                </a:solidFill>
              </a:rPr>
              <a:t>in.country</a:t>
            </a:r>
            <a:r>
              <a:rPr lang="he-IL" sz="2000" dirty="0">
                <a:solidFill>
                  <a:srgbClr val="0000CC"/>
                </a:solidFill>
              </a:rPr>
              <a:t> </a:t>
            </a:r>
            <a:r>
              <a:rPr lang="en-US" sz="2000" dirty="0"/>
              <a:t>=</a:t>
            </a:r>
            <a:r>
              <a:rPr lang="he-IL" sz="2000" dirty="0"/>
              <a:t> </a:t>
            </a:r>
            <a:r>
              <a:rPr lang="en-US" sz="2000" dirty="0" err="1">
                <a:solidFill>
                  <a:srgbClr val="FF0000"/>
                </a:solidFill>
              </a:rPr>
              <a:t>out.country</a:t>
            </a:r>
            <a:r>
              <a:rPr lang="en-US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74485122"/>
      </p:ext>
    </p:extLst>
  </p:cSld>
  <p:clrMapOvr>
    <a:masterClrMapping/>
  </p:clrMapOvr>
</p:sld>
</file>

<file path=ppt/theme/theme1.xml><?xml version="1.0" encoding="utf-8"?>
<a:theme xmlns:a="http://schemas.openxmlformats.org/drawingml/2006/main" name="עיצוב ברירת מחדל">
  <a:themeElements>
    <a:clrScheme name="עיצוב ברירת מחדל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עיצוב ברירת מחדל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עיצוב ברירת מחדל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עיצוב ברירת מחדל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8637</TotalTime>
  <Words>924</Words>
  <Application>Microsoft Macintosh PowerPoint</Application>
  <PresentationFormat>On-screen Show (4:3)</PresentationFormat>
  <Paragraphs>154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David</vt:lpstr>
      <vt:lpstr>Times New Roman</vt:lpstr>
      <vt:lpstr>Wingdings</vt:lpstr>
      <vt:lpstr>עיצוב ברירת מחדל</vt:lpstr>
      <vt:lpstr>בסיסי נתונים - מעבדה</vt:lpstr>
      <vt:lpstr>SQL - שאילתה מתואמת Correlated subquery))</vt:lpstr>
      <vt:lpstr>שאילתה מתואמת Correlated subquery))</vt:lpstr>
      <vt:lpstr>שאילתה מתואמת Correlated subquery))</vt:lpstr>
      <vt:lpstr>שאילתה מתואמת Correlated subquery))</vt:lpstr>
      <vt:lpstr>שאילתה מתואמת Correlated subquery))</vt:lpstr>
      <vt:lpstr>שאילתה מתואמת Correlated subquery))</vt:lpstr>
      <vt:lpstr>שאילתה מתואמת Correlated subquery))</vt:lpstr>
      <vt:lpstr>שאילתה מתואמת Correlated subquery))</vt:lpstr>
      <vt:lpstr>שאילתה מתואמת Correlated subquery))</vt:lpstr>
      <vt:lpstr>שאילתה מתואמת Correlated subquery))</vt:lpstr>
      <vt:lpstr>שאילתה מתואמת Correlated subquery))</vt:lpstr>
      <vt:lpstr>שאילתה מתואמת Correlated subquery))</vt:lpstr>
      <vt:lpstr>שאלה ממבחן</vt:lpstr>
      <vt:lpstr>שלב א</vt:lpstr>
      <vt:lpstr>שלב ב</vt:lpstr>
      <vt:lpstr>שלב ג</vt:lpstr>
      <vt:lpstr>שלב 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אולז'ן</dc:creator>
  <cp:lastModifiedBy>Gennady Kogan</cp:lastModifiedBy>
  <cp:revision>585</cp:revision>
  <dcterms:created xsi:type="dcterms:W3CDTF">2004-02-02T22:13:25Z</dcterms:created>
  <dcterms:modified xsi:type="dcterms:W3CDTF">2026-08-17T08:06:02Z</dcterms:modified>
</cp:coreProperties>
</file>