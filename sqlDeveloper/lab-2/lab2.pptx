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1" r:id="rId1"/>
  </p:sldMasterIdLst>
  <p:notesMasterIdLst>
    <p:notesMasterId r:id="rId18"/>
  </p:notesMasterIdLst>
  <p:handoutMasterIdLst>
    <p:handoutMasterId r:id="rId19"/>
  </p:handoutMasterIdLst>
  <p:sldIdLst>
    <p:sldId id="597" r:id="rId2"/>
    <p:sldId id="567" r:id="rId3"/>
    <p:sldId id="568" r:id="rId4"/>
    <p:sldId id="569" r:id="rId5"/>
    <p:sldId id="579" r:id="rId6"/>
    <p:sldId id="580" r:id="rId7"/>
    <p:sldId id="581" r:id="rId8"/>
    <p:sldId id="584" r:id="rId9"/>
    <p:sldId id="605" r:id="rId10"/>
    <p:sldId id="586" r:id="rId11"/>
    <p:sldId id="588" r:id="rId12"/>
    <p:sldId id="590" r:id="rId13"/>
    <p:sldId id="592" r:id="rId14"/>
    <p:sldId id="593" r:id="rId15"/>
    <p:sldId id="594" r:id="rId16"/>
    <p:sldId id="595" r:id="rId17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61" autoAdjust="0"/>
    <p:restoredTop sz="90929"/>
  </p:normalViewPr>
  <p:slideViewPr>
    <p:cSldViewPr>
      <p:cViewPr varScale="1">
        <p:scale>
          <a:sx n="105" d="100"/>
          <a:sy n="105" d="100"/>
        </p:scale>
        <p:origin x="14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cs typeface="Times New Roman" pitchFamily="18" charset="0"/>
              </a:defRPr>
            </a:lvl1pPr>
          </a:lstStyle>
          <a:p>
            <a:pPr>
              <a:defRPr/>
            </a:pPr>
            <a:fld id="{98C9780D-E40F-43E5-8CDB-9325281D47C6}" type="datetimeFigureOut">
              <a:rPr lang="he-IL"/>
              <a:pPr>
                <a:defRPr/>
              </a:pPr>
              <a:t>כ"ו/חשון/תשע"ט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Times New Roman" pitchFamily="18" charset="0"/>
              </a:defRPr>
            </a:lvl1pPr>
          </a:lstStyle>
          <a:p>
            <a:pPr>
              <a:defRPr/>
            </a:pPr>
            <a:fld id="{AAC5845E-257D-469B-8A99-C3BFD6EB4C11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7909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 smtClean="0"/>
              <a:t>לחץ כדי לערוך סגנונות טקסט של תבנית בסיס</a:t>
            </a:r>
          </a:p>
          <a:p>
            <a:pPr lvl="1"/>
            <a:r>
              <a:rPr lang="he-IL" noProof="0" smtClean="0"/>
              <a:t>רמה שנייה</a:t>
            </a:r>
          </a:p>
          <a:p>
            <a:pPr lvl="2"/>
            <a:r>
              <a:rPr lang="he-IL" noProof="0" smtClean="0"/>
              <a:t>רמה שלישית</a:t>
            </a:r>
          </a:p>
          <a:p>
            <a:pPr lvl="3"/>
            <a:r>
              <a:rPr lang="he-IL" noProof="0" smtClean="0"/>
              <a:t>רמה רביעית</a:t>
            </a:r>
          </a:p>
          <a:p>
            <a:pPr lvl="4"/>
            <a:r>
              <a:rPr lang="he-IL" noProof="0" smtClean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Times New Roman (Hebrew)" charset="0"/>
                <a:cs typeface="Times New Roman (Hebrew)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cs typeface="Times New Roman" pitchFamily="18" charset="0"/>
              </a:defRPr>
            </a:lvl1pPr>
          </a:lstStyle>
          <a:p>
            <a:pPr>
              <a:defRPr/>
            </a:pPr>
            <a:fld id="{0B1CC206-6B7A-4449-8404-794E0FBE2BCD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60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3A34B578-86A8-4429-AFB1-6D766B50F73D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BCD3C21B-D8C1-4BAC-AB2D-6D951F010902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E822BB-F60D-4673-84B4-B1056E496A38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62F42F-EAE3-43E1-B44C-51D1274AA99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54F06E05-C344-4D30-97DF-197FA25CA25B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BECA7230-2910-4C0F-A726-1E9202C0525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156DEA-C4D4-4C4F-B0E3-F4CCCFF78B21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23008567-6F5D-4002-BB60-33A866D6FE11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F52617-E2A7-46EE-9854-AAB335A75576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pPr>
              <a:defRPr/>
            </a:pPr>
            <a:fld id="{A1A3E04F-10A5-4943-87BF-51E8ECDC212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007B947-8941-42CC-BAB1-7ADBD36217AB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4D07D1-0453-4440-B565-B8D771C15365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5204E8C-99B9-44AC-BEC9-FE21557F3F64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FCACAE-BEF3-4FBC-A54F-1D2895E80FBA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377A0A99-15BE-4BEE-ABCB-9878B83C7FE1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0D64BE37-5BA4-4C1D-8D90-5AF0452DFE6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pPr>
              <a:defRPr/>
            </a:pPr>
            <a:fld id="{1610AD7F-2AE8-4BDF-A67F-180893F80980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pPr>
              <a:defRPr/>
            </a:pPr>
            <a:fld id="{98C717C7-AD4D-4CC0-B274-D477AE75F00F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AC3254-4DD1-4D2D-A42B-D385CDD75408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F0762D-E2F2-474D-8C13-D16CC2592764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61E020-B9E8-4240-9383-7AE47D64ADDE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30FB6D-9710-4375-98D6-865A38D80E09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fld id="{6B184323-CC6E-4128-ABD4-75E6E8C0A5BE}" type="datetime8">
              <a:rPr lang="he-IL" smtClean="0"/>
              <a:pPr>
                <a:defRPr/>
              </a:pPr>
              <a:t>04 נובמבר 18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pPr>
              <a:defRPr/>
            </a:pPr>
            <a:fld id="{5E8F430F-00E8-42AE-B3B2-CFE36905E062}" type="slidenum">
              <a:rPr lang="he-IL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 smtClean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 smtClean="0"/>
                <a:t> </a:t>
              </a:r>
              <a:r>
                <a:rPr lang="he-IL" sz="8800" dirty="0" smtClean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715000" y="5334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/>
              <a:t>גיא שילון</a:t>
            </a:r>
            <a:endParaRPr lang="en-US" dirty="0" smtClean="0"/>
          </a:p>
          <a:p>
            <a:endParaRPr lang="he-IL" dirty="0" smtClean="0"/>
          </a:p>
          <a:p>
            <a:r>
              <a:rPr lang="en-US" dirty="0" smtClean="0"/>
              <a:t>guysh@ac.sce.ac.il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pPr algn="ctr"/>
            <a:r>
              <a:rPr lang="en-US" b="1" dirty="0" smtClean="0"/>
              <a:t>SQL</a:t>
            </a:r>
            <a:br>
              <a:rPr lang="en-US" b="1" dirty="0" smtClean="0"/>
            </a:br>
            <a:r>
              <a:rPr lang="en-US" b="1" dirty="0" smtClean="0"/>
              <a:t>-</a:t>
            </a:r>
            <a:r>
              <a:rPr lang="he-IL" b="1" dirty="0" smtClean="0"/>
              <a:t/>
            </a:r>
            <a:br>
              <a:rPr lang="he-IL" b="1" dirty="0" smtClean="0"/>
            </a:br>
            <a:r>
              <a:rPr lang="en-US" b="1" dirty="0" smtClean="0"/>
              <a:t>Tables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9BF024-6504-4E82-8663-6C8EC58CB9D9}" type="slidenum">
              <a:rPr lang="he-IL" smtClean="0"/>
              <a:pPr/>
              <a:t>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Create Table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514350" indent="-514350" eaLnBrk="1" hangingPunct="1">
              <a:buFontTx/>
              <a:buNone/>
            </a:pPr>
            <a:r>
              <a:rPr lang="he-IL" sz="2800" dirty="0" smtClean="0"/>
              <a:t>המבנה הבסיסי של הפקודה הוא:</a:t>
            </a:r>
            <a:endParaRPr lang="en-US" sz="2800" dirty="0" smtClean="0"/>
          </a:p>
          <a:p>
            <a:pPr marL="514350" indent="-514350" eaLnBrk="1" hangingPunct="1">
              <a:buFontTx/>
              <a:buNone/>
            </a:pPr>
            <a:endParaRPr lang="en-US" dirty="0" smtClean="0"/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CREATE table &lt;table name&gt;</a:t>
            </a:r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(  </a:t>
            </a:r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     &lt;field name&gt;  &lt;data type&gt; &lt;other&gt;,  </a:t>
            </a:r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     &lt; field name&gt;  &lt;data type&gt; &lt;other&gt;,   </a:t>
            </a:r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    ...  </a:t>
            </a:r>
          </a:p>
          <a:p>
            <a:pPr marL="514350" indent="-514350" algn="l" rtl="0">
              <a:buFontTx/>
              <a:buNone/>
            </a:pPr>
            <a:r>
              <a:rPr lang="en-US" sz="1600" dirty="0" smtClean="0"/>
              <a:t>) ;  </a:t>
            </a:r>
          </a:p>
          <a:p>
            <a:pPr marL="514350" indent="-514350" algn="l" rtl="0">
              <a:buFontTx/>
              <a:buNone/>
            </a:pPr>
            <a:endParaRPr lang="he-IL" sz="1600" dirty="0" smtClean="0"/>
          </a:p>
          <a:p>
            <a:pPr marL="514350" indent="-514350" algn="r" rtl="1"/>
            <a:r>
              <a:rPr lang="en-US" sz="1800" dirty="0" smtClean="0"/>
              <a:t>table name</a:t>
            </a:r>
            <a:r>
              <a:rPr lang="he-IL" sz="1800" dirty="0" smtClean="0"/>
              <a:t> - שם הטבלה שאנו רוצים ליצור.</a:t>
            </a:r>
            <a:endParaRPr lang="en-US" sz="1800" dirty="0" smtClean="0"/>
          </a:p>
          <a:p>
            <a:pPr marL="514350" indent="-514350" algn="r" rtl="1"/>
            <a:r>
              <a:rPr lang="en-US" sz="1800" dirty="0" smtClean="0"/>
              <a:t>field name</a:t>
            </a:r>
            <a:r>
              <a:rPr lang="he-IL" sz="1800" dirty="0" smtClean="0"/>
              <a:t> – שם השדה אותו אנו רוצים ליצור.</a:t>
            </a:r>
          </a:p>
          <a:p>
            <a:pPr marL="514350" indent="-514350" algn="r" rtl="1"/>
            <a:r>
              <a:rPr lang="en-US" sz="1800" dirty="0" smtClean="0"/>
              <a:t>data type</a:t>
            </a:r>
            <a:r>
              <a:rPr lang="he-IL" sz="1800" dirty="0" smtClean="0"/>
              <a:t> - סוג השדה.</a:t>
            </a:r>
          </a:p>
          <a:p>
            <a:pPr marL="514350" indent="-514350" algn="r" rtl="1"/>
            <a:r>
              <a:rPr lang="en-US" sz="1800" dirty="0" smtClean="0"/>
              <a:t>other</a:t>
            </a:r>
            <a:r>
              <a:rPr lang="he-IL" sz="1800" dirty="0" smtClean="0"/>
              <a:t> – הגדרות נוספות שונות.</a:t>
            </a:r>
          </a:p>
          <a:p>
            <a:pPr marL="514350" indent="-514350"/>
            <a:endParaRPr lang="he-IL" sz="1800" dirty="0" smtClean="0"/>
          </a:p>
          <a:p>
            <a:pPr marL="514350" indent="-514350" algn="l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614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A9140E-C935-4F68-AC71-762195FE0FA7}" type="slidenum">
              <a:rPr lang="he-IL" smtClean="0"/>
              <a:pPr/>
              <a:t>3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Create Table - </a:t>
            </a:r>
            <a:r>
              <a:rPr lang="en-US" sz="3600" b="1" dirty="0" smtClean="0"/>
              <a:t>data types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סוגי השדות הנפוצים הם:</a:t>
            </a:r>
            <a:endParaRPr lang="en-US" sz="2800" dirty="0" smtClean="0">
              <a:cs typeface="+mj-cs"/>
            </a:endParaRPr>
          </a:p>
          <a:p>
            <a:pPr algn="r" rtl="1"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en-US" sz="1800" dirty="0"/>
              <a:t>C</a:t>
            </a:r>
            <a:r>
              <a:rPr lang="en-US" sz="1800" dirty="0" smtClean="0"/>
              <a:t>har(n)</a:t>
            </a:r>
            <a:r>
              <a:rPr lang="he-IL" sz="1800" dirty="0" smtClean="0"/>
              <a:t> - נתונים בצורת מחרוזת בגודל </a:t>
            </a:r>
            <a:r>
              <a:rPr lang="en-US" sz="1800" dirty="0" smtClean="0"/>
              <a:t>n byte</a:t>
            </a:r>
            <a:r>
              <a:rPr lang="he-IL" sz="1800" dirty="0" smtClean="0"/>
              <a:t>, אם </a:t>
            </a:r>
            <a:r>
              <a:rPr lang="en-US" sz="1800" dirty="0" smtClean="0"/>
              <a:t>n</a:t>
            </a:r>
            <a:r>
              <a:rPr lang="he-IL" sz="1800" dirty="0" smtClean="0"/>
              <a:t> לא מוגדר אז ברירת המחדל היא </a:t>
            </a:r>
            <a:r>
              <a:rPr lang="en-US" sz="1800" dirty="0" smtClean="0"/>
              <a:t>1 byte</a:t>
            </a:r>
            <a:r>
              <a:rPr lang="he-IL" sz="1800" dirty="0" smtClean="0"/>
              <a:t>. הגבלה עד 255 תווים. גודל קבוע.</a:t>
            </a:r>
            <a:endParaRPr lang="en-US" sz="1400" dirty="0" smtClean="0"/>
          </a:p>
          <a:p>
            <a:pPr algn="r" rtl="1">
              <a:defRPr/>
            </a:pPr>
            <a:endParaRPr lang="en-US" sz="800" dirty="0" smtClean="0"/>
          </a:p>
          <a:p>
            <a:pPr algn="r" rtl="1">
              <a:defRPr/>
            </a:pPr>
            <a:r>
              <a:rPr lang="en-US" sz="1800" dirty="0" smtClean="0"/>
              <a:t>Varchar2(n)</a:t>
            </a:r>
            <a:r>
              <a:rPr lang="he-IL" sz="1800" dirty="0" smtClean="0"/>
              <a:t> - נתונים בצורת מחרוזת בגודל </a:t>
            </a:r>
            <a:r>
              <a:rPr lang="en-US" sz="1800" dirty="0" smtClean="0"/>
              <a:t>n byte</a:t>
            </a:r>
            <a:r>
              <a:rPr lang="he-IL" sz="1800" dirty="0" smtClean="0"/>
              <a:t>. גודל משתנה.</a:t>
            </a:r>
          </a:p>
          <a:p>
            <a:pPr algn="r" rtl="1">
              <a:defRPr/>
            </a:pPr>
            <a:endParaRPr lang="en-US" sz="800" dirty="0" smtClean="0"/>
          </a:p>
          <a:p>
            <a:pPr algn="r" rtl="1">
              <a:defRPr/>
            </a:pPr>
            <a:r>
              <a:rPr lang="en-US" sz="1800" dirty="0" smtClean="0"/>
              <a:t>Date</a:t>
            </a:r>
            <a:r>
              <a:rPr lang="he-IL" sz="1800" dirty="0" smtClean="0"/>
              <a:t>- נתונים בצורת תאריך ושעה.</a:t>
            </a:r>
          </a:p>
          <a:p>
            <a:pPr algn="r" rtl="1"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en-US" sz="1800" dirty="0" smtClean="0"/>
              <a:t>Number(</a:t>
            </a:r>
            <a:r>
              <a:rPr lang="en-US" sz="1800" dirty="0" err="1" smtClean="0"/>
              <a:t>p,s</a:t>
            </a:r>
            <a:r>
              <a:rPr lang="en-US" sz="1800" dirty="0" smtClean="0"/>
              <a:t>)</a:t>
            </a:r>
            <a:r>
              <a:rPr lang="he-IL" sz="1800" dirty="0" smtClean="0"/>
              <a:t> – נתונים בצורת ערכים שלמים או ממשיים. כאשר </a:t>
            </a:r>
            <a:r>
              <a:rPr lang="en-US" sz="1800" dirty="0" smtClean="0"/>
              <a:t>p</a:t>
            </a:r>
            <a:r>
              <a:rPr lang="he-IL" sz="1800" dirty="0" smtClean="0"/>
              <a:t> מציין סה"כ ספרות במספר ו-</a:t>
            </a:r>
            <a:r>
              <a:rPr lang="en-US" sz="1800" dirty="0" smtClean="0"/>
              <a:t>s</a:t>
            </a:r>
            <a:r>
              <a:rPr lang="he-IL" sz="1800" dirty="0" smtClean="0"/>
              <a:t> מציין סה"כ ספרות לאחר הנקודה. במידה ויוכנס לסוגריים רק </a:t>
            </a:r>
            <a:r>
              <a:rPr lang="en-US" sz="1800" dirty="0" smtClean="0"/>
              <a:t>p</a:t>
            </a:r>
            <a:r>
              <a:rPr lang="he-IL" sz="1800" dirty="0" smtClean="0"/>
              <a:t> המספר יוצג כמספר שלם.</a:t>
            </a:r>
            <a:endParaRPr lang="en-US" sz="1800" dirty="0" smtClean="0"/>
          </a:p>
          <a:p>
            <a:pPr marL="0" indent="0">
              <a:buNone/>
            </a:pPr>
            <a:r>
              <a:rPr lang="it-IT" sz="1400" dirty="0"/>
              <a:t>Precision 4, scale 2: 99.99</a:t>
            </a:r>
          </a:p>
          <a:p>
            <a:pPr marL="0" indent="0">
              <a:buNone/>
            </a:pPr>
            <a:r>
              <a:rPr lang="it-IT" sz="1400" dirty="0"/>
              <a:t>Precision 10, scale 0: 9999999999</a:t>
            </a:r>
          </a:p>
          <a:p>
            <a:pPr marL="0" indent="0">
              <a:buNone/>
            </a:pPr>
            <a:r>
              <a:rPr lang="it-IT" sz="1400" dirty="0"/>
              <a:t>Precision 8, scale 3: 99999.999</a:t>
            </a:r>
          </a:p>
          <a:p>
            <a:pPr marL="0" indent="0">
              <a:buNone/>
            </a:pPr>
            <a:r>
              <a:rPr lang="it-IT" sz="1400"/>
              <a:t>Precision 5, scale -3: 99999000</a:t>
            </a:r>
          </a:p>
          <a:p>
            <a:pPr algn="r" rtl="1">
              <a:defRPr/>
            </a:pPr>
            <a:endParaRPr lang="en-US" sz="1400" dirty="0" smtClean="0"/>
          </a:p>
          <a:p>
            <a:pPr eaLnBrk="1" hangingPunct="1">
              <a:buFontTx/>
              <a:buNone/>
              <a:defRPr/>
            </a:pPr>
            <a:endParaRPr lang="he-IL" b="1" dirty="0" smtClean="0"/>
          </a:p>
        </p:txBody>
      </p:sp>
      <p:sp>
        <p:nvSpPr>
          <p:cNvPr id="717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B4110E-0EB5-455D-9258-BBB7122FA595}" type="slidenum">
              <a:rPr lang="he-IL" smtClean="0"/>
              <a:pPr/>
              <a:t>4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he-IL" b="1" dirty="0" smtClean="0"/>
              <a:t>תוספות – </a:t>
            </a:r>
            <a:r>
              <a:rPr lang="en-US" b="1" dirty="0" smtClean="0"/>
              <a:t>Create Table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2800" dirty="0" smtClean="0"/>
              <a:t>סוגי הגדרות נוספות (רשימה חלקית):</a:t>
            </a:r>
            <a:endParaRPr lang="en-US" sz="2800" dirty="0" smtClean="0"/>
          </a:p>
          <a:p>
            <a:pPr algn="r" rtl="1"/>
            <a:endParaRPr lang="he-IL" sz="800" dirty="0" smtClean="0"/>
          </a:p>
          <a:p>
            <a:pPr algn="r" rtl="1"/>
            <a:r>
              <a:rPr lang="en-US" sz="1800" dirty="0" smtClean="0"/>
              <a:t>Not null</a:t>
            </a:r>
            <a:r>
              <a:rPr lang="he-IL" sz="1800" dirty="0" smtClean="0"/>
              <a:t> - הגדרה זו מחייבת את המשתמש להכניס לשדה זה ערך מסוים.</a:t>
            </a:r>
            <a:endParaRPr lang="en-US" sz="1400" dirty="0" smtClean="0"/>
          </a:p>
          <a:p>
            <a:pPr algn="r" rtl="1"/>
            <a:endParaRPr lang="en-US" sz="800" dirty="0" smtClean="0"/>
          </a:p>
          <a:p>
            <a:pPr algn="r" rtl="1"/>
            <a:r>
              <a:rPr lang="en-US" sz="1800" dirty="0" smtClean="0"/>
              <a:t>Default ‘___’</a:t>
            </a:r>
            <a:r>
              <a:rPr lang="he-IL" sz="1800" dirty="0" smtClean="0"/>
              <a:t> - השמה זו קובעת שערך ברירת המחדל של השדה יהיה הערך שבין שני הגרשים.</a:t>
            </a:r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3E9DEC-A83B-4D36-B2DD-B470D4030BCD}" type="slidenum">
              <a:rPr lang="he-IL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Create Table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514350" indent="-514350" algn="r" rtl="1" eaLnBrk="1" hangingPunct="1">
              <a:buFontTx/>
              <a:buNone/>
            </a:pPr>
            <a:r>
              <a:rPr lang="he-IL" sz="2800" dirty="0" smtClean="0"/>
              <a:t>לדוגמא נרצה ליצור טבלה בשם </a:t>
            </a:r>
            <a:r>
              <a:rPr lang="en-US" sz="2800" dirty="0" err="1" smtClean="0"/>
              <a:t>MyEmp</a:t>
            </a:r>
            <a:r>
              <a:rPr lang="he-IL" sz="2800" dirty="0" smtClean="0"/>
              <a:t> שבנויה בצורה הבאה:</a:t>
            </a:r>
          </a:p>
          <a:p>
            <a:pPr marL="514350" indent="-514350" algn="r" rtl="1" eaLnBrk="1" hangingPunct="1">
              <a:buFontTx/>
              <a:buNone/>
            </a:pPr>
            <a:endParaRPr lang="he-IL" sz="2800" dirty="0" smtClean="0"/>
          </a:p>
          <a:p>
            <a:pPr marL="514350" indent="-514350" algn="r" rtl="1"/>
            <a:r>
              <a:rPr lang="en-US" sz="1800" dirty="0" smtClean="0"/>
              <a:t> </a:t>
            </a:r>
            <a:r>
              <a:rPr lang="en-US" sz="1800" dirty="0" err="1" smtClean="0"/>
              <a:t>EmpNo</a:t>
            </a:r>
            <a:r>
              <a:rPr lang="he-IL" sz="1800" dirty="0" smtClean="0"/>
              <a:t>- מספר בעל 4 ספרות.</a:t>
            </a:r>
            <a:endParaRPr lang="en-US" sz="1800" dirty="0" smtClean="0"/>
          </a:p>
          <a:p>
            <a:pPr marL="514350" indent="-514350" algn="r" rtl="1"/>
            <a:r>
              <a:rPr lang="en-US" sz="1800" dirty="0" smtClean="0"/>
              <a:t> </a:t>
            </a:r>
            <a:r>
              <a:rPr lang="en-US" sz="1800" dirty="0" err="1" smtClean="0"/>
              <a:t>EmpName</a:t>
            </a:r>
            <a:r>
              <a:rPr lang="he-IL" sz="1800" dirty="0" smtClean="0"/>
              <a:t>- מחרוזת בעלת 10 תווים ברירת מחדל </a:t>
            </a:r>
            <a:r>
              <a:rPr lang="en-US" sz="1800" dirty="0" smtClean="0"/>
              <a:t>'unknown'</a:t>
            </a:r>
            <a:r>
              <a:rPr lang="he-IL" sz="1800" dirty="0" smtClean="0"/>
              <a:t>.</a:t>
            </a:r>
          </a:p>
          <a:p>
            <a:pPr marL="514350" indent="-514350" algn="r" rtl="1"/>
            <a:r>
              <a:rPr lang="en-US" sz="1800" dirty="0" err="1" smtClean="0"/>
              <a:t>Hiredate</a:t>
            </a:r>
            <a:r>
              <a:rPr lang="he-IL" sz="1800" dirty="0" smtClean="0"/>
              <a:t> – תאריך ברירת מחדל תאריך נוכחי.</a:t>
            </a:r>
          </a:p>
          <a:p>
            <a:pPr marL="514350" indent="-514350" algn="r" rtl="1"/>
            <a:r>
              <a:rPr lang="en-US" sz="1800" dirty="0" err="1" smtClean="0"/>
              <a:t>DeptNo</a:t>
            </a:r>
            <a:r>
              <a:rPr lang="he-IL" sz="1800" dirty="0" smtClean="0"/>
              <a:t> - מספר בעל 2 ספרות.</a:t>
            </a:r>
          </a:p>
          <a:p>
            <a:pPr marL="514350" indent="-514350" algn="r" rtl="1"/>
            <a:endParaRPr lang="he-IL" sz="1800" dirty="0" smtClean="0"/>
          </a:p>
          <a:p>
            <a:pPr marL="514350" indent="-514350" algn="r" rtl="1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C6DC0F-83AD-413E-9FFD-D13E68676D6A}" type="slidenum">
              <a:rPr lang="he-IL" smtClean="0"/>
              <a:pPr/>
              <a:t>6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Create Table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marL="514350" indent="-514350" algn="r" rtl="1" eaLnBrk="1" hangingPunct="1">
              <a:buFontTx/>
              <a:buNone/>
            </a:pPr>
            <a:r>
              <a:rPr lang="he-IL" sz="2800" dirty="0" smtClean="0"/>
              <a:t>פתרון:</a:t>
            </a:r>
          </a:p>
          <a:p>
            <a:pPr marL="514350" indent="-514350" eaLnBrk="1" hangingPunct="1">
              <a:buFontTx/>
              <a:buNone/>
            </a:pPr>
            <a:endParaRPr lang="he-IL" sz="2800" dirty="0" smtClean="0"/>
          </a:p>
          <a:p>
            <a:pPr marL="514350" indent="-514350" algn="l" rtl="0">
              <a:buFontTx/>
              <a:buNone/>
            </a:pPr>
            <a:endParaRPr lang="he-IL" sz="1800" dirty="0" smtClean="0"/>
          </a:p>
          <a:p>
            <a:pPr marL="514350" indent="-514350" algn="l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1024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A1702DA-56C6-464F-A7A5-B189A55A1681}" type="slidenum">
              <a:rPr lang="he-IL" smtClean="0"/>
              <a:pPr/>
              <a:t>7</a:t>
            </a:fld>
            <a:endParaRPr lang="en-US" smtClean="0"/>
          </a:p>
        </p:txBody>
      </p:sp>
      <p:sp>
        <p:nvSpPr>
          <p:cNvPr id="2" name="TextBox 1"/>
          <p:cNvSpPr txBox="1"/>
          <p:nvPr/>
        </p:nvSpPr>
        <p:spPr>
          <a:xfrm>
            <a:off x="2057400" y="2438400"/>
            <a:ext cx="6019800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 rtl="0"/>
            <a:r>
              <a:rPr lang="en-US" sz="1800" b="1" dirty="0">
                <a:solidFill>
                  <a:srgbClr val="0000FF"/>
                </a:solidFill>
                <a:latin typeface="Courier New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TABLE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/>
              </a:rPr>
              <a:t>MyEmp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dirty="0" smtClean="0">
              <a:solidFill>
                <a:srgbClr val="000000"/>
              </a:solidFill>
              <a:latin typeface="Courier New"/>
            </a:endParaRPr>
          </a:p>
          <a:p>
            <a:pPr algn="l" rtl="0"/>
            <a:r>
              <a:rPr lang="en-US" sz="1800" b="1" dirty="0" smtClean="0">
                <a:solidFill>
                  <a:srgbClr val="000080"/>
                </a:solidFill>
                <a:latin typeface="Courier New"/>
              </a:rPr>
              <a:t>(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lvl="1" algn="l" rtl="0"/>
            <a:r>
              <a:rPr lang="en-US" sz="1800" dirty="0" err="1" smtClean="0">
                <a:solidFill>
                  <a:srgbClr val="000000"/>
                </a:solidFill>
                <a:latin typeface="Courier New"/>
              </a:rPr>
              <a:t>EmpNo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NUMBER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(</a:t>
            </a:r>
            <a:r>
              <a:rPr lang="en-US" sz="1800" dirty="0">
                <a:solidFill>
                  <a:srgbClr val="FF8000"/>
                </a:solidFill>
                <a:latin typeface="Courier New"/>
              </a:rPr>
              <a:t>4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NOT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NULL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dirty="0" smtClean="0">
              <a:solidFill>
                <a:srgbClr val="000000"/>
              </a:solidFill>
              <a:latin typeface="Courier New"/>
            </a:endParaRPr>
          </a:p>
          <a:p>
            <a:pPr lvl="1" algn="l" rtl="0"/>
            <a:r>
              <a:rPr lang="en-US" sz="1800" dirty="0" err="1" smtClean="0">
                <a:solidFill>
                  <a:srgbClr val="000000"/>
                </a:solidFill>
                <a:latin typeface="Courier New"/>
              </a:rPr>
              <a:t>EmpName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VARCHAR2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(</a:t>
            </a:r>
            <a:r>
              <a:rPr lang="en-US" sz="1800" dirty="0">
                <a:solidFill>
                  <a:srgbClr val="FF8000"/>
                </a:solidFill>
                <a:latin typeface="Courier New"/>
              </a:rPr>
              <a:t>10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DEFAULT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urier New"/>
              </a:rPr>
              <a:t>'unknown'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urier New"/>
              </a:rPr>
              <a:t>Hiredate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DATE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DEFAULT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 err="1">
                <a:solidFill>
                  <a:srgbClr val="0000FF"/>
                </a:solidFill>
                <a:latin typeface="Courier New"/>
              </a:rPr>
              <a:t>sysdate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dirty="0" smtClean="0">
              <a:solidFill>
                <a:srgbClr val="000000"/>
              </a:solidFill>
              <a:latin typeface="Courier New"/>
            </a:endParaRPr>
          </a:p>
          <a:p>
            <a:pPr lvl="1" algn="l" rtl="0"/>
            <a:r>
              <a:rPr lang="en-US" sz="1800" dirty="0" err="1" smtClean="0">
                <a:solidFill>
                  <a:srgbClr val="000000"/>
                </a:solidFill>
                <a:latin typeface="Courier New"/>
              </a:rPr>
              <a:t>DeptNo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sz="1800" b="1" dirty="0">
                <a:solidFill>
                  <a:srgbClr val="0000FF"/>
                </a:solidFill>
                <a:latin typeface="Courier New"/>
              </a:rPr>
              <a:t>NUMBER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(</a:t>
            </a:r>
            <a:r>
              <a:rPr lang="en-US" sz="1800" dirty="0">
                <a:solidFill>
                  <a:srgbClr val="FF8000"/>
                </a:solidFill>
                <a:latin typeface="Courier New"/>
              </a:rPr>
              <a:t>2</a:t>
            </a:r>
            <a:r>
              <a:rPr lang="en-US" sz="1800" b="1" dirty="0">
                <a:solidFill>
                  <a:srgbClr val="000080"/>
                </a:solidFill>
                <a:latin typeface="Courier New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urier New"/>
              </a:rPr>
              <a:t> </a:t>
            </a:r>
            <a:endParaRPr lang="en-US" sz="1800" dirty="0" smtClean="0">
              <a:solidFill>
                <a:srgbClr val="000000"/>
              </a:solidFill>
              <a:latin typeface="Courier New"/>
            </a:endParaRPr>
          </a:p>
          <a:p>
            <a:pPr algn="l" rtl="0"/>
            <a:r>
              <a:rPr lang="en-US" sz="1800" b="1" dirty="0" smtClean="0">
                <a:solidFill>
                  <a:srgbClr val="000080"/>
                </a:solidFill>
                <a:latin typeface="Courier New"/>
              </a:rPr>
              <a:t>);</a:t>
            </a:r>
            <a:r>
              <a:rPr lang="en-US" sz="1800" dirty="0" smtClean="0">
                <a:solidFill>
                  <a:srgbClr val="000000"/>
                </a:solidFill>
                <a:latin typeface="Courier New"/>
              </a:rPr>
              <a:t> </a:t>
            </a:r>
            <a:endParaRPr lang="en-US" sz="1800" dirty="0"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Table – </a:t>
            </a:r>
            <a:r>
              <a:rPr lang="he-IL" b="1" dirty="0" smtClean="0"/>
              <a:t>פעולות נוספות</a:t>
            </a:r>
            <a:endParaRPr lang="en-US" b="1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Delete table</a:t>
            </a:r>
            <a:r>
              <a:rPr lang="he-IL" sz="1600" dirty="0" smtClean="0"/>
              <a:t> - מחיקת טבלה.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DROP Table &lt;table name&gt; ;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dirty="0" smtClean="0"/>
              <a:t>DROP Table </a:t>
            </a:r>
            <a:r>
              <a:rPr lang="en-US" sz="1600" dirty="0" err="1" smtClean="0"/>
              <a:t>MyEmp</a:t>
            </a:r>
            <a:r>
              <a:rPr lang="en-US" sz="1600" dirty="0" smtClean="0"/>
              <a:t> ; </a:t>
            </a:r>
            <a:r>
              <a:rPr lang="he-IL" sz="1600" dirty="0" smtClean="0"/>
              <a:t>לדוגמא:             </a:t>
            </a:r>
            <a:endParaRPr lang="en-US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>
              <a:solidFill>
                <a:schemeClr val="accent2"/>
              </a:solidFill>
            </a:endParaRPr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 Rename table name</a:t>
            </a:r>
            <a:r>
              <a:rPr lang="he-IL" sz="1600" dirty="0" smtClean="0"/>
              <a:t>- שינוי שם טבלה.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RENAME &lt;table name old&gt; TO &lt;table name new&gt; ;</a:t>
            </a:r>
            <a:endParaRPr lang="he-IL" sz="1600" i="1" dirty="0" smtClean="0">
              <a:solidFill>
                <a:srgbClr val="FFFF00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i="1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dirty="0" smtClean="0"/>
              <a:t>RENAME </a:t>
            </a:r>
            <a:r>
              <a:rPr lang="en-US" sz="1600" dirty="0" err="1" smtClean="0"/>
              <a:t>MyEmp</a:t>
            </a:r>
            <a:r>
              <a:rPr lang="en-US" sz="1600" dirty="0" smtClean="0"/>
              <a:t> TO </a:t>
            </a:r>
            <a:r>
              <a:rPr lang="en-US" sz="1600" dirty="0" err="1" smtClean="0"/>
              <a:t>MyEmpT</a:t>
            </a:r>
            <a:r>
              <a:rPr lang="en-US" sz="1600" dirty="0"/>
              <a:t>;</a:t>
            </a:r>
            <a:r>
              <a:rPr lang="en-US" sz="1600" dirty="0" smtClean="0"/>
              <a:t> </a:t>
            </a:r>
            <a:r>
              <a:rPr lang="he-IL" sz="1600" dirty="0" smtClean="0"/>
              <a:t>לדוגמא :    </a:t>
            </a:r>
            <a:endParaRPr lang="en-US" sz="1600" dirty="0" smtClean="0"/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 add new field</a:t>
            </a:r>
            <a:r>
              <a:rPr lang="he-IL" sz="1600" dirty="0" smtClean="0"/>
              <a:t>- הוספת עמודה חדשה.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ALTER TABLE &lt;table name&gt; ADD  &lt;filed name&gt;  &lt;data type&gt; &lt;other&gt;;</a:t>
            </a:r>
            <a:endParaRPr lang="he-IL" sz="1600" i="1" dirty="0" smtClean="0">
              <a:solidFill>
                <a:srgbClr val="FFFF00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600" i="1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dirty="0" smtClean="0"/>
              <a:t>ALTER TABLE </a:t>
            </a:r>
            <a:r>
              <a:rPr lang="en-US" sz="1600" dirty="0" err="1" smtClean="0"/>
              <a:t>MyEmp</a:t>
            </a:r>
            <a:r>
              <a:rPr lang="en-US" sz="1600" dirty="0" smtClean="0"/>
              <a:t> ADD  birthdate  date; </a:t>
            </a:r>
            <a:r>
              <a:rPr lang="he-IL" sz="1600" dirty="0" smtClean="0"/>
              <a:t>לדוגמא הוספת עמודת תאריך לידה:   </a:t>
            </a:r>
            <a:endParaRPr lang="en-US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600" dirty="0" smtClean="0">
              <a:solidFill>
                <a:schemeClr val="accent2"/>
              </a:solidFill>
            </a:endParaRPr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 Modify field</a:t>
            </a:r>
            <a:r>
              <a:rPr lang="he-IL" sz="1600" dirty="0" smtClean="0"/>
              <a:t>- עדכון סוג נתונים לעמודה.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ALTER TABLE &lt;table name&gt; MODIFY &lt;filed name&gt;  &lt;data type&gt; &lt;other&gt;;</a:t>
            </a:r>
            <a:endParaRPr lang="he-IL" sz="1600" i="1" dirty="0" smtClean="0">
              <a:solidFill>
                <a:srgbClr val="FFFF00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600" i="1" dirty="0" smtClean="0"/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he-IL" sz="1600" dirty="0" smtClean="0"/>
              <a:t>לדוגמא הגדלת מחרוזת שם העובד מ- 10 ל- 20:</a:t>
            </a:r>
            <a:endParaRPr lang="he-IL" sz="1400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dirty="0" smtClean="0"/>
              <a:t>ALTER TABLE </a:t>
            </a:r>
            <a:r>
              <a:rPr lang="en-US" sz="1600" dirty="0" err="1" smtClean="0"/>
              <a:t>MyEmp</a:t>
            </a:r>
            <a:r>
              <a:rPr lang="en-US" sz="1600" dirty="0" smtClean="0"/>
              <a:t> MODIFY </a:t>
            </a:r>
            <a:r>
              <a:rPr lang="en-US" sz="1600" dirty="0" err="1" smtClean="0"/>
              <a:t>EmpName</a:t>
            </a:r>
            <a:r>
              <a:rPr lang="en-US" sz="1600" dirty="0" smtClean="0"/>
              <a:t> VARCHAR2(20) DEFAULT 'unknown‘;</a:t>
            </a:r>
            <a:r>
              <a:rPr lang="en-US" sz="1400" dirty="0" smtClean="0"/>
              <a:t> </a:t>
            </a:r>
            <a:r>
              <a:rPr lang="he-IL" sz="1400" dirty="0" smtClean="0"/>
              <a:t> </a:t>
            </a:r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400" dirty="0" smtClean="0">
              <a:solidFill>
                <a:schemeClr val="accent2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en-US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 eaLnBrk="1" hangingPunct="1">
              <a:lnSpc>
                <a:spcPct val="80000"/>
              </a:lnSpc>
              <a:buFontTx/>
              <a:buNone/>
            </a:pPr>
            <a:endParaRPr lang="he-IL" sz="2800" b="1" dirty="0" smtClean="0"/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03BA2C-327F-4314-BC8C-7E1D75FC4315}" type="slidenum">
              <a:rPr lang="he-IL" smtClean="0"/>
              <a:pPr/>
              <a:t>8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Table – </a:t>
            </a:r>
            <a:r>
              <a:rPr lang="he-IL" b="1" dirty="0" smtClean="0"/>
              <a:t>פעולות נוספות</a:t>
            </a:r>
            <a:endParaRPr lang="en-US" b="1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114800"/>
          </a:xfrm>
        </p:spPr>
        <p:txBody>
          <a:bodyPr/>
          <a:lstStyle/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Rename </a:t>
            </a:r>
            <a:r>
              <a:rPr lang="en-US" sz="1600" dirty="0"/>
              <a:t>Column name</a:t>
            </a:r>
            <a:r>
              <a:rPr lang="he-IL" sz="1600" dirty="0" smtClean="0"/>
              <a:t> – שינוי שם </a:t>
            </a:r>
            <a:r>
              <a:rPr lang="he-IL" sz="1600" smtClean="0"/>
              <a:t>של שדה.</a:t>
            </a:r>
            <a:endParaRPr lang="he-IL" sz="1600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ALTER TABLE &lt;table name&gt; RENAME column &lt;old field name&gt;TO &lt;new field     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>
                <a:solidFill>
                  <a:srgbClr val="FFFF00"/>
                </a:solidFill>
              </a:rPr>
              <a:t> </a:t>
            </a:r>
            <a:r>
              <a:rPr lang="en-US" sz="1600" i="1" dirty="0" smtClean="0">
                <a:solidFill>
                  <a:srgbClr val="FFFF00"/>
                </a:solidFill>
              </a:rPr>
              <a:t>                                                                                                               name&gt;;</a:t>
            </a:r>
          </a:p>
          <a:p>
            <a:pPr>
              <a:lnSpc>
                <a:spcPct val="80000"/>
              </a:lnSpc>
              <a:buNone/>
            </a:pPr>
            <a:r>
              <a:rPr lang="en-US" sz="1600" dirty="0" smtClean="0"/>
              <a:t>ALTER TABLE </a:t>
            </a:r>
            <a:r>
              <a:rPr lang="en-US" sz="1600" dirty="0" err="1" smtClean="0"/>
              <a:t>MyTbl</a:t>
            </a:r>
            <a:r>
              <a:rPr lang="en-US" sz="1600" dirty="0" smtClean="0"/>
              <a:t> RENAME column </a:t>
            </a:r>
            <a:r>
              <a:rPr lang="en-US" sz="1600" dirty="0" err="1"/>
              <a:t>EmpName</a:t>
            </a:r>
            <a:r>
              <a:rPr lang="en-US" sz="1600" dirty="0"/>
              <a:t> TO </a:t>
            </a:r>
            <a:r>
              <a:rPr lang="en-US" sz="1600" dirty="0" smtClean="0"/>
              <a:t>EmpName1; </a:t>
            </a:r>
            <a:r>
              <a:rPr lang="he-IL" sz="1600" dirty="0" smtClean="0"/>
              <a:t>לדוגמא:             </a:t>
            </a:r>
            <a:endParaRPr lang="en-US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dirty="0" smtClean="0">
              <a:solidFill>
                <a:schemeClr val="accent2"/>
              </a:solidFill>
            </a:endParaRPr>
          </a:p>
          <a:p>
            <a:pPr algn="r" rtl="1">
              <a:lnSpc>
                <a:spcPct val="80000"/>
              </a:lnSpc>
            </a:pPr>
            <a:r>
              <a:rPr lang="en-US" sz="1600" dirty="0" smtClean="0"/>
              <a:t> Delete Column</a:t>
            </a:r>
            <a:r>
              <a:rPr lang="he-IL" sz="1600" dirty="0" smtClean="0"/>
              <a:t>- מחיקת עמודה.</a:t>
            </a:r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i="1" dirty="0" smtClean="0">
                <a:solidFill>
                  <a:srgbClr val="FFFF00"/>
                </a:solidFill>
              </a:rPr>
              <a:t>ALTER TABLE &lt;table name&gt; DROP COLUMN &lt;column name&gt;;</a:t>
            </a:r>
            <a:endParaRPr lang="he-IL" sz="1600" i="1" dirty="0" smtClean="0">
              <a:solidFill>
                <a:srgbClr val="FFFF00"/>
              </a:solidFill>
            </a:endParaRPr>
          </a:p>
          <a:p>
            <a:pPr algn="r" rtl="1">
              <a:lnSpc>
                <a:spcPct val="80000"/>
              </a:lnSpc>
              <a:buFontTx/>
              <a:buNone/>
            </a:pPr>
            <a:endParaRPr lang="he-IL" sz="1600" i="1" dirty="0" smtClean="0"/>
          </a:p>
          <a:p>
            <a:pPr algn="l">
              <a:lnSpc>
                <a:spcPct val="80000"/>
              </a:lnSpc>
              <a:buFontTx/>
              <a:buNone/>
            </a:pPr>
            <a:r>
              <a:rPr lang="en-US" sz="1600" dirty="0" smtClean="0"/>
              <a:t>ALTER TABLE </a:t>
            </a:r>
            <a:r>
              <a:rPr lang="en-US" sz="1600" dirty="0" err="1" smtClean="0"/>
              <a:t>MyTbl</a:t>
            </a:r>
            <a:r>
              <a:rPr lang="en-US" sz="1600" dirty="0" smtClean="0"/>
              <a:t> DROP COLUMN </a:t>
            </a:r>
            <a:r>
              <a:rPr lang="en-US" sz="1600" dirty="0" err="1" smtClean="0"/>
              <a:t>fnam</a:t>
            </a:r>
            <a:r>
              <a:rPr lang="en-US" sz="1600" dirty="0" smtClean="0"/>
              <a:t>;</a:t>
            </a:r>
            <a:r>
              <a:rPr lang="he-IL" sz="1600" dirty="0" smtClean="0"/>
              <a:t>לדוגמא :    </a:t>
            </a:r>
            <a:endParaRPr lang="en-US" sz="1600" dirty="0" smtClean="0"/>
          </a:p>
          <a:p>
            <a:pPr algn="r" rtl="1">
              <a:lnSpc>
                <a:spcPct val="80000"/>
              </a:lnSpc>
              <a:buFontTx/>
              <a:buNone/>
            </a:pPr>
            <a:r>
              <a:rPr lang="he-IL" sz="1600" dirty="0" smtClean="0"/>
              <a:t>ניתן למחוק גם כמה עמודות.</a:t>
            </a:r>
            <a:endParaRPr lang="en-US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>
              <a:lnSpc>
                <a:spcPct val="80000"/>
              </a:lnSpc>
            </a:pPr>
            <a:endParaRPr lang="he-IL" sz="1600" dirty="0" smtClean="0"/>
          </a:p>
          <a:p>
            <a:pPr algn="r" rtl="1" eaLnBrk="1" hangingPunct="1">
              <a:lnSpc>
                <a:spcPct val="80000"/>
              </a:lnSpc>
              <a:buFontTx/>
              <a:buNone/>
            </a:pPr>
            <a:endParaRPr lang="he-IL" sz="2800" b="1" dirty="0" smtClean="0"/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403BA2C-327F-4314-BC8C-7E1D75FC4315}" type="slidenum">
              <a:rPr lang="he-IL" smtClean="0"/>
              <a:pPr/>
              <a:t>9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72194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7772400" cy="990600"/>
          </a:xfrm>
        </p:spPr>
        <p:txBody>
          <a:bodyPr/>
          <a:lstStyle/>
          <a:p>
            <a:pPr algn="ctr"/>
            <a:r>
              <a:rPr lang="en-US" b="1" dirty="0" smtClean="0"/>
              <a:t> </a:t>
            </a:r>
            <a:r>
              <a:rPr lang="he-IL" b="1" dirty="0" smtClean="0"/>
              <a:t> </a:t>
            </a:r>
            <a:r>
              <a:rPr lang="en-US" b="1" dirty="0" smtClean="0"/>
              <a:t>Insert into Table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724400"/>
          </a:xfrm>
        </p:spPr>
        <p:txBody>
          <a:bodyPr>
            <a:normAutofit fontScale="92500" lnSpcReduction="20000"/>
          </a:bodyPr>
          <a:lstStyle/>
          <a:p>
            <a:pPr algn="r" rtl="1"/>
            <a:r>
              <a:rPr lang="he-IL" sz="2000" dirty="0" smtClean="0"/>
              <a:t>על מנת להוסיף רשומה אחת לטבלה. יש לבצע אחת משתי צורות הפקודה הבאות:</a:t>
            </a:r>
            <a:endParaRPr lang="en-US" sz="2000" dirty="0" smtClean="0"/>
          </a:p>
          <a:p>
            <a:pPr algn="r" rtl="1"/>
            <a:endParaRPr lang="he-IL" sz="2000" dirty="0" smtClean="0"/>
          </a:p>
          <a:p>
            <a:pPr algn="r" rtl="1">
              <a:buFontTx/>
              <a:buNone/>
            </a:pPr>
            <a:r>
              <a:rPr lang="he-IL" sz="2000" dirty="0" smtClean="0"/>
              <a:t>	1. </a:t>
            </a:r>
            <a:r>
              <a:rPr lang="he-IL" sz="1800" dirty="0" smtClean="0"/>
              <a:t>להוספת רשומה עם ערכים עבור כל השדות לפי סדר השדות בטבלה.</a:t>
            </a:r>
            <a:endParaRPr lang="en-US" sz="1800" dirty="0" smtClean="0"/>
          </a:p>
          <a:p>
            <a:pPr algn="r" rtl="1">
              <a:buFontTx/>
              <a:buNone/>
            </a:pPr>
            <a:endParaRPr lang="he-IL" sz="18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INSERT INTO &lt;table name&gt; VALUES(&lt;filed data 1&gt;, &lt;filed data 2&gt;, …);</a:t>
            </a:r>
          </a:p>
          <a:p>
            <a:pPr algn="r" rtl="1">
              <a:buFontTx/>
              <a:buNone/>
            </a:pPr>
            <a:endParaRPr lang="en-US" sz="1800" dirty="0" smtClean="0"/>
          </a:p>
          <a:p>
            <a:pPr algn="r" rtl="1">
              <a:buFontTx/>
              <a:buNone/>
            </a:pPr>
            <a:r>
              <a:rPr lang="he-IL" sz="1800" dirty="0" smtClean="0"/>
              <a:t>	2. להוספת רשומה עם ערכים עבור כל השדות או חלק מהם לפי הסדר המצויין ברשימת השדות.</a:t>
            </a:r>
            <a:endParaRPr lang="en-US" sz="1800" dirty="0" smtClean="0"/>
          </a:p>
          <a:p>
            <a:pPr algn="r" rtl="1">
              <a:buFontTx/>
              <a:buNone/>
            </a:pPr>
            <a:endParaRPr lang="he-IL" sz="18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INSERT INTO </a:t>
            </a:r>
            <a:r>
              <a:rPr lang="en-US" sz="1800" i="1" dirty="0" err="1" smtClean="0">
                <a:solidFill>
                  <a:srgbClr val="FFFF00"/>
                </a:solidFill>
              </a:rPr>
              <a:t>emp</a:t>
            </a:r>
            <a:r>
              <a:rPr lang="en-US" sz="1800" i="1" dirty="0" smtClean="0">
                <a:solidFill>
                  <a:srgbClr val="FFFF00"/>
                </a:solidFill>
              </a:rPr>
              <a:t> (&lt;filed name 1&gt;, &lt;filed name 2&gt;, …)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 VALUES(&lt;filed data 1&gt;, &lt;filed data 2&gt;, …);</a:t>
            </a:r>
          </a:p>
          <a:p>
            <a:pPr algn="l">
              <a:buFontTx/>
              <a:buNone/>
            </a:pPr>
            <a:endParaRPr lang="en-US" sz="1800" i="1" dirty="0" smtClean="0"/>
          </a:p>
          <a:p>
            <a:pPr algn="r" rtl="1">
              <a:buFontTx/>
              <a:buNone/>
            </a:pPr>
            <a:r>
              <a:rPr lang="he-IL" sz="1800" dirty="0" smtClean="0"/>
              <a:t>* </a:t>
            </a:r>
            <a:r>
              <a:rPr lang="he-IL" sz="1600" dirty="0" smtClean="0"/>
              <a:t>בשיטה השנייה ניתן להוסיף נתונים לחלק משדות של הטבלה וכל שאר השדות יקבלו אוטומטית ערך </a:t>
            </a:r>
            <a:r>
              <a:rPr lang="en-US" sz="1600" dirty="0" smtClean="0"/>
              <a:t>NULL</a:t>
            </a:r>
            <a:r>
              <a:rPr lang="he-IL" sz="1600" dirty="0" smtClean="0"/>
              <a:t> (כמובן אם לא קיימת בשדה הגבלה </a:t>
            </a:r>
            <a:r>
              <a:rPr lang="en-US" sz="1600" dirty="0" smtClean="0"/>
              <a:t>NOT NULL</a:t>
            </a:r>
            <a:r>
              <a:rPr lang="he-IL" sz="1600" dirty="0" smtClean="0"/>
              <a:t>).</a:t>
            </a:r>
          </a:p>
          <a:p>
            <a:pPr algn="r" rtl="1"/>
            <a:endParaRPr lang="he-IL" sz="800" dirty="0" smtClean="0"/>
          </a:p>
          <a:p>
            <a:pPr algn="r" rtl="1"/>
            <a:r>
              <a:rPr lang="he-IL" sz="1800" u="sng" dirty="0" smtClean="0"/>
              <a:t>להכנסת רשומה עם שדה תאריך ללא התחשבות בפורמט התאריך במחשב יש להשתמש בפונקציה:</a:t>
            </a:r>
            <a:endParaRPr lang="en-US" sz="1800" u="sng" dirty="0" smtClean="0"/>
          </a:p>
          <a:p>
            <a:pPr algn="r" rtl="1"/>
            <a:endParaRPr lang="en-US" sz="18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INSERT INTO </a:t>
            </a:r>
            <a:r>
              <a:rPr lang="en-US" sz="1800" i="1" dirty="0" err="1" smtClean="0">
                <a:solidFill>
                  <a:srgbClr val="FFFF00"/>
                </a:solidFill>
              </a:rPr>
              <a:t>emp</a:t>
            </a:r>
            <a:r>
              <a:rPr lang="en-US" sz="1800" i="1" dirty="0" smtClean="0">
                <a:solidFill>
                  <a:srgbClr val="FFFF00"/>
                </a:solidFill>
              </a:rPr>
              <a:t> (</a:t>
            </a:r>
            <a:r>
              <a:rPr lang="en-US" sz="1800" i="1" dirty="0" err="1" smtClean="0">
                <a:solidFill>
                  <a:srgbClr val="FFFF00"/>
                </a:solidFill>
              </a:rPr>
              <a:t>EmpNo,EmpName</a:t>
            </a:r>
            <a:r>
              <a:rPr lang="en-US" sz="1800" i="1" dirty="0" smtClean="0">
                <a:solidFill>
                  <a:srgbClr val="FFFF00"/>
                </a:solidFill>
              </a:rPr>
              <a:t>, </a:t>
            </a:r>
            <a:r>
              <a:rPr lang="en-US" sz="1800" i="1" dirty="0" err="1" smtClean="0">
                <a:solidFill>
                  <a:srgbClr val="FFFF00"/>
                </a:solidFill>
              </a:rPr>
              <a:t>Hiredate,DeptNo</a:t>
            </a:r>
            <a:r>
              <a:rPr lang="en-US" sz="1800" i="1" dirty="0" smtClean="0">
                <a:solidFill>
                  <a:srgbClr val="FFFF00"/>
                </a:solidFill>
              </a:rPr>
              <a:t>)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 VALUES(1000, '</a:t>
            </a:r>
            <a:r>
              <a:rPr lang="en-US" sz="1800" i="1" dirty="0" err="1" smtClean="0">
                <a:solidFill>
                  <a:srgbClr val="FFFF00"/>
                </a:solidFill>
              </a:rPr>
              <a:t>Kohen</a:t>
            </a:r>
            <a:r>
              <a:rPr lang="en-US" sz="1800" i="1" dirty="0" smtClean="0">
                <a:solidFill>
                  <a:srgbClr val="FFFF00"/>
                </a:solidFill>
              </a:rPr>
              <a:t> David' ,</a:t>
            </a:r>
            <a:r>
              <a:rPr lang="en-US" sz="1800" i="1" u="sng" dirty="0" smtClean="0">
                <a:solidFill>
                  <a:srgbClr val="FFFF00"/>
                </a:solidFill>
              </a:rPr>
              <a:t> </a:t>
            </a:r>
            <a:r>
              <a:rPr lang="en-US" sz="1800" i="1" dirty="0" err="1" smtClean="0">
                <a:solidFill>
                  <a:srgbClr val="FFFF00"/>
                </a:solidFill>
              </a:rPr>
              <a:t>to_date</a:t>
            </a:r>
            <a:r>
              <a:rPr lang="en-US" sz="1800" i="1" dirty="0" smtClean="0">
                <a:solidFill>
                  <a:srgbClr val="FFFF00"/>
                </a:solidFill>
              </a:rPr>
              <a:t> ( '03/8/95', '</a:t>
            </a:r>
            <a:r>
              <a:rPr lang="en-US" sz="1800" i="1" dirty="0" err="1" smtClean="0">
                <a:solidFill>
                  <a:srgbClr val="FFFF00"/>
                </a:solidFill>
              </a:rPr>
              <a:t>dd</a:t>
            </a:r>
            <a:r>
              <a:rPr lang="en-US" sz="1800" i="1" dirty="0" smtClean="0">
                <a:solidFill>
                  <a:srgbClr val="FFFF00"/>
                </a:solidFill>
              </a:rPr>
              <a:t>/mm/</a:t>
            </a:r>
            <a:r>
              <a:rPr lang="en-US" sz="1800" i="1" dirty="0" err="1" smtClean="0">
                <a:solidFill>
                  <a:srgbClr val="FFFF00"/>
                </a:solidFill>
              </a:rPr>
              <a:t>yy</a:t>
            </a:r>
            <a:r>
              <a:rPr lang="en-US" sz="1800" i="1" dirty="0" smtClean="0">
                <a:solidFill>
                  <a:srgbClr val="FFFF00"/>
                </a:solidFill>
              </a:rPr>
              <a:t>') ,10)</a:t>
            </a:r>
            <a:r>
              <a:rPr lang="en-US" sz="1800" i="1" dirty="0" smtClean="0"/>
              <a:t>;</a:t>
            </a:r>
          </a:p>
          <a:p>
            <a:pPr algn="r" rtl="1"/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02895FF-5ADF-498E-8F2F-CC1CD9319A3D}" type="slidenum">
              <a:rPr lang="he-IL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 </a:t>
            </a:r>
            <a:r>
              <a:rPr lang="he-IL" b="1" dirty="0" smtClean="0"/>
              <a:t> </a:t>
            </a:r>
            <a:r>
              <a:rPr lang="en-US" b="1" dirty="0" smtClean="0"/>
              <a:t>Insert into Table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>
            <a:normAutofit/>
          </a:bodyPr>
          <a:lstStyle/>
          <a:p>
            <a:pPr algn="r" rtl="1"/>
            <a:r>
              <a:rPr lang="he-IL" sz="2000" dirty="0" smtClean="0"/>
              <a:t>על מנת להוסיף כמה רשומות לטבלה. יש לבצע אחת משתי הפקודות הבאות (ההוספה תהיה מתוך רשומות קיימות מטבלה אחרת):</a:t>
            </a:r>
            <a:endParaRPr lang="en-US" sz="2000" dirty="0" smtClean="0"/>
          </a:p>
          <a:p>
            <a:pPr algn="r" rtl="1"/>
            <a:endParaRPr lang="he-IL" sz="20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INSERT INTO &lt;table name distention&gt;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SELECT *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FROM &lt;table name source&gt; ;</a:t>
            </a:r>
            <a:endParaRPr lang="he-IL" sz="1800" i="1" dirty="0" smtClean="0">
              <a:solidFill>
                <a:srgbClr val="FFFF00"/>
              </a:solidFill>
            </a:endParaRPr>
          </a:p>
          <a:p>
            <a:pPr algn="ctr" rtl="1">
              <a:buFontTx/>
              <a:buNone/>
            </a:pPr>
            <a:r>
              <a:rPr lang="he-IL" sz="1800" dirty="0" smtClean="0"/>
              <a:t>או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INSERT INTO &lt;table name distention&gt; (&lt;filed data 1&gt;, &lt;filed data 2&gt;, …)</a:t>
            </a:r>
          </a:p>
          <a:p>
            <a:pPr algn="l">
              <a:buFontTx/>
              <a:buNone/>
            </a:pPr>
            <a:r>
              <a:rPr lang="en-US" sz="1800" i="1" smtClean="0">
                <a:solidFill>
                  <a:srgbClr val="FFFF00"/>
                </a:solidFill>
              </a:rPr>
              <a:t>SELECT &lt;</a:t>
            </a:r>
            <a:r>
              <a:rPr lang="en-US" sz="1800" i="1" dirty="0" smtClean="0">
                <a:solidFill>
                  <a:srgbClr val="FFFF00"/>
                </a:solidFill>
              </a:rPr>
              <a:t>filed data 1&gt;, &lt;filed data 2</a:t>
            </a:r>
            <a:r>
              <a:rPr lang="en-US" sz="1800" i="1" smtClean="0">
                <a:solidFill>
                  <a:srgbClr val="FFFF00"/>
                </a:solidFill>
              </a:rPr>
              <a:t>&gt;, …</a:t>
            </a:r>
            <a:endParaRPr lang="en-US" sz="1800" i="1" dirty="0" smtClean="0">
              <a:solidFill>
                <a:srgbClr val="FFFF00"/>
              </a:solidFill>
            </a:endParaRP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FROM &lt;table name source&gt; </a:t>
            </a:r>
          </a:p>
          <a:p>
            <a:pPr algn="r" rtl="1">
              <a:buFontTx/>
              <a:buNone/>
            </a:pPr>
            <a:endParaRPr lang="en-US" sz="1800" dirty="0" smtClean="0"/>
          </a:p>
          <a:p>
            <a:pPr algn="r" rtl="1">
              <a:buFontTx/>
              <a:buNone/>
            </a:pPr>
            <a:r>
              <a:rPr lang="he-IL" sz="1800" b="1" dirty="0" smtClean="0"/>
              <a:t>	* שדות שהוגדרו במשפט </a:t>
            </a:r>
            <a:r>
              <a:rPr lang="en-US" sz="1800" b="1" dirty="0" smtClean="0"/>
              <a:t>SELECT</a:t>
            </a:r>
            <a:r>
              <a:rPr lang="he-IL" sz="1800" b="1" dirty="0" smtClean="0"/>
              <a:t> ו-</a:t>
            </a:r>
            <a:r>
              <a:rPr lang="en-US" sz="1800" b="1" dirty="0" smtClean="0"/>
              <a:t>INSERT</a:t>
            </a:r>
            <a:r>
              <a:rPr lang="he-IL" sz="1800" b="1" dirty="0" smtClean="0"/>
              <a:t> חייבים להיות זהים מבחינת כמות וטיפוס הנתונים.</a:t>
            </a:r>
            <a:endParaRPr lang="en-US" sz="1800" b="1" dirty="0" smtClean="0"/>
          </a:p>
          <a:p>
            <a:pPr algn="r" rtl="1"/>
            <a:endParaRPr lang="he-IL" sz="1800" dirty="0" smtClean="0"/>
          </a:p>
          <a:p>
            <a:pPr algn="r" rtl="1">
              <a:buFontTx/>
              <a:buNone/>
            </a:pPr>
            <a:r>
              <a:rPr lang="he-IL" sz="1800" dirty="0" smtClean="0"/>
              <a:t>	</a:t>
            </a:r>
            <a:endParaRPr lang="he-IL" b="1" dirty="0" smtClean="0"/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3D5D01-CFC9-4C73-AA82-76F781244D30}" type="slidenum">
              <a:rPr lang="he-IL" smtClean="0"/>
              <a:pPr/>
              <a:t>11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Table – </a:t>
            </a:r>
            <a:r>
              <a:rPr lang="he-IL" b="1" dirty="0" smtClean="0"/>
              <a:t>פעולות נוספות</a:t>
            </a:r>
            <a:endParaRPr lang="en-US" b="1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419600"/>
          </a:xfrm>
        </p:spPr>
        <p:txBody>
          <a:bodyPr>
            <a:normAutofit/>
          </a:bodyPr>
          <a:lstStyle/>
          <a:p>
            <a:pPr algn="r" rtl="1">
              <a:buFontTx/>
              <a:buNone/>
            </a:pPr>
            <a:endParaRPr lang="he-IL" sz="1800" dirty="0" smtClean="0"/>
          </a:p>
          <a:p>
            <a:pPr algn="r" rtl="1"/>
            <a:r>
              <a:rPr lang="he-IL" sz="1800" dirty="0" smtClean="0"/>
              <a:t>יצירת טבלה על בסיס טבלה אחרת</a:t>
            </a:r>
            <a:r>
              <a:rPr lang="he-IL" sz="1800" dirty="0"/>
              <a:t>:</a:t>
            </a:r>
            <a:endParaRPr lang="he-IL" sz="1800" dirty="0" smtClean="0"/>
          </a:p>
          <a:p>
            <a:pPr algn="r" rtl="1"/>
            <a:endParaRPr lang="en-US" sz="18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CREATE TABLE &lt;table name new&gt;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AS SELECT &lt;filed name 1&gt;, &lt;filed name 2&gt;, …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FROM &lt;table name source&gt; </a:t>
            </a:r>
          </a:p>
          <a:p>
            <a:pPr algn="r" rtl="1">
              <a:buFontTx/>
              <a:buNone/>
            </a:pPr>
            <a:endParaRPr lang="he-IL" sz="800" dirty="0" smtClean="0"/>
          </a:p>
          <a:p>
            <a:pPr algn="r" rtl="1"/>
            <a:r>
              <a:rPr lang="en-US" sz="1800" dirty="0" smtClean="0"/>
              <a:t> </a:t>
            </a:r>
            <a:r>
              <a:rPr lang="he-IL" sz="1800" dirty="0" smtClean="0"/>
              <a:t>מחיקת רשומות מטבלה:</a:t>
            </a:r>
          </a:p>
          <a:p>
            <a:pPr algn="r" rtl="1"/>
            <a:endParaRPr lang="he-IL" sz="18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DELETE  FROM &lt;table name&gt;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WHERE …; </a:t>
            </a:r>
          </a:p>
          <a:p>
            <a:pPr algn="r" rtl="1">
              <a:buFontTx/>
              <a:buNone/>
            </a:pPr>
            <a:endParaRPr lang="en-US" sz="800" dirty="0" smtClean="0"/>
          </a:p>
          <a:p>
            <a:pPr algn="r" rtl="1"/>
            <a:r>
              <a:rPr lang="he-IL" sz="1800" dirty="0" smtClean="0"/>
              <a:t>שינוי ערכים בטבלאות.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UPDATE &lt;table name&gt;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SET &lt;filed name 1&gt;= &lt;filed data 1&gt;, &lt;filed name 2&gt; = &lt;filed data 2&gt;,…..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WHERE …..;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5451FB-8018-4788-94B0-8BBE0D8E5B26}" type="slidenum">
              <a:rPr lang="he-IL" smtClean="0"/>
              <a:pPr/>
              <a:t>12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 </a:t>
            </a:r>
            <a:r>
              <a:rPr lang="en-US" b="1" dirty="0" smtClean="0"/>
              <a:t>Primary key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>
            <a:normAutofit/>
          </a:bodyPr>
          <a:lstStyle/>
          <a:p>
            <a:pPr algn="r" rtl="1">
              <a:defRPr/>
            </a:pPr>
            <a:r>
              <a:rPr lang="he-IL" sz="2000" dirty="0" smtClean="0">
                <a:cs typeface="+mj-cs"/>
              </a:rPr>
              <a:t>מפתח ראשי - מציין אוסף תכונות (לעמודות) אשר בצורה חד-משמעית מזהה כל רשומה בטבלה.</a:t>
            </a:r>
            <a:endParaRPr lang="en-US" sz="2000" dirty="0" smtClean="0">
              <a:cs typeface="+mj-cs"/>
            </a:endParaRPr>
          </a:p>
          <a:p>
            <a:pPr lvl="1" algn="r" rtl="1">
              <a:defRPr/>
            </a:pPr>
            <a:r>
              <a:rPr lang="he-IL" sz="1800" dirty="0" smtClean="0">
                <a:ea typeface="+mn-ea"/>
                <a:cs typeface="+mj-cs"/>
              </a:rPr>
              <a:t>מפתח ראשי מכיל תכונות:</a:t>
            </a:r>
            <a:endParaRPr lang="en-US" sz="1800" dirty="0" smtClean="0">
              <a:ea typeface="+mn-ea"/>
              <a:cs typeface="+mj-cs"/>
            </a:endParaRPr>
          </a:p>
          <a:p>
            <a:pPr lvl="2" algn="r" rtl="1">
              <a:defRPr/>
            </a:pPr>
            <a:r>
              <a:rPr lang="he-IL" sz="1800" dirty="0" smtClean="0">
                <a:ea typeface="+mn-ea"/>
                <a:cs typeface="+mj-cs"/>
              </a:rPr>
              <a:t>ערך ייחודי (לא חוזר על עצמו)</a:t>
            </a:r>
            <a:endParaRPr lang="en-US" sz="1800" dirty="0" smtClean="0">
              <a:ea typeface="+mn-ea"/>
              <a:cs typeface="+mj-cs"/>
            </a:endParaRPr>
          </a:p>
          <a:p>
            <a:pPr lvl="2" algn="r" rtl="1">
              <a:defRPr/>
            </a:pPr>
            <a:r>
              <a:rPr lang="he-IL" sz="1800" dirty="0" smtClean="0">
                <a:ea typeface="+mn-ea"/>
                <a:cs typeface="+mj-cs"/>
              </a:rPr>
              <a:t>לא יכול להכיל ערך </a:t>
            </a:r>
            <a:r>
              <a:rPr lang="en-US" sz="1800" dirty="0" smtClean="0">
                <a:ea typeface="+mn-ea"/>
                <a:cs typeface="+mj-cs"/>
              </a:rPr>
              <a:t>NULL</a:t>
            </a:r>
          </a:p>
          <a:p>
            <a:pPr lvl="2" algn="r" rtl="1">
              <a:defRPr/>
            </a:pPr>
            <a:endParaRPr lang="he-IL" sz="1000" dirty="0" smtClean="0"/>
          </a:p>
          <a:p>
            <a:pPr algn="r" rtl="1">
              <a:defRPr/>
            </a:pPr>
            <a:r>
              <a:rPr lang="he-IL" sz="2000" dirty="0" smtClean="0">
                <a:cs typeface="+mj-cs"/>
              </a:rPr>
              <a:t>הגדרת מפתח ראשי בזמן יצירת הטבלה:</a:t>
            </a:r>
            <a:endParaRPr lang="en-US" sz="1800" dirty="0" smtClean="0"/>
          </a:p>
          <a:p>
            <a:pPr algn="l">
              <a:buFontTx/>
              <a:buNone/>
              <a:defRPr/>
            </a:pPr>
            <a:r>
              <a:rPr lang="en-US" sz="1800" i="1" dirty="0" smtClean="0">
                <a:solidFill>
                  <a:srgbClr val="FFFF00"/>
                </a:solidFill>
              </a:rPr>
              <a:t>CREATE TABLE &lt;table name&gt; </a:t>
            </a:r>
          </a:p>
          <a:p>
            <a:pPr algn="l">
              <a:buFontTx/>
              <a:buNone/>
              <a:defRPr/>
            </a:pPr>
            <a:r>
              <a:rPr lang="en-US" sz="1800" i="1" dirty="0" smtClean="0">
                <a:solidFill>
                  <a:srgbClr val="FFFF00"/>
                </a:solidFill>
              </a:rPr>
              <a:t>(</a:t>
            </a:r>
          </a:p>
          <a:p>
            <a:pPr algn="l">
              <a:buFontTx/>
              <a:buNone/>
              <a:defRPr/>
            </a:pPr>
            <a:r>
              <a:rPr lang="en-US" sz="1800" i="1" dirty="0" smtClean="0">
                <a:solidFill>
                  <a:srgbClr val="FFFF00"/>
                </a:solidFill>
              </a:rPr>
              <a:t>	&lt;field name&gt; &lt;field type&gt; PRIMARY KEY,</a:t>
            </a:r>
          </a:p>
          <a:p>
            <a:pPr algn="l">
              <a:buFontTx/>
              <a:buNone/>
              <a:defRPr/>
            </a:pPr>
            <a:r>
              <a:rPr lang="en-US" sz="1800" i="1" dirty="0" smtClean="0">
                <a:solidFill>
                  <a:srgbClr val="FFFF00"/>
                </a:solidFill>
              </a:rPr>
              <a:t>	…….,</a:t>
            </a:r>
          </a:p>
          <a:p>
            <a:pPr algn="l">
              <a:buFontTx/>
              <a:buNone/>
              <a:defRPr/>
            </a:pPr>
            <a:r>
              <a:rPr lang="en-US" sz="1800" i="1" dirty="0" smtClean="0">
                <a:solidFill>
                  <a:srgbClr val="FFFF00"/>
                </a:solidFill>
              </a:rPr>
              <a:t>);</a:t>
            </a:r>
          </a:p>
          <a:p>
            <a:pPr algn="r" rtl="1">
              <a:buFontTx/>
              <a:buNone/>
              <a:defRPr/>
            </a:pPr>
            <a:endParaRPr lang="en-US" sz="1800" dirty="0" smtClean="0"/>
          </a:p>
          <a:p>
            <a:pPr algn="r" rtl="1" eaLnBrk="1" hangingPunct="1">
              <a:buFontTx/>
              <a:buNone/>
              <a:defRPr/>
            </a:pPr>
            <a:endParaRPr lang="he-IL" b="1" dirty="0" smtClean="0"/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FE14FE-10F7-461F-A709-2091A973EA3A}" type="slidenum">
              <a:rPr lang="he-IL" smtClean="0"/>
              <a:pPr/>
              <a:t>13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 </a:t>
            </a:r>
            <a:r>
              <a:rPr lang="en-US" b="1" dirty="0" smtClean="0"/>
              <a:t>Primary key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772400" cy="4343400"/>
          </a:xfrm>
        </p:spPr>
        <p:txBody>
          <a:bodyPr/>
          <a:lstStyle/>
          <a:p>
            <a:pPr algn="r" rtl="1"/>
            <a:r>
              <a:rPr lang="he-IL" sz="2000" dirty="0" smtClean="0"/>
              <a:t>אם מפתח ראשי מורכב מכמה עמודות, אז יש ליצור אותו בצורה הבאה:</a:t>
            </a:r>
            <a:endParaRPr lang="en-US" sz="20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CREATE TABLE &lt;table name&gt;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(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&lt;field name 1&gt; </a:t>
            </a:r>
            <a:r>
              <a:rPr lang="en-US" sz="1800" i="1" dirty="0">
                <a:solidFill>
                  <a:srgbClr val="FFFF00"/>
                </a:solidFill>
              </a:rPr>
              <a:t>&lt; field type </a:t>
            </a:r>
            <a:r>
              <a:rPr lang="en-US" sz="1800" i="1" dirty="0" smtClean="0">
                <a:solidFill>
                  <a:srgbClr val="FFFF00"/>
                </a:solidFill>
              </a:rPr>
              <a:t>1&gt;, 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&lt;field name 2&gt; </a:t>
            </a:r>
            <a:r>
              <a:rPr lang="en-US" sz="1800" i="1" dirty="0">
                <a:solidFill>
                  <a:srgbClr val="FFFF00"/>
                </a:solidFill>
              </a:rPr>
              <a:t>&lt; field type </a:t>
            </a:r>
            <a:r>
              <a:rPr lang="en-US" sz="1800" i="1" dirty="0" smtClean="0">
                <a:solidFill>
                  <a:srgbClr val="FFFF00"/>
                </a:solidFill>
              </a:rPr>
              <a:t>2&gt;,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, ……… ,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PRIMARY </a:t>
            </a:r>
            <a:r>
              <a:rPr lang="en-US" sz="1800" i="1" dirty="0">
                <a:solidFill>
                  <a:srgbClr val="FFFF00"/>
                </a:solidFill>
              </a:rPr>
              <a:t>KEY(field </a:t>
            </a:r>
            <a:r>
              <a:rPr lang="en-US" sz="1800" i="1" dirty="0" smtClean="0">
                <a:solidFill>
                  <a:srgbClr val="FFFF00"/>
                </a:solidFill>
              </a:rPr>
              <a:t>name 1, </a:t>
            </a:r>
            <a:r>
              <a:rPr lang="en-US" sz="1800" i="1" dirty="0">
                <a:solidFill>
                  <a:srgbClr val="FFFF00"/>
                </a:solidFill>
              </a:rPr>
              <a:t>field </a:t>
            </a:r>
            <a:r>
              <a:rPr lang="en-US" sz="1800" i="1" dirty="0" smtClean="0">
                <a:solidFill>
                  <a:srgbClr val="FFFF00"/>
                </a:solidFill>
              </a:rPr>
              <a:t>name 2,…..)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);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7EC893-CFBA-4062-AF14-7214E253CEF0}" type="slidenum">
              <a:rPr lang="he-IL" smtClean="0"/>
              <a:pPr/>
              <a:t>14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 </a:t>
            </a:r>
            <a:r>
              <a:rPr lang="en-US" b="1" dirty="0" smtClean="0"/>
              <a:t>Primary key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pPr algn="r" rtl="1"/>
            <a:r>
              <a:rPr lang="he-IL" sz="2000" dirty="0" smtClean="0"/>
              <a:t>אם אנו רוצים לתת שם למפתח הראשי, אז יש ליצור אותו בצורה הבאה:</a:t>
            </a:r>
            <a:endParaRPr lang="en-US" sz="2000" dirty="0" smtClean="0"/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CREATE TABLE &lt;table name&gt; 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(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</a:t>
            </a:r>
            <a:r>
              <a:rPr lang="en-US" sz="1800" i="1" dirty="0">
                <a:solidFill>
                  <a:srgbClr val="FFFF00"/>
                </a:solidFill>
              </a:rPr>
              <a:t>&lt; field name </a:t>
            </a:r>
            <a:r>
              <a:rPr lang="en-US" sz="1800" i="1" dirty="0" smtClean="0">
                <a:solidFill>
                  <a:srgbClr val="FFFF00"/>
                </a:solidFill>
              </a:rPr>
              <a:t>1&gt; </a:t>
            </a:r>
            <a:r>
              <a:rPr lang="en-US" sz="1800" i="1" dirty="0">
                <a:solidFill>
                  <a:srgbClr val="FFFF00"/>
                </a:solidFill>
              </a:rPr>
              <a:t>&lt; field type </a:t>
            </a:r>
            <a:r>
              <a:rPr lang="en-US" sz="1800" i="1" dirty="0" smtClean="0">
                <a:solidFill>
                  <a:srgbClr val="FFFF00"/>
                </a:solidFill>
              </a:rPr>
              <a:t>1&gt;, 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</a:t>
            </a:r>
            <a:r>
              <a:rPr lang="en-US" sz="1800" i="1" dirty="0">
                <a:solidFill>
                  <a:srgbClr val="FFFF00"/>
                </a:solidFill>
              </a:rPr>
              <a:t>&lt; field name </a:t>
            </a:r>
            <a:r>
              <a:rPr lang="en-US" sz="1800" i="1" dirty="0" smtClean="0">
                <a:solidFill>
                  <a:srgbClr val="FFFF00"/>
                </a:solidFill>
              </a:rPr>
              <a:t>2&gt; </a:t>
            </a:r>
            <a:r>
              <a:rPr lang="en-US" sz="1800" i="1" dirty="0">
                <a:solidFill>
                  <a:srgbClr val="FFFF00"/>
                </a:solidFill>
              </a:rPr>
              <a:t>&lt; field type </a:t>
            </a:r>
            <a:r>
              <a:rPr lang="en-US" sz="1800" i="1" dirty="0" smtClean="0">
                <a:solidFill>
                  <a:srgbClr val="FFFF00"/>
                </a:solidFill>
              </a:rPr>
              <a:t>2&gt;,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, ………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	 CONSTRAINT &lt;key name&gt; PRIMARY KEY(filed name 1, filed name 2,…..)</a:t>
            </a:r>
          </a:p>
          <a:p>
            <a:pPr algn="l">
              <a:buFontTx/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);</a:t>
            </a:r>
          </a:p>
          <a:p>
            <a:pPr algn="r" rtl="1">
              <a:buFontTx/>
              <a:buNone/>
            </a:pPr>
            <a:endParaRPr lang="he-IL" sz="1800" dirty="0" smtClean="0"/>
          </a:p>
          <a:p>
            <a:pPr algn="r" rtl="1"/>
            <a:endParaRPr lang="he-IL" sz="1800" dirty="0" smtClean="0"/>
          </a:p>
          <a:p>
            <a:pPr algn="r" rtl="1"/>
            <a:r>
              <a:rPr lang="en-US" sz="1800" dirty="0" smtClean="0"/>
              <a:t>key name</a:t>
            </a:r>
            <a:r>
              <a:rPr lang="he-IL" sz="1800" dirty="0" smtClean="0"/>
              <a:t> - שם לאילוץ של מפתח ראשי (לצורך עריכה עתידנית של המפתח).</a:t>
            </a:r>
          </a:p>
          <a:p>
            <a:pPr algn="r" rtl="1"/>
            <a:endParaRPr lang="he-IL" sz="1800" dirty="0" smtClean="0"/>
          </a:p>
          <a:p>
            <a:pPr algn="r" rtl="1" eaLnBrk="1" hangingPunct="1">
              <a:buFontTx/>
              <a:buNone/>
            </a:pPr>
            <a:endParaRPr lang="he-IL" b="1" dirty="0" smtClean="0"/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587FA60-9139-4EAA-8E59-8470E902D448}" type="slidenum">
              <a:rPr lang="he-IL" smtClean="0"/>
              <a:pPr/>
              <a:t>15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 </a:t>
            </a:r>
            <a:r>
              <a:rPr lang="en-US" b="1" dirty="0" smtClean="0"/>
              <a:t>Primary key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752600"/>
            <a:ext cx="7924800" cy="4343400"/>
          </a:xfrm>
        </p:spPr>
        <p:txBody>
          <a:bodyPr/>
          <a:lstStyle/>
          <a:p>
            <a:pPr algn="r" rtl="1"/>
            <a:r>
              <a:rPr lang="he-IL" sz="2000" dirty="0" smtClean="0"/>
              <a:t>אם אנו רוצים ליצור מפתח ראשי לטבלה לאחר יצירת</a:t>
            </a:r>
            <a:r>
              <a:rPr lang="he-IL" sz="2000" dirty="0"/>
              <a:t>ה</a:t>
            </a:r>
            <a:r>
              <a:rPr lang="he-IL" sz="2000" dirty="0" smtClean="0"/>
              <a:t>, יש ליצור אותו בצורה הבאה:</a:t>
            </a:r>
            <a:endParaRPr lang="en-US" sz="2000" dirty="0" smtClean="0"/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ALTER TABLE &lt;table name&gt; ADD PRIMARY KEY</a:t>
            </a:r>
            <a:r>
              <a:rPr lang="en-US" sz="1800" i="1" dirty="0">
                <a:solidFill>
                  <a:srgbClr val="FFFF00"/>
                </a:solidFill>
              </a:rPr>
              <a:t>(&lt; field name </a:t>
            </a:r>
            <a:r>
              <a:rPr lang="en-US" sz="1800" i="1" dirty="0" smtClean="0">
                <a:solidFill>
                  <a:srgbClr val="FFFF00"/>
                </a:solidFill>
              </a:rPr>
              <a:t>1&gt;, …);</a:t>
            </a:r>
          </a:p>
          <a:p>
            <a:pPr algn="ctr">
              <a:buFontTx/>
              <a:buNone/>
            </a:pPr>
            <a:r>
              <a:rPr lang="he-IL" sz="1800" i="1" dirty="0" smtClean="0"/>
              <a:t>או</a:t>
            </a:r>
          </a:p>
          <a:p>
            <a:pPr>
              <a:buNone/>
            </a:pPr>
            <a:r>
              <a:rPr lang="en-US" sz="1800" i="1" dirty="0" smtClean="0">
                <a:solidFill>
                  <a:srgbClr val="FFFF00"/>
                </a:solidFill>
              </a:rPr>
              <a:t>ALTER TABLE &lt;table name&gt; ADD CONSTRAINT &lt;key name&gt;  PRIMARY KEY</a:t>
            </a:r>
            <a:r>
              <a:rPr lang="en-US" sz="1800" i="1" dirty="0">
                <a:solidFill>
                  <a:srgbClr val="FFFF00"/>
                </a:solidFill>
              </a:rPr>
              <a:t>(&lt; field name </a:t>
            </a:r>
            <a:r>
              <a:rPr lang="en-US" sz="1800" i="1" dirty="0" smtClean="0">
                <a:solidFill>
                  <a:srgbClr val="FFFF00"/>
                </a:solidFill>
              </a:rPr>
              <a:t>1&gt;, …);</a:t>
            </a:r>
          </a:p>
          <a:p>
            <a:pPr algn="r" rtl="1">
              <a:buFontTx/>
              <a:buNone/>
            </a:pPr>
            <a:endParaRPr lang="he-IL" sz="1800" dirty="0" smtClean="0"/>
          </a:p>
          <a:p>
            <a:pPr algn="r" rtl="1">
              <a:buFontTx/>
              <a:buNone/>
            </a:pPr>
            <a:endParaRPr lang="he-IL" sz="1800" dirty="0" smtClean="0"/>
          </a:p>
          <a:p>
            <a:pPr algn="r" rtl="1">
              <a:buFontTx/>
              <a:buNone/>
            </a:pPr>
            <a:endParaRPr lang="he-IL" sz="1800" dirty="0" smtClean="0"/>
          </a:p>
          <a:p>
            <a:pPr algn="r" rtl="1">
              <a:buFontTx/>
              <a:buNone/>
            </a:pPr>
            <a:r>
              <a:rPr lang="he-IL" sz="1800" dirty="0" smtClean="0"/>
              <a:t>	* שדות מפתח עיקרי (</a:t>
            </a:r>
            <a:r>
              <a:rPr lang="en-US" sz="1800" dirty="0" smtClean="0"/>
              <a:t>PRIMARY KEY</a:t>
            </a:r>
            <a:r>
              <a:rPr lang="he-IL" sz="1800" dirty="0" smtClean="0"/>
              <a:t>) לא יכולים להכיל ערך </a:t>
            </a:r>
            <a:r>
              <a:rPr lang="en-US" sz="1800" dirty="0" smtClean="0"/>
              <a:t>NULL</a:t>
            </a:r>
            <a:r>
              <a:rPr lang="he-IL" sz="1800" dirty="0" smtClean="0"/>
              <a:t> ולכן חובה	להגדיר את כל העמודות המשתתפות במפתח העיקרי כ- '</a:t>
            </a:r>
            <a:r>
              <a:rPr lang="en-US" sz="1800" dirty="0" smtClean="0"/>
              <a:t>not null</a:t>
            </a:r>
            <a:r>
              <a:rPr lang="he-IL" sz="1800" dirty="0" smtClean="0"/>
              <a:t>'.</a:t>
            </a:r>
            <a:endParaRPr lang="en-US" sz="1800" dirty="0" smtClean="0"/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433BD73-B39D-49A8-A077-7ADFDCD46E4E}" type="slidenum">
              <a:rPr lang="he-IL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7703</TotalTime>
  <Words>764</Words>
  <Application>Microsoft Office PowerPoint</Application>
  <PresentationFormat>On-screen Show (4:3)</PresentationFormat>
  <Paragraphs>202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Courier New</vt:lpstr>
      <vt:lpstr>Times New Roman</vt:lpstr>
      <vt:lpstr>Times New Roman (Hebrew)</vt:lpstr>
      <vt:lpstr>Wingdings 2</vt:lpstr>
      <vt:lpstr>Foundry</vt:lpstr>
      <vt:lpstr>בסיסי נתונים - מעבדה</vt:lpstr>
      <vt:lpstr>SQL - Tables</vt:lpstr>
      <vt:lpstr>Create Table</vt:lpstr>
      <vt:lpstr>Create Table - data types</vt:lpstr>
      <vt:lpstr>תוספות – Create Table</vt:lpstr>
      <vt:lpstr>Create Table</vt:lpstr>
      <vt:lpstr>Create Table</vt:lpstr>
      <vt:lpstr>Table – פעולות נוספות</vt:lpstr>
      <vt:lpstr>Table – פעולות נוספות</vt:lpstr>
      <vt:lpstr>  Insert into Table</vt:lpstr>
      <vt:lpstr>  Insert into Table</vt:lpstr>
      <vt:lpstr>Table – פעולות נוספות</vt:lpstr>
      <vt:lpstr> Primary key</vt:lpstr>
      <vt:lpstr> Primary key</vt:lpstr>
      <vt:lpstr> Primary key</vt:lpstr>
      <vt:lpstr> Primary key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Windows User</cp:lastModifiedBy>
  <cp:revision>586</cp:revision>
  <dcterms:created xsi:type="dcterms:W3CDTF">2004-02-02T22:13:25Z</dcterms:created>
  <dcterms:modified xsi:type="dcterms:W3CDTF">2018-11-04T09:43:54Z</dcterms:modified>
</cp:coreProperties>
</file>