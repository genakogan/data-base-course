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554" r:id="rId2"/>
    <p:sldId id="541" r:id="rId3"/>
    <p:sldId id="542" r:id="rId4"/>
    <p:sldId id="543" r:id="rId5"/>
    <p:sldId id="553" r:id="rId6"/>
    <p:sldId id="544" r:id="rId7"/>
    <p:sldId id="550" r:id="rId8"/>
    <p:sldId id="545" r:id="rId9"/>
    <p:sldId id="546" r:id="rId10"/>
    <p:sldId id="551" r:id="rId11"/>
    <p:sldId id="552" r:id="rId12"/>
    <p:sldId id="555" r:id="rId13"/>
    <p:sldId id="547" r:id="rId14"/>
    <p:sldId id="548" r:id="rId15"/>
    <p:sldId id="549" r:id="rId16"/>
  </p:sldIdLst>
  <p:sldSz cx="9144000" cy="6858000" type="screen4x3"/>
  <p:notesSz cx="6858000" cy="9144000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5pPr>
    <a:lvl6pPr marL="22860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6pPr>
    <a:lvl7pPr marL="27432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7pPr>
    <a:lvl8pPr marL="32004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8pPr>
    <a:lvl9pPr marL="36576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00"/>
    <a:srgbClr val="0000CC"/>
    <a:srgbClr val="A02600"/>
    <a:srgbClr val="CC3300"/>
    <a:srgbClr val="E88A00"/>
    <a:srgbClr val="E9F7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סגנון ביניים 1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961" autoAdjust="0"/>
    <p:restoredTop sz="90929"/>
  </p:normalViewPr>
  <p:slideViewPr>
    <p:cSldViewPr>
      <p:cViewPr varScale="1">
        <p:scale>
          <a:sx n="100" d="100"/>
          <a:sy n="100" d="100"/>
        </p:scale>
        <p:origin x="151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354D56E1-F8A0-4E2E-B8C6-EC92BAB56599}" type="datetimeFigureOut">
              <a:rPr lang="he-IL"/>
              <a:pPr/>
              <a:t>ה'/כסלו/תשפ"ו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4F6D9635-0A1F-400C-9D9D-988231F7C05D}" type="slidenum">
              <a:rPr lang="he-IL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8280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6025F632-1524-4757-8ABA-519DA5142529}" type="slidenum">
              <a:rPr lang="he-IL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88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2C4274-0E69-4210-9E54-C04EE5CA1826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32A40C-F4B6-47B5-8448-8415E53F4BBB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465CFD-6267-4A91-9CD8-49DC99216266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A5A8E1-603E-4CC2-A801-0AD10383915E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946B0-AE2E-4BC8-97F9-22D47E16641B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3BFA56-C23C-46B7-A41D-564D9012FA34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3085B2-F1FC-4FDC-AE5E-46FBA1C479CC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534BB5-DF6B-41A8-8A7B-AF251C7B4E17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DF2F8A-CBA5-4316-844D-904D1E49BDA8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A98784-C620-4092-9525-885C351991C6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946711-7964-4BAF-A3FD-04A3F4A61844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BA5323-DD86-450E-A9E1-0197B9E62DEA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BBA86-A19A-4228-98DB-9F8263F82CD5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7E403C-4EBB-41A2-AA17-42BCC40F935F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687242-FFA3-4F18-9F49-BED24801F62B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19F615-729B-47FA-9A18-7D550994ACC6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E1987F-7CFD-4C20-909E-2D988A5E475D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4BD2-7741-4623-8048-21D6390BE88C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16F9D7-8947-4B16-9D9E-42E7D8BD456B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3BF1D-B86A-41E0-A7F6-2D18679B581D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B1B05C-7F0A-40FE-9FC0-31BF2D01FF7A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B93BD6-7EA2-40E1-84D1-9993C003D62F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e-IL"/>
              <a:t>לחץ כדי לערוך סגנון כותרת של תבנית בסיס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999EB9AC-F6A5-42F6-AF01-D143699EBCB3}" type="datetime8">
              <a:rPr lang="he-IL"/>
              <a:pPr/>
              <a:t>25 נובמבר 25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5D75028B-42E6-4161-AA3E-8AD470E72809}" type="slidenum">
              <a:rPr lang="he-IL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43400" y="1600200"/>
            <a:ext cx="3962400" cy="762000"/>
          </a:xfrm>
        </p:spPr>
        <p:txBody>
          <a:bodyPr/>
          <a:lstStyle/>
          <a:p>
            <a:pPr eaLnBrk="1" hangingPunct="1"/>
            <a:r>
              <a:rPr lang="he-IL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בסיסי נתונים - מעבדה</a:t>
            </a:r>
            <a:endParaRPr lang="en-US" sz="3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52" name="Subtitle 7"/>
          <p:cNvSpPr>
            <a:spLocks noGrp="1"/>
          </p:cNvSpPr>
          <p:nvPr>
            <p:ph type="subTitle" idx="1"/>
          </p:nvPr>
        </p:nvSpPr>
        <p:spPr>
          <a:xfrm>
            <a:off x="4495800" y="381000"/>
            <a:ext cx="3657600" cy="152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9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Times New Roman" pitchFamily="18" charset="0"/>
              </a:rPr>
              <a:t>SQL</a:t>
            </a:r>
            <a:endParaRPr lang="he-IL" sz="9600" dirty="0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676650" y="2703513"/>
            <a:ext cx="571500" cy="1433512"/>
            <a:chOff x="0" y="0"/>
            <a:chExt cx="360" cy="903"/>
          </a:xfrm>
        </p:grpSpPr>
        <p:sp>
          <p:nvSpPr>
            <p:cNvPr id="205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60" cy="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he-IL"/>
            </a:p>
          </p:txBody>
        </p:sp>
        <p:sp>
          <p:nvSpPr>
            <p:cNvPr id="205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60" cy="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he-IL" dirty="0"/>
                <a:t> </a:t>
              </a:r>
              <a:r>
                <a:rPr lang="he-IL" sz="8800" dirty="0"/>
                <a:t> </a:t>
              </a:r>
              <a:endParaRPr lang="he-IL" dirty="0"/>
            </a:p>
          </p:txBody>
        </p:sp>
      </p:grpSp>
      <p:pic>
        <p:nvPicPr>
          <p:cNvPr id="2" name="Picture 9" descr="http://www.dbametrix.com/img/articles/small/remote-database-services-3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0"/>
            <a:ext cx="3810000" cy="2857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715000" y="53340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גיא שילון</a:t>
            </a:r>
            <a:endParaRPr lang="en-US" dirty="0"/>
          </a:p>
          <a:p>
            <a:endParaRPr lang="he-IL" dirty="0"/>
          </a:p>
          <a:p>
            <a:r>
              <a:rPr lang="en-US" dirty="0"/>
              <a:t>Guysh@ac.sce.ac.il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7095441-8998-41BC-B2F7-288597F652E2}" type="slidenum">
              <a:rPr lang="he-IL"/>
              <a:pPr/>
              <a:t>2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562600"/>
          </a:xfrm>
        </p:spPr>
        <p:txBody>
          <a:bodyPr/>
          <a:lstStyle/>
          <a:p>
            <a:r>
              <a:rPr lang="en-US" b="1"/>
              <a:t>SQL</a:t>
            </a:r>
            <a:br>
              <a:rPr lang="en-US" b="1"/>
            </a:br>
            <a:r>
              <a:rPr lang="en-US" b="1"/>
              <a:t>-</a:t>
            </a:r>
            <a:br>
              <a:rPr lang="he-IL" b="1"/>
            </a:br>
            <a:r>
              <a:rPr lang="he-IL" b="1" i="1" u="sng"/>
              <a:t>סיכומים (</a:t>
            </a:r>
            <a:r>
              <a:rPr lang="en-US" b="1" i="1" u="sng"/>
              <a:t>AGGREGATION</a:t>
            </a:r>
            <a:r>
              <a:rPr lang="he-IL" b="1" i="1" u="sng"/>
              <a:t>)</a:t>
            </a:r>
            <a:endParaRPr lang="en-US" b="1" i="1" u="sn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0E007C-E58D-4AB4-8739-1F2127D32986}" type="slidenum">
              <a:rPr lang="he-IL"/>
              <a:pPr/>
              <a:t>3</a:t>
            </a:fld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b="1" i="1" u="sng"/>
              <a:t>סיכומים (</a:t>
            </a:r>
            <a:r>
              <a:rPr lang="en-US" b="1" i="1" u="sng"/>
              <a:t>AGGREGATION</a:t>
            </a:r>
            <a:r>
              <a:rPr lang="he-IL" b="1" i="1" u="sng"/>
              <a:t>)</a:t>
            </a:r>
            <a:endParaRPr lang="en-US" b="1" i="1" u="sng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he-IL" sz="1800" dirty="0"/>
          </a:p>
          <a:p>
            <a:pPr>
              <a:lnSpc>
                <a:spcPct val="80000"/>
              </a:lnSpc>
            </a:pPr>
            <a:r>
              <a:rPr lang="en-US" sz="2800" dirty="0"/>
              <a:t>AGGREGATION</a:t>
            </a:r>
            <a:r>
              <a:rPr lang="he-IL" sz="2800" dirty="0"/>
              <a:t> - פעולות סיכום עבור קבוצות נתונים.</a:t>
            </a:r>
          </a:p>
          <a:p>
            <a:pPr>
              <a:lnSpc>
                <a:spcPct val="80000"/>
              </a:lnSpc>
            </a:pPr>
            <a:r>
              <a:rPr lang="he-IL" sz="2800" dirty="0"/>
              <a:t>ניתן  לסכם נתונים ע"' פונקציות הבאות: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- </a:t>
            </a:r>
            <a:r>
              <a:rPr lang="en-US" sz="2400" b="1" dirty="0"/>
              <a:t>SUM</a:t>
            </a:r>
            <a:r>
              <a:rPr lang="he-IL" sz="2400" b="1" dirty="0"/>
              <a:t> </a:t>
            </a:r>
            <a:r>
              <a:rPr lang="he-IL" sz="2000" dirty="0"/>
              <a:t>סכום ערכים שונים מ-</a:t>
            </a:r>
            <a:r>
              <a:rPr lang="en-US" sz="2000" dirty="0"/>
              <a:t>NULL</a:t>
            </a:r>
            <a:r>
              <a:rPr lang="he-IL" sz="2000" dirty="0"/>
              <a:t> (לערכים מספריים בלבד).</a:t>
            </a:r>
            <a:endParaRPr lang="en-US" sz="2400" b="1" dirty="0"/>
          </a:p>
          <a:p>
            <a:pPr lvl="1">
              <a:lnSpc>
                <a:spcPct val="80000"/>
              </a:lnSpc>
            </a:pPr>
            <a:r>
              <a:rPr lang="en-US" sz="2400" b="1" dirty="0"/>
              <a:t>AVG</a:t>
            </a:r>
            <a:r>
              <a:rPr lang="he-IL" sz="2400" dirty="0"/>
              <a:t> - </a:t>
            </a:r>
            <a:r>
              <a:rPr lang="he-IL" sz="2000" dirty="0"/>
              <a:t>ערך ממוצע (לערכים מספריים בלבד).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- </a:t>
            </a:r>
            <a:r>
              <a:rPr lang="en-US" sz="2400" b="1" dirty="0"/>
              <a:t>MIN</a:t>
            </a:r>
            <a:r>
              <a:rPr lang="he-IL" sz="2400" b="1" dirty="0"/>
              <a:t> </a:t>
            </a:r>
            <a:r>
              <a:rPr lang="he-IL" sz="2000" dirty="0"/>
              <a:t>ערך מינימלי. 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- </a:t>
            </a:r>
            <a:r>
              <a:rPr lang="en-US" sz="2400" b="1" dirty="0"/>
              <a:t>MAX</a:t>
            </a:r>
            <a:r>
              <a:rPr lang="he-IL" sz="2400" b="1" dirty="0"/>
              <a:t> </a:t>
            </a:r>
            <a:r>
              <a:rPr lang="he-IL" sz="2000" dirty="0"/>
              <a:t>ערך מקסימלי.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/>
              <a:t>- </a:t>
            </a:r>
            <a:r>
              <a:rPr lang="en-US" sz="2400" b="1" dirty="0"/>
              <a:t>COUNT</a:t>
            </a:r>
            <a:r>
              <a:rPr lang="he-IL" sz="2400" b="1" dirty="0"/>
              <a:t> </a:t>
            </a:r>
            <a:r>
              <a:rPr lang="he-IL" sz="2000" dirty="0"/>
              <a:t>מונה של ערכים שונים מ- </a:t>
            </a:r>
            <a:r>
              <a:rPr lang="en-US" sz="2000" dirty="0"/>
              <a:t>NULL</a:t>
            </a:r>
            <a:r>
              <a:rPr lang="he-IL" sz="2000" dirty="0"/>
              <a:t>.</a:t>
            </a:r>
            <a:endParaRPr lang="he-IL" sz="1200" dirty="0"/>
          </a:p>
          <a:p>
            <a:pPr>
              <a:lnSpc>
                <a:spcPct val="80000"/>
              </a:lnSpc>
              <a:buFontTx/>
              <a:buNone/>
            </a:pPr>
            <a:endParaRPr lang="he-IL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0F062DD-2B9E-4961-8172-6016086F3FA4}" type="slidenum">
              <a:rPr lang="he-IL"/>
              <a:pPr/>
              <a:t>4</a:t>
            </a:fld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7772400" cy="4419600"/>
          </a:xfrm>
        </p:spPr>
        <p:txBody>
          <a:bodyPr/>
          <a:lstStyle/>
          <a:p>
            <a:pPr>
              <a:buFontTx/>
              <a:buNone/>
            </a:pPr>
            <a:r>
              <a:rPr lang="he-IL" sz="2800" dirty="0"/>
              <a:t>למשל, </a:t>
            </a:r>
          </a:p>
          <a:p>
            <a:endParaRPr lang="he-IL" sz="1800" dirty="0"/>
          </a:p>
          <a:p>
            <a:r>
              <a:rPr lang="he-IL" sz="1800" dirty="0"/>
              <a:t>משכורת ממוצעת של כל העובדים:</a:t>
            </a:r>
            <a:endParaRPr lang="en-US" sz="1800" dirty="0"/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SELECT  AVG(</a:t>
            </a:r>
            <a:r>
              <a:rPr lang="en-US" sz="1800" dirty="0" err="1">
                <a:solidFill>
                  <a:schemeClr val="bg1"/>
                </a:solidFill>
              </a:rPr>
              <a:t>sal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  <a:endParaRPr lang="he-IL" sz="1800" dirty="0">
              <a:solidFill>
                <a:schemeClr val="bg1"/>
              </a:solidFill>
            </a:endParaRPr>
          </a:p>
          <a:p>
            <a:endParaRPr lang="he-IL" sz="1800" dirty="0"/>
          </a:p>
          <a:p>
            <a:endParaRPr lang="he-IL" sz="1800" dirty="0"/>
          </a:p>
          <a:p>
            <a:r>
              <a:rPr lang="he-IL" sz="1800" dirty="0"/>
              <a:t>מספר עובדים:</a:t>
            </a:r>
            <a:endParaRPr lang="en-US" sz="1800" dirty="0"/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SELECT  COUNT(*)</a:t>
            </a:r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  <a:endParaRPr lang="he-IL" sz="1800" dirty="0">
              <a:solidFill>
                <a:schemeClr val="bg1"/>
              </a:solidFill>
            </a:endParaRPr>
          </a:p>
          <a:p>
            <a:pPr algn="l" rtl="0">
              <a:buFontTx/>
              <a:buNone/>
            </a:pPr>
            <a:endParaRPr lang="en-US" dirty="0"/>
          </a:p>
          <a:p>
            <a:pPr algn="l" rtl="0">
              <a:buFontTx/>
              <a:buNone/>
            </a:pPr>
            <a:endParaRPr lang="en-US" dirty="0"/>
          </a:p>
          <a:p>
            <a:endParaRPr lang="en-US" sz="1400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3086100"/>
            <a:ext cx="3299114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4876800"/>
            <a:ext cx="1066800" cy="634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5C1B1A6-79F8-4818-B451-6478B1DA991C}" type="slidenum">
              <a:rPr lang="he-IL"/>
              <a:pPr/>
              <a:t>5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7772400" cy="4419600"/>
          </a:xfrm>
        </p:spPr>
        <p:txBody>
          <a:bodyPr/>
          <a:lstStyle/>
          <a:p>
            <a:pPr>
              <a:buFontTx/>
              <a:buNone/>
            </a:pPr>
            <a:r>
              <a:rPr lang="he-IL" sz="2800" dirty="0"/>
              <a:t>למשל, </a:t>
            </a:r>
          </a:p>
          <a:p>
            <a:pPr>
              <a:buFontTx/>
              <a:buNone/>
            </a:pPr>
            <a:endParaRPr lang="he-IL" sz="1800" dirty="0"/>
          </a:p>
          <a:p>
            <a:r>
              <a:rPr lang="he-IL" sz="1800" dirty="0"/>
              <a:t>מספר שמות העובדים:</a:t>
            </a:r>
            <a:endParaRPr lang="en-US" sz="1800" dirty="0"/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SELECT COUNT(</a:t>
            </a:r>
            <a:r>
              <a:rPr lang="en-US" sz="1800" dirty="0" err="1">
                <a:solidFill>
                  <a:schemeClr val="bg1"/>
                </a:solidFill>
              </a:rPr>
              <a:t>ename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endParaRPr lang="he-IL" sz="1800" dirty="0"/>
          </a:p>
          <a:p>
            <a:endParaRPr lang="he-IL" sz="1800" dirty="0"/>
          </a:p>
          <a:p>
            <a:r>
              <a:rPr lang="he-IL" sz="1800" dirty="0"/>
              <a:t>מספר המחלקות הקיימות:</a:t>
            </a:r>
            <a:endParaRPr lang="en-US" sz="1800" dirty="0"/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SELECT COUNT(DISTINCT </a:t>
            </a:r>
            <a:r>
              <a:rPr lang="en-US" sz="1800" dirty="0" err="1">
                <a:solidFill>
                  <a:schemeClr val="bg1"/>
                </a:solidFill>
              </a:rPr>
              <a:t>deptno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pPr algn="l" rtl="0">
              <a:buFontTx/>
              <a:buNone/>
            </a:pPr>
            <a:endParaRPr lang="en-US" dirty="0"/>
          </a:p>
          <a:p>
            <a:pPr algn="l" rtl="0">
              <a:buFontTx/>
              <a:buNone/>
            </a:pPr>
            <a:endParaRPr lang="en-US" dirty="0"/>
          </a:p>
          <a:p>
            <a:endParaRPr lang="en-US" sz="1400" dirty="0"/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2971800"/>
            <a:ext cx="1579563" cy="6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4972383"/>
            <a:ext cx="2209800" cy="590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4876800"/>
            <a:ext cx="914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ight Arrow 7"/>
          <p:cNvSpPr/>
          <p:nvPr/>
        </p:nvSpPr>
        <p:spPr>
          <a:xfrm>
            <a:off x="3505200" y="5181600"/>
            <a:ext cx="1066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B9F764-F89A-4AFF-9210-EFCC160C37AD}" type="slidenum">
              <a:rPr lang="he-IL"/>
              <a:pPr/>
              <a:t>6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r>
              <a:rPr lang="he-IL" sz="1800" dirty="0"/>
              <a:t>שם של עובד אשר מקבל משכורת הכי גבוהה בחברה:</a:t>
            </a:r>
            <a:endParaRPr lang="en-US" sz="1800" dirty="0"/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SELECT </a:t>
            </a:r>
            <a:r>
              <a:rPr lang="en-US" sz="1800" dirty="0" err="1">
                <a:solidFill>
                  <a:schemeClr val="bg1"/>
                </a:solidFill>
              </a:rPr>
              <a:t>ename</a:t>
            </a:r>
            <a:endParaRPr lang="en-US" sz="1800" dirty="0">
              <a:solidFill>
                <a:schemeClr val="bg1"/>
              </a:solidFill>
            </a:endParaRPr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endParaRPr lang="en-US" sz="1800" dirty="0">
              <a:solidFill>
                <a:schemeClr val="bg1"/>
              </a:solidFill>
            </a:endParaRPr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WHERE </a:t>
            </a:r>
            <a:r>
              <a:rPr lang="en-US" sz="1800" dirty="0" err="1">
                <a:solidFill>
                  <a:schemeClr val="bg1"/>
                </a:solidFill>
              </a:rPr>
              <a:t>sal</a:t>
            </a:r>
            <a:r>
              <a:rPr lang="en-US" sz="1800" dirty="0">
                <a:solidFill>
                  <a:schemeClr val="bg1"/>
                </a:solidFill>
              </a:rPr>
              <a:t>=(SELECT  MAX(</a:t>
            </a:r>
            <a:r>
              <a:rPr lang="en-US" sz="1800" dirty="0" err="1">
                <a:solidFill>
                  <a:schemeClr val="bg1"/>
                </a:solidFill>
              </a:rPr>
              <a:t>sal</a:t>
            </a:r>
            <a:r>
              <a:rPr lang="en-US" sz="1800" dirty="0">
                <a:solidFill>
                  <a:schemeClr val="bg1"/>
                </a:solidFill>
              </a:rPr>
              <a:t>) </a:t>
            </a:r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                       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r>
              <a:rPr lang="en-US" sz="1800" dirty="0">
                <a:solidFill>
                  <a:schemeClr val="bg1"/>
                </a:solidFill>
              </a:rPr>
              <a:t>);</a:t>
            </a:r>
          </a:p>
          <a:p>
            <a:pPr algn="l">
              <a:buFontTx/>
              <a:buNone/>
            </a:pPr>
            <a:endParaRPr lang="en-US" sz="1800" dirty="0"/>
          </a:p>
          <a:p>
            <a:pPr algn="l">
              <a:buFontTx/>
              <a:buNone/>
            </a:pPr>
            <a:endParaRPr lang="he-IL" sz="1800" dirty="0"/>
          </a:p>
          <a:p>
            <a:endParaRPr lang="he-IL" sz="1800" dirty="0"/>
          </a:p>
          <a:p>
            <a:endParaRPr lang="he-IL" sz="1800" dirty="0"/>
          </a:p>
          <a:p>
            <a:r>
              <a:rPr lang="he-IL" sz="1800" dirty="0"/>
              <a:t>תאריך שבו במחלקה מס' 10 התקבל לעבודה העובד הראשון:</a:t>
            </a:r>
            <a:endParaRPr lang="en-US" sz="1800" dirty="0"/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SELECT  MIN(</a:t>
            </a:r>
            <a:r>
              <a:rPr lang="en-US" sz="1800" dirty="0" err="1">
                <a:solidFill>
                  <a:schemeClr val="bg1"/>
                </a:solidFill>
              </a:rPr>
              <a:t>hiredate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endParaRPr lang="en-US" sz="1800" dirty="0">
              <a:solidFill>
                <a:schemeClr val="bg1"/>
              </a:solidFill>
            </a:endParaRPr>
          </a:p>
          <a:p>
            <a:pPr algn="l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WHERE </a:t>
            </a:r>
            <a:r>
              <a:rPr lang="en-US" sz="1800" dirty="0" err="1">
                <a:solidFill>
                  <a:schemeClr val="bg1"/>
                </a:solidFill>
              </a:rPr>
              <a:t>deptno</a:t>
            </a:r>
            <a:r>
              <a:rPr lang="en-US" sz="1800" dirty="0">
                <a:solidFill>
                  <a:schemeClr val="bg1"/>
                </a:solidFill>
              </a:rPr>
              <a:t>=10;</a:t>
            </a:r>
          </a:p>
          <a:p>
            <a:pPr algn="l" rtl="0">
              <a:buFontTx/>
              <a:buNone/>
            </a:pPr>
            <a:endParaRPr lang="en-US" sz="1800" dirty="0"/>
          </a:p>
          <a:p>
            <a:endParaRPr lang="en-US" sz="1800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1600200"/>
            <a:ext cx="3714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ight Arrow 4"/>
          <p:cNvSpPr/>
          <p:nvPr/>
        </p:nvSpPr>
        <p:spPr>
          <a:xfrm>
            <a:off x="4724400" y="2743200"/>
            <a:ext cx="762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819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600" y="2667000"/>
            <a:ext cx="7905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Arrow 6"/>
          <p:cNvSpPr/>
          <p:nvPr/>
        </p:nvSpPr>
        <p:spPr>
          <a:xfrm>
            <a:off x="6477000" y="2743200"/>
            <a:ext cx="762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820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15200" y="2667000"/>
            <a:ext cx="58102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29000" y="5029200"/>
            <a:ext cx="74295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ight Arrow 9"/>
          <p:cNvSpPr/>
          <p:nvPr/>
        </p:nvSpPr>
        <p:spPr>
          <a:xfrm>
            <a:off x="4267200" y="5486400"/>
            <a:ext cx="762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8203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81600" y="5334000"/>
            <a:ext cx="103822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45A6A9-7763-4EC9-92CA-2079549026B2}" type="slidenum">
              <a:rPr lang="he-IL"/>
              <a:pPr/>
              <a:t>7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648200"/>
          </a:xfrm>
        </p:spPr>
        <p:txBody>
          <a:bodyPr/>
          <a:lstStyle/>
          <a:p>
            <a:pPr>
              <a:defRPr/>
            </a:pPr>
            <a:r>
              <a:rPr lang="he-IL" sz="2800" dirty="0"/>
              <a:t>ניתן גם לסכם ערכים עבור קבוצות נתונים.</a:t>
            </a:r>
          </a:p>
          <a:p>
            <a:pPr lvl="1">
              <a:defRPr/>
            </a:pPr>
            <a:r>
              <a:rPr lang="he-IL" sz="2000" dirty="0">
                <a:ea typeface="+mn-ea"/>
                <a:cs typeface="+mn-cs"/>
              </a:rPr>
              <a:t>ע"י </a:t>
            </a:r>
            <a:r>
              <a:rPr lang="en-US" sz="2000" dirty="0">
                <a:ea typeface="+mn-ea"/>
                <a:cs typeface="+mn-cs"/>
              </a:rPr>
              <a:t>GROUP BY </a:t>
            </a:r>
            <a:r>
              <a:rPr lang="he-IL" sz="2000" dirty="0">
                <a:ea typeface="+mn-ea"/>
                <a:cs typeface="+mn-cs"/>
              </a:rPr>
              <a:t> ניתן לקבץ את התוצאה ע"פ עמודות בטבלה.</a:t>
            </a:r>
          </a:p>
          <a:p>
            <a:pPr lvl="1">
              <a:defRPr/>
            </a:pPr>
            <a:r>
              <a:rPr lang="he-IL" sz="2000" dirty="0">
                <a:ea typeface="+mn-ea"/>
                <a:cs typeface="+mn-cs"/>
              </a:rPr>
              <a:t>כל עמודה שאנו רוצים להציג בשאילתת </a:t>
            </a:r>
            <a:r>
              <a:rPr lang="en-US" sz="2000" dirty="0">
                <a:ea typeface="+mn-ea"/>
                <a:cs typeface="+mn-cs"/>
              </a:rPr>
              <a:t>SELECT </a:t>
            </a:r>
            <a:r>
              <a:rPr lang="he-IL" sz="2000" dirty="0">
                <a:ea typeface="+mn-ea"/>
                <a:cs typeface="+mn-cs"/>
              </a:rPr>
              <a:t> אשר לא כוללת פונקצית צבירה, חייבת להופיע בפסוקית ה-</a:t>
            </a:r>
            <a:r>
              <a:rPr lang="en-US" sz="2000" dirty="0">
                <a:ea typeface="+mn-ea"/>
                <a:cs typeface="+mn-cs"/>
              </a:rPr>
              <a:t>GROUP BY</a:t>
            </a:r>
            <a:r>
              <a:rPr lang="he-IL" sz="2000" dirty="0">
                <a:ea typeface="+mn-ea"/>
                <a:cs typeface="+mn-cs"/>
              </a:rPr>
              <a:t>.</a:t>
            </a:r>
          </a:p>
          <a:p>
            <a:pPr lvl="1">
              <a:defRPr/>
            </a:pPr>
            <a:r>
              <a:rPr lang="he-IL" sz="2000" dirty="0">
                <a:ea typeface="+mn-ea"/>
                <a:cs typeface="+mn-cs"/>
              </a:rPr>
              <a:t>למה צריך את זה? מכיוון שפונקצית צבירה מחזירה ערך אחד.</a:t>
            </a:r>
          </a:p>
          <a:p>
            <a:pPr marL="457200" lvl="1" indent="0">
              <a:buNone/>
              <a:defRPr/>
            </a:pPr>
            <a:r>
              <a:rPr lang="he-IL" sz="2000" dirty="0">
                <a:ea typeface="+mn-ea"/>
                <a:cs typeface="+mn-cs"/>
              </a:rPr>
              <a:t>	לעומת זאת, </a:t>
            </a:r>
            <a:r>
              <a:rPr lang="en-US" sz="2000" dirty="0">
                <a:ea typeface="+mn-ea"/>
                <a:cs typeface="+mn-cs"/>
              </a:rPr>
              <a:t>select</a:t>
            </a:r>
            <a:r>
              <a:rPr lang="he-IL" sz="2000" dirty="0">
                <a:ea typeface="+mn-ea"/>
                <a:cs typeface="+mn-cs"/>
              </a:rPr>
              <a:t> יתכן ותחזיר יותר מערך אחד.</a:t>
            </a:r>
          </a:p>
          <a:p>
            <a:pPr marL="457200" lvl="1" indent="0">
              <a:buNone/>
              <a:defRPr/>
            </a:pPr>
            <a:r>
              <a:rPr lang="he-IL" sz="2000" dirty="0">
                <a:ea typeface="+mn-ea"/>
                <a:cs typeface="+mn-cs"/>
              </a:rPr>
              <a:t>	לכן יש צורך בקיבוץ הנתונים ע"פ העמודות.</a:t>
            </a:r>
            <a:endParaRPr lang="he-IL" sz="1800" dirty="0"/>
          </a:p>
          <a:p>
            <a:pPr>
              <a:defRPr/>
            </a:pPr>
            <a:r>
              <a:rPr lang="he-IL" sz="2200" dirty="0"/>
              <a:t>למשל:</a:t>
            </a:r>
          </a:p>
          <a:p>
            <a:pPr lvl="1">
              <a:defRPr/>
            </a:pPr>
            <a:r>
              <a:rPr lang="he-IL" sz="1800" dirty="0"/>
              <a:t>לחשב עבור כל מחלקה - משכורת ממוצעת (מספר המחלקה וממוצע):</a:t>
            </a:r>
            <a:endParaRPr lang="en-US" sz="1800" dirty="0"/>
          </a:p>
          <a:p>
            <a:pPr algn="l" rtl="0">
              <a:buFontTx/>
              <a:buNone/>
              <a:defRPr/>
            </a:pPr>
            <a:r>
              <a:rPr lang="en-US" sz="1800" dirty="0">
                <a:solidFill>
                  <a:schemeClr val="bg1"/>
                </a:solidFill>
              </a:rPr>
              <a:t>SELECT </a:t>
            </a:r>
            <a:r>
              <a:rPr lang="en-US" sz="1800" dirty="0" err="1">
                <a:solidFill>
                  <a:schemeClr val="bg1"/>
                </a:solidFill>
              </a:rPr>
              <a:t>deptno</a:t>
            </a:r>
            <a:r>
              <a:rPr lang="en-US" sz="1800" dirty="0">
                <a:solidFill>
                  <a:schemeClr val="bg1"/>
                </a:solidFill>
              </a:rPr>
              <a:t> ,AVG(</a:t>
            </a:r>
            <a:r>
              <a:rPr lang="en-US" sz="1800" dirty="0" err="1">
                <a:solidFill>
                  <a:schemeClr val="bg1"/>
                </a:solidFill>
              </a:rPr>
              <a:t>sal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pPr algn="l" rtl="0">
              <a:buFontTx/>
              <a:buNone/>
              <a:defRPr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pPr>
              <a:defRPr/>
            </a:pPr>
            <a:r>
              <a:rPr lang="he-IL" sz="1800" dirty="0"/>
              <a:t>בתוצאה נקבל את אותו ערך ממוצע של משכורת עבור כל מחלקה.</a:t>
            </a:r>
            <a:endParaRPr lang="en-US" sz="1800" dirty="0"/>
          </a:p>
        </p:txBody>
      </p:sp>
      <p:sp>
        <p:nvSpPr>
          <p:cNvPr id="9220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3200" b="1" i="1" u="sng">
                <a:solidFill>
                  <a:schemeClr val="tx2"/>
                </a:solidFill>
              </a:rPr>
              <a:t>GROUP BY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97F5718-382C-4CCE-B265-3EE0DA454038}" type="slidenum">
              <a:rPr lang="he-IL"/>
              <a:pPr/>
              <a:t>8</a:t>
            </a:fld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648200"/>
          </a:xfrm>
        </p:spPr>
        <p:txBody>
          <a:bodyPr/>
          <a:lstStyle/>
          <a:p>
            <a:r>
              <a:rPr lang="he-IL" sz="2200" dirty="0"/>
              <a:t>תיקון:</a:t>
            </a:r>
          </a:p>
          <a:p>
            <a:pPr lvl="1"/>
            <a:r>
              <a:rPr lang="he-IL" sz="1800" dirty="0"/>
              <a:t>לחשב עבור כל מחלקה - משכורת ממוצעת (מספר המחלקה וממוצע):</a:t>
            </a:r>
            <a:endParaRPr lang="en-US" sz="1800" dirty="0"/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SELECT </a:t>
            </a:r>
            <a:r>
              <a:rPr lang="en-US" sz="1800" dirty="0" err="1">
                <a:solidFill>
                  <a:schemeClr val="bg1"/>
                </a:solidFill>
              </a:rPr>
              <a:t>deptno</a:t>
            </a:r>
            <a:r>
              <a:rPr lang="en-US" sz="1800" dirty="0">
                <a:solidFill>
                  <a:schemeClr val="bg1"/>
                </a:solidFill>
              </a:rPr>
              <a:t> ,AVG(</a:t>
            </a:r>
            <a:r>
              <a:rPr lang="en-US" sz="1800" dirty="0" err="1">
                <a:solidFill>
                  <a:schemeClr val="bg1"/>
                </a:solidFill>
              </a:rPr>
              <a:t>sal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endParaRPr lang="en-US" sz="1800" dirty="0">
              <a:solidFill>
                <a:schemeClr val="bg1"/>
              </a:solidFill>
            </a:endParaRPr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GROUP BY </a:t>
            </a:r>
            <a:r>
              <a:rPr lang="en-US" sz="1800" dirty="0" err="1">
                <a:solidFill>
                  <a:schemeClr val="bg1"/>
                </a:solidFill>
              </a:rPr>
              <a:t>deptno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pPr>
              <a:buFontTx/>
              <a:buNone/>
            </a:pPr>
            <a:endParaRPr lang="he-IL" sz="800" dirty="0"/>
          </a:p>
          <a:p>
            <a:endParaRPr lang="he-IL" sz="2200" dirty="0"/>
          </a:p>
          <a:p>
            <a:r>
              <a:rPr lang="he-IL" sz="2200" dirty="0"/>
              <a:t>דוגמאות נוספות:</a:t>
            </a:r>
          </a:p>
          <a:p>
            <a:pPr algn="l" rtl="0">
              <a:buFontTx/>
              <a:buNone/>
            </a:pPr>
            <a:endParaRPr lang="en-US" sz="300" dirty="0"/>
          </a:p>
          <a:p>
            <a:pPr lvl="1"/>
            <a:r>
              <a:rPr lang="he-IL" sz="1800" dirty="0"/>
              <a:t>לחשב עבור כל מחלקה – משכורת ממוצעת</a:t>
            </a:r>
            <a:r>
              <a:rPr lang="en-US" sz="1800" dirty="0"/>
              <a:t> </a:t>
            </a:r>
            <a:r>
              <a:rPr lang="he-IL" sz="1800" dirty="0"/>
              <a:t>(שם המחלקה וממוצע) :</a:t>
            </a:r>
            <a:endParaRPr lang="en-US" sz="1800" dirty="0"/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SELECT </a:t>
            </a:r>
            <a:r>
              <a:rPr lang="en-US" sz="1800" dirty="0" err="1">
                <a:solidFill>
                  <a:schemeClr val="bg1"/>
                </a:solidFill>
              </a:rPr>
              <a:t>dname</a:t>
            </a:r>
            <a:r>
              <a:rPr lang="en-US" sz="1800" dirty="0">
                <a:solidFill>
                  <a:schemeClr val="bg1"/>
                </a:solidFill>
              </a:rPr>
              <a:t>  , AVG(</a:t>
            </a:r>
            <a:r>
              <a:rPr lang="en-US" sz="1800" dirty="0" err="1">
                <a:solidFill>
                  <a:schemeClr val="bg1"/>
                </a:solidFill>
              </a:rPr>
              <a:t>sal</a:t>
            </a:r>
            <a:r>
              <a:rPr lang="en-US" sz="1800" dirty="0">
                <a:solidFill>
                  <a:schemeClr val="bg1"/>
                </a:solidFill>
              </a:rPr>
              <a:t>)</a:t>
            </a:r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dept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endParaRPr lang="en-US" sz="1800" dirty="0">
              <a:solidFill>
                <a:schemeClr val="bg1"/>
              </a:solidFill>
            </a:endParaRPr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WHERE </a:t>
            </a:r>
            <a:r>
              <a:rPr lang="en-US" sz="1800" dirty="0" err="1">
                <a:solidFill>
                  <a:schemeClr val="bg1"/>
                </a:solidFill>
              </a:rPr>
              <a:t>dept.deptno</a:t>
            </a:r>
            <a:r>
              <a:rPr lang="en-US" sz="1800" dirty="0">
                <a:solidFill>
                  <a:schemeClr val="bg1"/>
                </a:solidFill>
              </a:rPr>
              <a:t> = </a:t>
            </a:r>
            <a:r>
              <a:rPr lang="en-US" sz="1800" dirty="0" err="1">
                <a:solidFill>
                  <a:schemeClr val="bg1"/>
                </a:solidFill>
              </a:rPr>
              <a:t>emp.deptno</a:t>
            </a:r>
            <a:endParaRPr lang="en-US" sz="1800" dirty="0">
              <a:solidFill>
                <a:schemeClr val="bg1"/>
              </a:solidFill>
            </a:endParaRPr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GROUP BY </a:t>
            </a:r>
            <a:r>
              <a:rPr lang="en-US" sz="1800" dirty="0" err="1">
                <a:solidFill>
                  <a:schemeClr val="bg1"/>
                </a:solidFill>
              </a:rPr>
              <a:t>dname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10244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3200" b="1" i="1" u="sng">
                <a:solidFill>
                  <a:schemeClr val="tx2"/>
                </a:solidFill>
              </a:rPr>
              <a:t>GROUP BY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2819400"/>
            <a:ext cx="2514600" cy="68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2362200"/>
            <a:ext cx="604838" cy="17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Arrow 6"/>
          <p:cNvSpPr/>
          <p:nvPr/>
        </p:nvSpPr>
        <p:spPr>
          <a:xfrm>
            <a:off x="4419600" y="2971800"/>
            <a:ext cx="990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10248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4724400"/>
            <a:ext cx="762000" cy="191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ight Arrow 8"/>
          <p:cNvSpPr/>
          <p:nvPr/>
        </p:nvSpPr>
        <p:spPr>
          <a:xfrm>
            <a:off x="5334000" y="5638800"/>
            <a:ext cx="990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10250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77000" y="5410200"/>
            <a:ext cx="2114550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fld id="{24832817-AF71-4BB1-90B7-A86810B1A79C}" type="slidenum">
              <a:rPr lang="he-IL" sz="1400">
                <a:cs typeface="Times New Roman" pitchFamily="18" charset="0"/>
              </a:rPr>
              <a:pPr algn="l"/>
              <a:t>9</a:t>
            </a:fld>
            <a:endParaRPr lang="en-US" sz="140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he-IL" sz="800" dirty="0"/>
          </a:p>
          <a:p>
            <a:pPr>
              <a:lnSpc>
                <a:spcPct val="90000"/>
              </a:lnSpc>
            </a:pPr>
            <a:r>
              <a:rPr lang="he-IL" sz="2400" dirty="0"/>
              <a:t>בשאילתה רגילה, השתמשנו ב-</a:t>
            </a:r>
            <a:r>
              <a:rPr lang="en-US" sz="2400" dirty="0"/>
              <a:t> WHERE </a:t>
            </a:r>
            <a:r>
              <a:rPr lang="he-IL" sz="2400" dirty="0"/>
              <a:t>כדי להציג רק רשומות העונות על תנאי מסוים. </a:t>
            </a:r>
          </a:p>
          <a:p>
            <a:pPr>
              <a:lnSpc>
                <a:spcPct val="90000"/>
              </a:lnSpc>
            </a:pPr>
            <a:r>
              <a:rPr lang="he-IL" sz="2400" dirty="0"/>
              <a:t>באמצעות </a:t>
            </a:r>
            <a:r>
              <a:rPr lang="en-US" sz="2400" dirty="0"/>
              <a:t>HAVING</a:t>
            </a:r>
            <a:r>
              <a:rPr lang="he-IL" sz="2400" dirty="0"/>
              <a:t>, אנו יכולים להתנות את התוצאות של פונקצית הצבירה. </a:t>
            </a:r>
          </a:p>
          <a:p>
            <a:pPr>
              <a:lnSpc>
                <a:spcPct val="90000"/>
              </a:lnSpc>
            </a:pPr>
            <a:r>
              <a:rPr lang="he-IL" sz="2400" dirty="0"/>
              <a:t>בשאילתה אחת יכולות להופיע פסוקיות </a:t>
            </a:r>
            <a:r>
              <a:rPr lang="en-US" sz="2400" dirty="0"/>
              <a:t>WHERE </a:t>
            </a:r>
            <a:endParaRPr lang="he-IL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he-IL" sz="2400" dirty="0"/>
              <a:t>	ו-</a:t>
            </a:r>
            <a:r>
              <a:rPr lang="en-US" sz="2400" dirty="0"/>
              <a:t> HAVING</a:t>
            </a:r>
            <a:r>
              <a:rPr lang="he-IL" sz="24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 </a:t>
            </a:r>
            <a:r>
              <a:rPr lang="he-IL" sz="2400" dirty="0"/>
              <a:t>הן אינן סותרות אחת את השנייה.</a:t>
            </a:r>
            <a:endParaRPr lang="en-US" sz="2400" dirty="0"/>
          </a:p>
        </p:txBody>
      </p:sp>
      <p:sp>
        <p:nvSpPr>
          <p:cNvPr id="11268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he-IL" sz="2800" b="1" i="1" u="sng">
                <a:solidFill>
                  <a:schemeClr val="tx2"/>
                </a:solidFill>
              </a:rPr>
              <a:t>סינון ערכים ע"' </a:t>
            </a:r>
            <a:r>
              <a:rPr lang="en-US" sz="2800" b="1" i="1" u="sng">
                <a:solidFill>
                  <a:schemeClr val="tx2"/>
                </a:solidFill>
              </a:rPr>
              <a:t>HAVING</a:t>
            </a:r>
            <a:r>
              <a:rPr lang="he-IL" sz="2800" b="1" i="1" u="sng">
                <a:solidFill>
                  <a:schemeClr val="tx2"/>
                </a:solidFill>
              </a:rPr>
              <a:t>  </a:t>
            </a:r>
            <a:br>
              <a:rPr lang="he-IL" sz="2800" b="1" i="1" u="sng">
                <a:solidFill>
                  <a:schemeClr val="tx2"/>
                </a:solidFill>
              </a:rPr>
            </a:br>
            <a:r>
              <a:rPr lang="he-IL" sz="2800" b="1" i="1" u="sng">
                <a:solidFill>
                  <a:schemeClr val="tx2"/>
                </a:solidFill>
              </a:rPr>
              <a:t>הגדרת קריטריון עבור סיכום הקבוצה</a:t>
            </a:r>
            <a:r>
              <a:rPr lang="he-IL" sz="4400">
                <a:solidFill>
                  <a:schemeClr val="tx2"/>
                </a:solidFill>
              </a:rPr>
              <a:t> </a:t>
            </a:r>
            <a:endParaRPr lang="en-US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fld id="{D1B3CF76-5862-4A74-A9BE-6AB29725A71B}" type="slidenum">
              <a:rPr lang="he-IL" sz="1400">
                <a:cs typeface="Times New Roman" pitchFamily="18" charset="0"/>
              </a:rPr>
              <a:pPr algn="l"/>
              <a:t>10</a:t>
            </a:fld>
            <a:endParaRPr lang="en-US" sz="14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sz="800" dirty="0"/>
          </a:p>
          <a:p>
            <a:pPr lvl="1">
              <a:lnSpc>
                <a:spcPct val="90000"/>
              </a:lnSpc>
            </a:pPr>
            <a:endParaRPr lang="en-US" sz="800" dirty="0"/>
          </a:p>
          <a:p>
            <a:pPr lvl="1">
              <a:lnSpc>
                <a:spcPct val="90000"/>
              </a:lnSpc>
            </a:pPr>
            <a:endParaRPr lang="en-US" sz="800" dirty="0"/>
          </a:p>
          <a:p>
            <a:pPr lvl="1">
              <a:lnSpc>
                <a:spcPct val="90000"/>
              </a:lnSpc>
            </a:pPr>
            <a:r>
              <a:rPr lang="he-IL" sz="1800" dirty="0"/>
              <a:t>לקבל נתונים (שם מחלקה וכמות עובדים) רק עבור מחלקות שיש להם לפחות 5 עובדים: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SELECT </a:t>
            </a:r>
            <a:r>
              <a:rPr lang="en-US" sz="1600" dirty="0" err="1">
                <a:solidFill>
                  <a:schemeClr val="bg1"/>
                </a:solidFill>
              </a:rPr>
              <a:t>dname</a:t>
            </a:r>
            <a:r>
              <a:rPr lang="en-US" sz="1600" dirty="0">
                <a:solidFill>
                  <a:schemeClr val="bg1"/>
                </a:solidFill>
              </a:rPr>
              <a:t> ,COUNT(</a:t>
            </a:r>
            <a:r>
              <a:rPr lang="en-US" sz="1600" dirty="0" err="1">
                <a:solidFill>
                  <a:schemeClr val="bg1"/>
                </a:solidFill>
              </a:rPr>
              <a:t>empno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FROM </a:t>
            </a:r>
            <a:r>
              <a:rPr lang="en-US" sz="1600" dirty="0" err="1">
                <a:solidFill>
                  <a:schemeClr val="bg1"/>
                </a:solidFill>
              </a:rPr>
              <a:t>emp</a:t>
            </a:r>
            <a:r>
              <a:rPr lang="en-US" sz="1600" dirty="0">
                <a:solidFill>
                  <a:schemeClr val="bg1"/>
                </a:solidFill>
              </a:rPr>
              <a:t> ,</a:t>
            </a:r>
            <a:r>
              <a:rPr lang="en-US" sz="1600" dirty="0" err="1">
                <a:solidFill>
                  <a:schemeClr val="bg1"/>
                </a:solidFill>
              </a:rPr>
              <a:t>dept</a:t>
            </a:r>
            <a:endParaRPr lang="en-US" sz="1600" dirty="0">
              <a:solidFill>
                <a:schemeClr val="bg1"/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WHERE </a:t>
            </a:r>
            <a:r>
              <a:rPr lang="en-US" sz="1600" dirty="0" err="1">
                <a:solidFill>
                  <a:schemeClr val="bg1"/>
                </a:solidFill>
              </a:rPr>
              <a:t>dept.deptno</a:t>
            </a:r>
            <a:r>
              <a:rPr lang="en-US" sz="1600" dirty="0">
                <a:solidFill>
                  <a:schemeClr val="bg1"/>
                </a:solidFill>
              </a:rPr>
              <a:t>=</a:t>
            </a:r>
            <a:r>
              <a:rPr lang="en-US" sz="1600" dirty="0" err="1">
                <a:solidFill>
                  <a:schemeClr val="bg1"/>
                </a:solidFill>
              </a:rPr>
              <a:t>emp.deptno</a:t>
            </a:r>
            <a:endParaRPr lang="en-US" sz="1600" dirty="0">
              <a:solidFill>
                <a:schemeClr val="bg1"/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GROUP BY </a:t>
            </a:r>
            <a:r>
              <a:rPr lang="en-US" sz="1600" dirty="0" err="1">
                <a:solidFill>
                  <a:schemeClr val="bg1"/>
                </a:solidFill>
              </a:rPr>
              <a:t>dname</a:t>
            </a:r>
            <a:endParaRPr lang="en-US" sz="1600" dirty="0">
              <a:solidFill>
                <a:schemeClr val="bg1"/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HAVING COUNT(</a:t>
            </a:r>
            <a:r>
              <a:rPr lang="en-US" sz="1600" dirty="0" err="1">
                <a:solidFill>
                  <a:schemeClr val="bg1"/>
                </a:solidFill>
              </a:rPr>
              <a:t>empno</a:t>
            </a:r>
            <a:r>
              <a:rPr lang="en-US" sz="1600" dirty="0">
                <a:solidFill>
                  <a:schemeClr val="bg1"/>
                </a:solidFill>
              </a:rPr>
              <a:t>)&gt;=5; </a:t>
            </a:r>
          </a:p>
          <a:p>
            <a:pPr algn="l" rtl="0">
              <a:lnSpc>
                <a:spcPct val="90000"/>
              </a:lnSpc>
              <a:buFontTx/>
              <a:buNone/>
            </a:pPr>
            <a:endParaRPr lang="en-US" sz="800" dirty="0"/>
          </a:p>
        </p:txBody>
      </p:sp>
      <p:sp>
        <p:nvSpPr>
          <p:cNvPr id="12292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he-IL" sz="2800" b="1" i="1" u="sng">
                <a:solidFill>
                  <a:schemeClr val="tx2"/>
                </a:solidFill>
              </a:rPr>
              <a:t>סינון ערכים ע"' </a:t>
            </a:r>
            <a:r>
              <a:rPr lang="en-US" sz="2800" b="1" i="1" u="sng">
                <a:solidFill>
                  <a:schemeClr val="tx2"/>
                </a:solidFill>
              </a:rPr>
              <a:t>HAVING</a:t>
            </a:r>
            <a:r>
              <a:rPr lang="he-IL" sz="2800" b="1" i="1" u="sng">
                <a:solidFill>
                  <a:schemeClr val="tx2"/>
                </a:solidFill>
              </a:rPr>
              <a:t>  </a:t>
            </a:r>
            <a:br>
              <a:rPr lang="he-IL" sz="2800" b="1" i="1" u="sng">
                <a:solidFill>
                  <a:schemeClr val="tx2"/>
                </a:solidFill>
              </a:rPr>
            </a:br>
            <a:r>
              <a:rPr lang="he-IL" sz="2800" b="1" i="1" u="sng">
                <a:solidFill>
                  <a:schemeClr val="tx2"/>
                </a:solidFill>
              </a:rPr>
              <a:t>הגדרת קריטריון עבור סיכום הקבוצה</a:t>
            </a:r>
            <a:r>
              <a:rPr lang="he-IL" sz="4400">
                <a:solidFill>
                  <a:schemeClr val="tx2"/>
                </a:solidFill>
              </a:rPr>
              <a:t> </a:t>
            </a:r>
            <a:endParaRPr lang="en-US" sz="4400">
              <a:solidFill>
                <a:schemeClr val="tx2"/>
              </a:solidFill>
            </a:endParaRPr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4800600"/>
            <a:ext cx="14605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67200" y="4724400"/>
            <a:ext cx="169386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90800" y="4114800"/>
            <a:ext cx="95567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ight Arrow 7"/>
          <p:cNvSpPr/>
          <p:nvPr/>
        </p:nvSpPr>
        <p:spPr>
          <a:xfrm>
            <a:off x="3581400" y="4953000"/>
            <a:ext cx="609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sp>
        <p:nvSpPr>
          <p:cNvPr id="9" name="Right Arrow 8"/>
          <p:cNvSpPr/>
          <p:nvPr/>
        </p:nvSpPr>
        <p:spPr>
          <a:xfrm>
            <a:off x="6019800" y="5029200"/>
            <a:ext cx="609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fld id="{FD345F3A-B35B-4BA8-9243-1644E93C9C83}" type="slidenum">
              <a:rPr lang="he-IL" sz="1400">
                <a:cs typeface="Times New Roman" pitchFamily="18" charset="0"/>
              </a:rPr>
              <a:pPr algn="l"/>
              <a:t>11</a:t>
            </a:fld>
            <a:endParaRPr lang="en-US" sz="140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he-IL" sz="800" dirty="0"/>
          </a:p>
          <a:p>
            <a:pPr algn="l" rtl="0">
              <a:lnSpc>
                <a:spcPct val="90000"/>
              </a:lnSpc>
              <a:buFontTx/>
              <a:buNone/>
            </a:pPr>
            <a:endParaRPr lang="en-US" sz="800" dirty="0"/>
          </a:p>
          <a:p>
            <a:pPr lvl="1">
              <a:lnSpc>
                <a:spcPct val="90000"/>
              </a:lnSpc>
            </a:pPr>
            <a:r>
              <a:rPr lang="he-IL" sz="1800" dirty="0"/>
              <a:t>לקבל רשימת לקוחות אשר הכמות הממוצעת של מוצרים בהזמנות שלהם גדולה מהממוצע:</a:t>
            </a:r>
            <a:endParaRPr lang="en-US" sz="1800" dirty="0"/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SELECT Name, AVG(</a:t>
            </a:r>
            <a:r>
              <a:rPr lang="en-US" sz="1600" dirty="0" err="1">
                <a:solidFill>
                  <a:schemeClr val="bg1"/>
                </a:solidFill>
              </a:rPr>
              <a:t>qty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FROM item </a:t>
            </a:r>
            <a:r>
              <a:rPr lang="en-US" sz="1600" dirty="0" err="1">
                <a:solidFill>
                  <a:schemeClr val="bg1"/>
                </a:solidFill>
              </a:rPr>
              <a:t>i,customer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c,ord</a:t>
            </a:r>
            <a:r>
              <a:rPr lang="en-US" sz="1600" dirty="0">
                <a:solidFill>
                  <a:schemeClr val="bg1"/>
                </a:solidFill>
              </a:rPr>
              <a:t> o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WHERE </a:t>
            </a:r>
            <a:r>
              <a:rPr lang="en-US" sz="1600" dirty="0" err="1">
                <a:solidFill>
                  <a:schemeClr val="bg1"/>
                </a:solidFill>
              </a:rPr>
              <a:t>i.ordid</a:t>
            </a:r>
            <a:r>
              <a:rPr lang="en-US" sz="1600" dirty="0">
                <a:solidFill>
                  <a:schemeClr val="bg1"/>
                </a:solidFill>
              </a:rPr>
              <a:t>=</a:t>
            </a:r>
            <a:r>
              <a:rPr lang="en-US" sz="1600" dirty="0" err="1">
                <a:solidFill>
                  <a:schemeClr val="bg1"/>
                </a:solidFill>
              </a:rPr>
              <a:t>o.ordid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AND </a:t>
            </a:r>
            <a:r>
              <a:rPr lang="en-US" sz="1600" dirty="0" err="1">
                <a:solidFill>
                  <a:schemeClr val="bg1"/>
                </a:solidFill>
              </a:rPr>
              <a:t>c.custid</a:t>
            </a:r>
            <a:r>
              <a:rPr lang="en-US" sz="1600" dirty="0">
                <a:solidFill>
                  <a:schemeClr val="bg1"/>
                </a:solidFill>
              </a:rPr>
              <a:t>=</a:t>
            </a:r>
            <a:r>
              <a:rPr lang="en-US" sz="1600" dirty="0" err="1">
                <a:solidFill>
                  <a:schemeClr val="bg1"/>
                </a:solidFill>
              </a:rPr>
              <a:t>o.custid</a:t>
            </a:r>
            <a:endParaRPr lang="en-US" sz="1600" dirty="0">
              <a:solidFill>
                <a:schemeClr val="bg1"/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GROUP BY Name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HAVING AVG(</a:t>
            </a:r>
            <a:r>
              <a:rPr lang="en-US" sz="1600" dirty="0" err="1">
                <a:solidFill>
                  <a:schemeClr val="bg1"/>
                </a:solidFill>
              </a:rPr>
              <a:t>qty</a:t>
            </a:r>
            <a:r>
              <a:rPr lang="en-US" sz="1600" dirty="0">
                <a:solidFill>
                  <a:schemeClr val="bg1"/>
                </a:solidFill>
              </a:rPr>
              <a:t>)&gt;(SELECT AVG (</a:t>
            </a:r>
            <a:r>
              <a:rPr lang="en-US" sz="1600" dirty="0" err="1">
                <a:solidFill>
                  <a:schemeClr val="bg1"/>
                </a:solidFill>
              </a:rPr>
              <a:t>qty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he-IL" sz="1600" dirty="0">
                <a:solidFill>
                  <a:schemeClr val="bg1"/>
                </a:solidFill>
              </a:rPr>
              <a:t>	</a:t>
            </a:r>
            <a:r>
              <a:rPr lang="en-US" sz="1600" dirty="0">
                <a:solidFill>
                  <a:schemeClr val="bg1"/>
                </a:solidFill>
              </a:rPr>
              <a:t>                	     FROM item); </a:t>
            </a:r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he-IL" sz="2800" b="1" i="1" u="sng">
                <a:solidFill>
                  <a:schemeClr val="tx2"/>
                </a:solidFill>
              </a:rPr>
              <a:t>סינון ערכים ע"' </a:t>
            </a:r>
            <a:r>
              <a:rPr lang="en-US" sz="2800" b="1" i="1" u="sng">
                <a:solidFill>
                  <a:schemeClr val="tx2"/>
                </a:solidFill>
              </a:rPr>
              <a:t>HAVING</a:t>
            </a:r>
            <a:r>
              <a:rPr lang="he-IL" sz="2800" b="1" i="1" u="sng">
                <a:solidFill>
                  <a:schemeClr val="tx2"/>
                </a:solidFill>
              </a:rPr>
              <a:t>  </a:t>
            </a:r>
            <a:br>
              <a:rPr lang="he-IL" sz="2800" b="1" i="1" u="sng">
                <a:solidFill>
                  <a:schemeClr val="tx2"/>
                </a:solidFill>
              </a:rPr>
            </a:br>
            <a:r>
              <a:rPr lang="he-IL" sz="2800" b="1" i="1" u="sng">
                <a:solidFill>
                  <a:schemeClr val="tx2"/>
                </a:solidFill>
              </a:rPr>
              <a:t>הגדרת קריטריון עבור סיכום הקבוצה</a:t>
            </a:r>
            <a:r>
              <a:rPr lang="he-IL" sz="4400">
                <a:solidFill>
                  <a:schemeClr val="tx2"/>
                </a:solidFill>
              </a:rPr>
              <a:t> </a:t>
            </a:r>
            <a:endParaRPr lang="en-US" sz="4400">
              <a:solidFill>
                <a:schemeClr val="tx2"/>
              </a:solidFill>
            </a:endParaRPr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9400" y="5105400"/>
            <a:ext cx="1981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4800600"/>
            <a:ext cx="25146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95400" y="4419600"/>
            <a:ext cx="17526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ight Arrow 7"/>
          <p:cNvSpPr/>
          <p:nvPr/>
        </p:nvSpPr>
        <p:spPr>
          <a:xfrm>
            <a:off x="3124200" y="5410200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sp>
        <p:nvSpPr>
          <p:cNvPr id="9" name="Right Arrow 8"/>
          <p:cNvSpPr/>
          <p:nvPr/>
        </p:nvSpPr>
        <p:spPr>
          <a:xfrm>
            <a:off x="6172200" y="5410200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fld id="{FD345F3A-B35B-4BA8-9243-1644E93C9C83}" type="slidenum">
              <a:rPr lang="he-IL" sz="1400">
                <a:cs typeface="Times New Roman" pitchFamily="18" charset="0"/>
              </a:rPr>
              <a:pPr algn="l"/>
              <a:t>12</a:t>
            </a:fld>
            <a:endParaRPr lang="en-US" sz="140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he-IL" sz="800" dirty="0"/>
          </a:p>
          <a:p>
            <a:pPr algn="l" rtl="0">
              <a:lnSpc>
                <a:spcPct val="90000"/>
              </a:lnSpc>
              <a:buFontTx/>
              <a:buNone/>
            </a:pPr>
            <a:endParaRPr lang="en-US" sz="800" dirty="0"/>
          </a:p>
          <a:p>
            <a:pPr lvl="1">
              <a:lnSpc>
                <a:spcPct val="90000"/>
              </a:lnSpc>
            </a:pPr>
            <a:r>
              <a:rPr lang="he-IL" sz="1800" dirty="0"/>
              <a:t>ניתן למיין את סדר התוצאות על פי עמודה מסוימת:</a:t>
            </a:r>
            <a:endParaRPr lang="en-US" sz="1800" dirty="0"/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SELECT  name, id, address</a:t>
            </a: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FROM </a:t>
            </a:r>
            <a:r>
              <a:rPr lang="en-US" sz="1600" dirty="0" err="1">
                <a:solidFill>
                  <a:schemeClr val="bg1"/>
                </a:solidFill>
              </a:rPr>
              <a:t>table_name</a:t>
            </a:r>
            <a:endParaRPr lang="en-US" sz="1600" dirty="0">
              <a:solidFill>
                <a:schemeClr val="bg1"/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ORDER BY name ASC|DESC;</a:t>
            </a:r>
          </a:p>
          <a:p>
            <a:pPr>
              <a:lnSpc>
                <a:spcPct val="90000"/>
              </a:lnSpc>
            </a:pPr>
            <a:r>
              <a:rPr lang="he-IL" sz="1600" dirty="0"/>
              <a:t>ברירת מחדל היא </a:t>
            </a:r>
            <a:r>
              <a:rPr lang="en-US" sz="1600" dirty="0"/>
              <a:t>ASC</a:t>
            </a:r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rtl="0" eaLnBrk="0" hangingPunct="0"/>
            <a:r>
              <a:rPr lang="en-US" sz="2800" b="1" i="1" u="sng" dirty="0">
                <a:solidFill>
                  <a:schemeClr val="tx2"/>
                </a:solidFill>
              </a:rPr>
              <a:t>ORDER</a:t>
            </a:r>
            <a:r>
              <a:rPr lang="he-IL" sz="2800" b="1" i="1" u="sng" dirty="0">
                <a:solidFill>
                  <a:schemeClr val="tx2"/>
                </a:solidFill>
              </a:rPr>
              <a:t> </a:t>
            </a:r>
            <a:r>
              <a:rPr lang="en-US" sz="2800" b="1" i="1" u="sng" dirty="0">
                <a:solidFill>
                  <a:schemeClr val="tx2"/>
                </a:solidFill>
              </a:rPr>
              <a:t>BY</a:t>
            </a:r>
            <a:endParaRPr lang="en-US" sz="4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fld id="{94FB3D6B-3306-4396-BEAE-33670147D15C}" type="slidenum">
              <a:rPr lang="he-IL" sz="1400">
                <a:cs typeface="Times New Roman" pitchFamily="18" charset="0"/>
              </a:rPr>
              <a:pPr algn="l"/>
              <a:t>13</a:t>
            </a:fld>
            <a:endParaRPr lang="en-US" sz="140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lvl="1">
              <a:lnSpc>
                <a:spcPct val="90000"/>
              </a:lnSpc>
              <a:defRPr/>
            </a:pPr>
            <a:r>
              <a:rPr lang="he-IL" sz="1800" dirty="0"/>
              <a:t>להציג את כל העובדים אשר מרוויחים לפחות ב-20% פחות מהמשכורת הממוצעת במחלקה בה הם עובדים:</a:t>
            </a:r>
          </a:p>
          <a:p>
            <a:pPr algn="l" rtl="0">
              <a:lnSpc>
                <a:spcPct val="90000"/>
              </a:lnSpc>
              <a:buFontTx/>
              <a:buNone/>
              <a:defRPr/>
            </a:pPr>
            <a:r>
              <a:rPr lang="en-US" sz="1600" dirty="0">
                <a:solidFill>
                  <a:schemeClr val="bg1"/>
                </a:solidFill>
              </a:rPr>
              <a:t>SELECT </a:t>
            </a:r>
            <a:r>
              <a:rPr lang="en-US" sz="1600" dirty="0" err="1">
                <a:solidFill>
                  <a:schemeClr val="bg1"/>
                </a:solidFill>
              </a:rPr>
              <a:t>ename</a:t>
            </a:r>
            <a:r>
              <a:rPr lang="en-US" sz="1600" dirty="0">
                <a:solidFill>
                  <a:schemeClr val="bg1"/>
                </a:solidFill>
              </a:rPr>
              <a:t> , </a:t>
            </a:r>
            <a:r>
              <a:rPr lang="en-US" sz="1600" dirty="0" err="1">
                <a:solidFill>
                  <a:schemeClr val="bg1"/>
                </a:solidFill>
              </a:rPr>
              <a:t>sal</a:t>
            </a:r>
            <a:r>
              <a:rPr lang="en-US" sz="1600" dirty="0">
                <a:solidFill>
                  <a:schemeClr val="bg1"/>
                </a:solidFill>
              </a:rPr>
              <a:t> , </a:t>
            </a:r>
            <a:r>
              <a:rPr lang="en-US" sz="1600" dirty="0" err="1">
                <a:solidFill>
                  <a:schemeClr val="bg1"/>
                </a:solidFill>
              </a:rPr>
              <a:t>g.deptno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AvgSalary</a:t>
            </a:r>
            <a:endParaRPr lang="en-US" sz="1600" dirty="0">
              <a:solidFill>
                <a:schemeClr val="bg1"/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  <a:defRPr/>
            </a:pPr>
            <a:r>
              <a:rPr lang="en-US" sz="1600" dirty="0">
                <a:solidFill>
                  <a:schemeClr val="bg1"/>
                </a:solidFill>
              </a:rPr>
              <a:t>FROM </a:t>
            </a:r>
            <a:r>
              <a:rPr lang="en-US" sz="1600" dirty="0" err="1">
                <a:solidFill>
                  <a:schemeClr val="bg1"/>
                </a:solidFill>
              </a:rPr>
              <a:t>emp</a:t>
            </a:r>
            <a:r>
              <a:rPr lang="en-US" sz="1600" dirty="0">
                <a:solidFill>
                  <a:schemeClr val="bg1"/>
                </a:solidFill>
              </a:rPr>
              <a:t> e, </a:t>
            </a:r>
          </a:p>
          <a:p>
            <a:pPr algn="l" rtl="0">
              <a:lnSpc>
                <a:spcPct val="90000"/>
              </a:lnSpc>
              <a:buFontTx/>
              <a:buNone/>
              <a:defRPr/>
            </a:pPr>
            <a:r>
              <a:rPr lang="en-US" sz="1600" dirty="0">
                <a:solidFill>
                  <a:schemeClr val="accent2"/>
                </a:solidFill>
              </a:rPr>
              <a:t>            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(SELECT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deptno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,AVG(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sal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) AS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AvgSalary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  <a:defRPr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      FROM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emp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  <a:defRPr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      GROUP BY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deptno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) g</a:t>
            </a:r>
          </a:p>
          <a:p>
            <a:pPr algn="l" rtl="0">
              <a:lnSpc>
                <a:spcPct val="90000"/>
              </a:lnSpc>
              <a:buFontTx/>
              <a:buNone/>
              <a:defRPr/>
            </a:pPr>
            <a:r>
              <a:rPr lang="en-US" sz="1600" dirty="0">
                <a:solidFill>
                  <a:schemeClr val="bg1"/>
                </a:solidFill>
              </a:rPr>
              <a:t>WHERE  </a:t>
            </a:r>
            <a:r>
              <a:rPr lang="en-US" sz="1600" dirty="0" err="1">
                <a:solidFill>
                  <a:schemeClr val="bg1"/>
                </a:solidFill>
              </a:rPr>
              <a:t>e.deptno</a:t>
            </a:r>
            <a:r>
              <a:rPr lang="en-US" sz="1600" dirty="0">
                <a:solidFill>
                  <a:schemeClr val="bg1"/>
                </a:solidFill>
              </a:rPr>
              <a:t> = </a:t>
            </a:r>
            <a:r>
              <a:rPr lang="en-US" sz="1600" dirty="0" err="1">
                <a:solidFill>
                  <a:schemeClr val="bg1"/>
                </a:solidFill>
              </a:rPr>
              <a:t>g.deptno</a:t>
            </a:r>
            <a:endParaRPr lang="en-US" sz="1600" dirty="0">
              <a:solidFill>
                <a:schemeClr val="bg1"/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  <a:defRPr/>
            </a:pPr>
            <a:r>
              <a:rPr lang="en-US" sz="1600" dirty="0">
                <a:solidFill>
                  <a:schemeClr val="bg1"/>
                </a:solidFill>
              </a:rPr>
              <a:t>AND </a:t>
            </a:r>
            <a:r>
              <a:rPr lang="en-US" sz="1600" dirty="0" err="1">
                <a:solidFill>
                  <a:schemeClr val="bg1"/>
                </a:solidFill>
              </a:rPr>
              <a:t>sal</a:t>
            </a:r>
            <a:r>
              <a:rPr lang="en-US" sz="1600">
                <a:solidFill>
                  <a:schemeClr val="bg1"/>
                </a:solidFill>
              </a:rPr>
              <a:t> &gt;= </a:t>
            </a:r>
            <a:r>
              <a:rPr lang="en-US" sz="1600" dirty="0">
                <a:solidFill>
                  <a:schemeClr val="bg1"/>
                </a:solidFill>
              </a:rPr>
              <a:t>0.8*</a:t>
            </a:r>
            <a:r>
              <a:rPr lang="en-US" sz="1600" dirty="0" err="1">
                <a:solidFill>
                  <a:schemeClr val="bg1"/>
                </a:solidFill>
              </a:rPr>
              <a:t>AvgSalary</a:t>
            </a:r>
            <a:endParaRPr lang="en-US" sz="1600" dirty="0">
              <a:solidFill>
                <a:schemeClr val="bg1"/>
              </a:solidFill>
            </a:endParaRPr>
          </a:p>
          <a:p>
            <a:pPr algn="l" rtl="0">
              <a:lnSpc>
                <a:spcPct val="90000"/>
              </a:lnSpc>
              <a:buFontTx/>
              <a:buNone/>
              <a:defRPr/>
            </a:pPr>
            <a:r>
              <a:rPr lang="en-US" sz="1600" dirty="0">
                <a:solidFill>
                  <a:schemeClr val="bg1"/>
                </a:solidFill>
              </a:rPr>
              <a:t>ORDER BY </a:t>
            </a:r>
            <a:r>
              <a:rPr lang="en-US" sz="1600" dirty="0" err="1">
                <a:solidFill>
                  <a:schemeClr val="bg1"/>
                </a:solidFill>
              </a:rPr>
              <a:t>g.deptno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pPr>
              <a:lnSpc>
                <a:spcPct val="90000"/>
              </a:lnSpc>
              <a:defRPr/>
            </a:pPr>
            <a:r>
              <a:rPr lang="he-IL" sz="1600" dirty="0">
                <a:solidFill>
                  <a:srgbClr val="0000CC"/>
                </a:solidFill>
              </a:rPr>
              <a:t>מציאת משכורת ממוצעת עבור כל מחלקה.</a:t>
            </a:r>
            <a:endParaRPr lang="en-US" sz="1600" dirty="0">
              <a:solidFill>
                <a:srgbClr val="0000CC"/>
              </a:solidFill>
            </a:endParaRPr>
          </a:p>
        </p:txBody>
      </p:sp>
      <p:sp>
        <p:nvSpPr>
          <p:cNvPr id="14340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he-IL" sz="2800" b="1" i="1" u="sng" dirty="0">
                <a:solidFill>
                  <a:schemeClr val="tx2"/>
                </a:solidFill>
              </a:rPr>
              <a:t>שימוש ב- </a:t>
            </a:r>
            <a:r>
              <a:rPr lang="en-US" sz="2800" b="1" i="1" u="sng" dirty="0">
                <a:solidFill>
                  <a:schemeClr val="tx2"/>
                </a:solidFill>
              </a:rPr>
              <a:t>GROUP BY</a:t>
            </a:r>
            <a:r>
              <a:rPr lang="he-IL" sz="2800" b="1" i="1" u="sng" dirty="0">
                <a:solidFill>
                  <a:schemeClr val="tx2"/>
                </a:solidFill>
              </a:rPr>
              <a:t> ב- </a:t>
            </a:r>
            <a:r>
              <a:rPr lang="en-US" sz="2800" b="1" i="1" u="sng" dirty="0">
                <a:solidFill>
                  <a:schemeClr val="tx2"/>
                </a:solidFill>
              </a:rPr>
              <a:t>DYNAMIC VIEW</a:t>
            </a:r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2819400"/>
            <a:ext cx="2225675" cy="609600"/>
          </a:xfrm>
          <a:prstGeom prst="rect">
            <a:avLst/>
          </a:prstGeom>
          <a:noFill/>
          <a:ln w="25400">
            <a:solidFill>
              <a:schemeClr val="accent6">
                <a:alpha val="87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14342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4495800"/>
            <a:ext cx="2743200" cy="213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ight Arrow 7"/>
          <p:cNvSpPr/>
          <p:nvPr/>
        </p:nvSpPr>
        <p:spPr>
          <a:xfrm>
            <a:off x="4038600" y="5410200"/>
            <a:ext cx="381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5029200"/>
            <a:ext cx="27336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3D2F68E-D39A-4AC5-B6C2-FBFFEF189AC5}" type="slidenum">
              <a:rPr lang="he-IL"/>
              <a:pPr/>
              <a:t>14</a:t>
            </a:fld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he-IL" sz="2200" dirty="0"/>
              <a:t>דוגמה נוספת.</a:t>
            </a:r>
          </a:p>
          <a:p>
            <a:pPr lvl="1">
              <a:lnSpc>
                <a:spcPct val="90000"/>
              </a:lnSpc>
            </a:pPr>
            <a:r>
              <a:rPr lang="he-IL" sz="1800" dirty="0"/>
              <a:t>נניח כי בסיס נתונים מוגדר על-ידי 3 טבלאות:</a:t>
            </a:r>
            <a:endParaRPr lang="en-US" sz="1800" dirty="0"/>
          </a:p>
          <a:p>
            <a:pPr algn="l" rtl="0">
              <a:buFontTx/>
              <a:buNone/>
            </a:pPr>
            <a:r>
              <a:rPr lang="en-US" sz="1600" dirty="0"/>
              <a:t>Sailors(</a:t>
            </a:r>
            <a:r>
              <a:rPr lang="en-US" sz="1600" u="sng" dirty="0" err="1"/>
              <a:t>sid</a:t>
            </a:r>
            <a:r>
              <a:rPr lang="en-US" sz="1600" dirty="0"/>
              <a:t>, </a:t>
            </a:r>
            <a:r>
              <a:rPr lang="en-US" sz="1600" dirty="0" err="1"/>
              <a:t>sname</a:t>
            </a:r>
            <a:r>
              <a:rPr lang="en-US" sz="1600" dirty="0"/>
              <a:t>, rating, age)  </a:t>
            </a:r>
          </a:p>
          <a:p>
            <a:pPr algn="l" rtl="0">
              <a:buFontTx/>
              <a:buNone/>
            </a:pPr>
            <a:r>
              <a:rPr lang="en-US" sz="1600" dirty="0"/>
              <a:t>Boats(</a:t>
            </a:r>
            <a:r>
              <a:rPr lang="en-US" sz="1600" u="sng" dirty="0"/>
              <a:t>bid</a:t>
            </a:r>
            <a:r>
              <a:rPr lang="en-US" sz="1600" dirty="0"/>
              <a:t>, </a:t>
            </a:r>
            <a:r>
              <a:rPr lang="en-US" sz="1600" dirty="0" err="1"/>
              <a:t>bname</a:t>
            </a:r>
            <a:r>
              <a:rPr lang="en-US" sz="1600" dirty="0"/>
              <a:t>, color)  </a:t>
            </a:r>
          </a:p>
          <a:p>
            <a:pPr algn="l" rtl="0">
              <a:buFontTx/>
              <a:buNone/>
            </a:pPr>
            <a:r>
              <a:rPr lang="en-US" sz="1600" dirty="0"/>
              <a:t>Reserves(</a:t>
            </a:r>
            <a:r>
              <a:rPr lang="en-US" sz="1600" u="sng" dirty="0" err="1"/>
              <a:t>sid</a:t>
            </a:r>
            <a:r>
              <a:rPr lang="en-US" sz="1600" dirty="0"/>
              <a:t>, </a:t>
            </a:r>
            <a:r>
              <a:rPr lang="en-US" sz="1600" u="sng" dirty="0"/>
              <a:t>bid</a:t>
            </a:r>
            <a:r>
              <a:rPr lang="en-US" sz="1600" dirty="0"/>
              <a:t>, </a:t>
            </a:r>
            <a:r>
              <a:rPr lang="en-US" sz="1600" u="sng" dirty="0"/>
              <a:t>day</a:t>
            </a:r>
            <a:r>
              <a:rPr lang="en-US" sz="1600" dirty="0"/>
              <a:t>)</a:t>
            </a:r>
          </a:p>
          <a:p>
            <a:pPr algn="l" rtl="0">
              <a:buFontTx/>
              <a:buNone/>
            </a:pPr>
            <a:endParaRPr lang="en-US" sz="1600" dirty="0"/>
          </a:p>
          <a:p>
            <a:pPr lvl="1">
              <a:lnSpc>
                <a:spcPct val="90000"/>
              </a:lnSpc>
            </a:pPr>
            <a:r>
              <a:rPr lang="he-IL" sz="1800" dirty="0"/>
              <a:t>צריך למצוא את המספר המקסימאלי של סירות שהוזמנו ע"י מלח בודד.</a:t>
            </a:r>
            <a:r>
              <a:rPr lang="en-US" sz="1800" dirty="0"/>
              <a:t> </a:t>
            </a:r>
            <a:endParaRPr lang="he-IL" sz="1800" dirty="0"/>
          </a:p>
          <a:p>
            <a:pPr algn="l" rtl="0"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SELECT MAX(</a:t>
            </a:r>
            <a:r>
              <a:rPr lang="en-US" sz="1600" dirty="0" err="1">
                <a:solidFill>
                  <a:schemeClr val="bg1"/>
                </a:solidFill>
              </a:rPr>
              <a:t>NoBoats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algn="l" rtl="0">
              <a:lnSpc>
                <a:spcPct val="6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FROM ( SELECT </a:t>
            </a:r>
            <a:r>
              <a:rPr lang="en-US" sz="1600" dirty="0" err="1">
                <a:solidFill>
                  <a:schemeClr val="bg1"/>
                </a:solidFill>
              </a:rPr>
              <a:t>sid</a:t>
            </a:r>
            <a:r>
              <a:rPr lang="en-US" sz="1600" dirty="0">
                <a:solidFill>
                  <a:schemeClr val="bg1"/>
                </a:solidFill>
              </a:rPr>
              <a:t>, COUNT(bid) AS  </a:t>
            </a:r>
            <a:r>
              <a:rPr lang="en-US" sz="1600" dirty="0" err="1">
                <a:solidFill>
                  <a:schemeClr val="bg1"/>
                </a:solidFill>
              </a:rPr>
              <a:t>NoBoats</a:t>
            </a:r>
            <a:endParaRPr lang="en-US" sz="1600" dirty="0">
              <a:solidFill>
                <a:schemeClr val="bg1"/>
              </a:solidFill>
            </a:endParaRPr>
          </a:p>
          <a:p>
            <a:pPr algn="l" rtl="0">
              <a:lnSpc>
                <a:spcPct val="6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FROM  Reserves</a:t>
            </a:r>
          </a:p>
          <a:p>
            <a:pPr algn="l" rtl="0">
              <a:lnSpc>
                <a:spcPct val="60000"/>
              </a:lnSpc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               GROUP BY </a:t>
            </a:r>
            <a:r>
              <a:rPr lang="en-US" sz="1600" dirty="0" err="1">
                <a:solidFill>
                  <a:schemeClr val="bg1"/>
                </a:solidFill>
              </a:rPr>
              <a:t>sid</a:t>
            </a:r>
            <a:r>
              <a:rPr lang="en-US" sz="1600" dirty="0">
                <a:solidFill>
                  <a:schemeClr val="bg1"/>
                </a:solidFill>
              </a:rPr>
              <a:t>); </a:t>
            </a:r>
          </a:p>
          <a:p>
            <a:pPr>
              <a:lnSpc>
                <a:spcPct val="60000"/>
              </a:lnSpc>
              <a:buFontTx/>
              <a:buNone/>
            </a:pPr>
            <a:endParaRPr lang="he-IL" sz="1600" dirty="0"/>
          </a:p>
          <a:p>
            <a:pPr>
              <a:lnSpc>
                <a:spcPct val="60000"/>
              </a:lnSpc>
              <a:buFontTx/>
              <a:buNone/>
            </a:pPr>
            <a:r>
              <a:rPr lang="he-IL" sz="1600" dirty="0"/>
              <a:t>ניתן לרשום זאת גם כך:</a:t>
            </a:r>
          </a:p>
          <a:p>
            <a:pPr algn="l" rtl="0"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SELECT MAX(COUNT(bid))</a:t>
            </a:r>
          </a:p>
          <a:p>
            <a:pPr algn="l" rtl="0"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FROM  Reserves</a:t>
            </a:r>
          </a:p>
          <a:p>
            <a:pPr algn="l" rtl="0">
              <a:buFontTx/>
              <a:buNone/>
            </a:pPr>
            <a:r>
              <a:rPr lang="en-US" sz="1600" dirty="0">
                <a:solidFill>
                  <a:schemeClr val="bg1"/>
                </a:solidFill>
              </a:rPr>
              <a:t>GROUP BY </a:t>
            </a:r>
            <a:r>
              <a:rPr lang="en-US" sz="1600" dirty="0" err="1">
                <a:solidFill>
                  <a:schemeClr val="bg1"/>
                </a:solidFill>
              </a:rPr>
              <a:t>sid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  <a:endParaRPr lang="he-IL" sz="1600" dirty="0">
              <a:solidFill>
                <a:schemeClr val="bg1"/>
              </a:solidFill>
            </a:endParaRPr>
          </a:p>
          <a:p>
            <a:pPr>
              <a:lnSpc>
                <a:spcPct val="60000"/>
              </a:lnSpc>
              <a:buFontTx/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תרגיל למחשבה</a:t>
            </a: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Tx/>
              <a:buNone/>
            </a:pPr>
            <a:r>
              <a:rPr lang="he-IL" dirty="0"/>
              <a:t>על אותו בסיס נתונים:</a:t>
            </a:r>
          </a:p>
          <a:p>
            <a:pPr marL="609600" indent="-609600" algn="l" rtl="0">
              <a:buFontTx/>
              <a:buNone/>
            </a:pPr>
            <a:r>
              <a:rPr lang="en-US" dirty="0"/>
              <a:t>Sailors(</a:t>
            </a:r>
            <a:r>
              <a:rPr lang="en-US" u="sng" dirty="0" err="1"/>
              <a:t>sid</a:t>
            </a:r>
            <a:r>
              <a:rPr lang="en-US" dirty="0"/>
              <a:t>, </a:t>
            </a:r>
            <a:r>
              <a:rPr lang="en-US" dirty="0" err="1"/>
              <a:t>sname</a:t>
            </a:r>
            <a:r>
              <a:rPr lang="en-US" dirty="0"/>
              <a:t>, rating, age)  </a:t>
            </a:r>
          </a:p>
          <a:p>
            <a:pPr marL="609600" indent="-609600" algn="l" rtl="0">
              <a:buFontTx/>
              <a:buNone/>
            </a:pPr>
            <a:r>
              <a:rPr lang="en-US" dirty="0"/>
              <a:t>Boats(</a:t>
            </a:r>
            <a:r>
              <a:rPr lang="en-US" u="sng" dirty="0"/>
              <a:t>bid</a:t>
            </a:r>
            <a:r>
              <a:rPr lang="en-US" dirty="0"/>
              <a:t>, </a:t>
            </a:r>
            <a:r>
              <a:rPr lang="en-US" dirty="0" err="1"/>
              <a:t>bname</a:t>
            </a:r>
            <a:r>
              <a:rPr lang="en-US" dirty="0"/>
              <a:t>, color)  </a:t>
            </a:r>
          </a:p>
          <a:p>
            <a:pPr marL="609600" indent="-609600" algn="l" rtl="0">
              <a:buFontTx/>
              <a:buNone/>
            </a:pPr>
            <a:r>
              <a:rPr lang="en-US" dirty="0"/>
              <a:t>Reserves(</a:t>
            </a:r>
            <a:r>
              <a:rPr lang="en-US" u="sng" dirty="0" err="1"/>
              <a:t>sid</a:t>
            </a:r>
            <a:r>
              <a:rPr lang="en-US" dirty="0"/>
              <a:t>, </a:t>
            </a:r>
            <a:r>
              <a:rPr lang="en-US" u="sng" dirty="0"/>
              <a:t>bid</a:t>
            </a:r>
            <a:r>
              <a:rPr lang="en-US" dirty="0"/>
              <a:t>, </a:t>
            </a:r>
            <a:r>
              <a:rPr lang="en-US" u="sng" dirty="0"/>
              <a:t>day</a:t>
            </a:r>
            <a:r>
              <a:rPr lang="en-US" dirty="0"/>
              <a:t>)</a:t>
            </a:r>
          </a:p>
          <a:p>
            <a:pPr marL="609600" indent="-609600">
              <a:buFontTx/>
              <a:buNone/>
            </a:pPr>
            <a:endParaRPr lang="he-IL" dirty="0"/>
          </a:p>
          <a:p>
            <a:pPr marL="609600" indent="-609600">
              <a:buFontTx/>
              <a:buNone/>
            </a:pPr>
            <a:r>
              <a:rPr lang="he-IL" dirty="0"/>
              <a:t>מי המלח שהזמין הכי הרבה </a:t>
            </a:r>
            <a:r>
              <a:rPr lang="he-IL" dirty="0" err="1"/>
              <a:t>אוניות</a:t>
            </a:r>
            <a:r>
              <a:rPr lang="he-IL" dirty="0"/>
              <a:t>.</a:t>
            </a:r>
          </a:p>
          <a:p>
            <a:pPr marL="609600" indent="-609600">
              <a:buFontTx/>
              <a:buAutoNum type="arabicPeriod"/>
            </a:pPr>
            <a:endParaRPr lang="en-US" dirty="0"/>
          </a:p>
          <a:p>
            <a:pPr marL="609600" indent="-609600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יצוב ברירת מחדל">
  <a:themeElements>
    <a:clrScheme name="עיצוב ברירת מחדל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עיצוב ברירת מחדל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עיצוב ברירת מחדל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8242</TotalTime>
  <Words>816</Words>
  <Application>Microsoft Office PowerPoint</Application>
  <PresentationFormat>On-screen Show (4:3)</PresentationFormat>
  <Paragraphs>161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עיצוב ברירת מחדל</vt:lpstr>
      <vt:lpstr>בסיסי נתונים - מעבדה</vt:lpstr>
      <vt:lpstr>SQL - סיכומים (AGGREGATION)</vt:lpstr>
      <vt:lpstr>סיכומים (AGGREGATION)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תרגיל למחשבה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אולז'ן</dc:creator>
  <cp:lastModifiedBy>ממונה אבטחת מידע</cp:lastModifiedBy>
  <cp:revision>573</cp:revision>
  <dcterms:created xsi:type="dcterms:W3CDTF">2004-02-02T22:13:25Z</dcterms:created>
  <dcterms:modified xsi:type="dcterms:W3CDTF">2025-11-25T14:58:26Z</dcterms:modified>
</cp:coreProperties>
</file>